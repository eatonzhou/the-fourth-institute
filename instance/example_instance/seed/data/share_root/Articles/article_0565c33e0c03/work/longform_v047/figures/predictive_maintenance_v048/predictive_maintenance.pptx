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1520488" cy="1079976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Parent 0</c:v>
                </c:pt>
              </c:strCache>
            </c:strRef>
          </c:tx>
          <c:spPr>
            <a:solidFill>
              <a:srgbClr val="004586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Retain</c:v>
                </c:pt>
                <c:pt idx="1">
                  <c:v>Pool</c:v>
                </c:pt>
                <c:pt idx="2">
                  <c:v>Swap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4.535091</c:v>
                </c:pt>
                <c:pt idx="1">
                  <c:v>5.435165</c:v>
                </c:pt>
                <c:pt idx="2">
                  <c:v>6.691374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Parent 1</c:v>
                </c:pt>
              </c:strCache>
            </c:strRef>
          </c:tx>
          <c:spPr>
            <a:solidFill>
              <a:srgbClr val="ff420e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Retain</c:v>
                </c:pt>
                <c:pt idx="1">
                  <c:v>Pool</c:v>
                </c:pt>
                <c:pt idx="2">
                  <c:v>Swap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6.742099</c:v>
                </c:pt>
                <c:pt idx="1">
                  <c:v>7.106792</c:v>
                </c:pt>
                <c:pt idx="2">
                  <c:v>7.713895</c:v>
                </c:pt>
              </c:numCache>
            </c:numRef>
          </c:val>
        </c:ser>
        <c:gapWidth val="100"/>
        <c:overlap val="0"/>
        <c:axId val="65947085"/>
        <c:axId val="49937716"/>
      </c:barChart>
      <c:catAx>
        <c:axId val="65947085"/>
        <c:scaling>
          <c:orientation val="minMax"/>
        </c:scaling>
        <c:delete val="0"/>
        <c:axPos val="b"/>
        <c:numFmt formatCode="[$-804]yyyy/m/d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49937716"/>
        <c:crosses val="autoZero"/>
        <c:auto val="1"/>
        <c:lblAlgn val="ctr"/>
        <c:lblOffset val="100"/>
        <c:noMultiLvlLbl val="0"/>
      </c:catAx>
      <c:valAx>
        <c:axId val="49937716"/>
        <c:scaling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65947085"/>
        <c:crosses val="autoZero"/>
        <c:crossBetween val="between"/>
      </c:valAx>
      <c:spPr>
        <a:noFill/>
        <a:ln w="0">
          <a:solidFill>
            <a:srgbClr val="b3b3b3"/>
          </a:solidFill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Parent 0</c:v>
                </c:pt>
              </c:strCache>
            </c:strRef>
          </c:tx>
          <c:spPr>
            <a:solidFill>
              <a:srgbClr val="004586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6"/>
                <c:pt idx="0">
                  <c:v>Delta</c:v>
                </c:pt>
                <c:pt idx="1">
                  <c:v>Freeze</c:v>
                </c:pt>
                <c:pt idx="2">
                  <c:v>Fixed 0</c:v>
                </c:pt>
                <c:pt idx="3">
                  <c:v>Fixed 1</c:v>
                </c:pt>
                <c:pt idx="4">
                  <c:v>Instant</c:v>
                </c:pt>
                <c:pt idx="5">
                  <c:v>Uniform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8.153712</c:v>
                </c:pt>
                <c:pt idx="1">
                  <c:v>8.976884</c:v>
                </c:pt>
                <c:pt idx="2">
                  <c:v>9.458094</c:v>
                </c:pt>
                <c:pt idx="3">
                  <c:v>6.263001</c:v>
                </c:pt>
                <c:pt idx="4">
                  <c:v>7.583854</c:v>
                </c:pt>
                <c:pt idx="5">
                  <c:v>7.789276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Parent 1</c:v>
                </c:pt>
              </c:strCache>
            </c:strRef>
          </c:tx>
          <c:spPr>
            <a:solidFill>
              <a:srgbClr val="ff420e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6"/>
                <c:pt idx="0">
                  <c:v>Delta</c:v>
                </c:pt>
                <c:pt idx="1">
                  <c:v>Freeze</c:v>
                </c:pt>
                <c:pt idx="2">
                  <c:v>Fixed 0</c:v>
                </c:pt>
                <c:pt idx="3">
                  <c:v>Fixed 1</c:v>
                </c:pt>
                <c:pt idx="4">
                  <c:v>Instant</c:v>
                </c:pt>
                <c:pt idx="5">
                  <c:v>Uniform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6"/>
                <c:pt idx="0">
                  <c:v>5.209087</c:v>
                </c:pt>
                <c:pt idx="1">
                  <c:v>5.803189</c:v>
                </c:pt>
                <c:pt idx="2">
                  <c:v>4.44658</c:v>
                </c:pt>
                <c:pt idx="3">
                  <c:v>5.865739</c:v>
                </c:pt>
                <c:pt idx="4">
                  <c:v>4.969237</c:v>
                </c:pt>
                <c:pt idx="5">
                  <c:v>5.199491</c:v>
                </c:pt>
              </c:numCache>
            </c:numRef>
          </c:val>
        </c:ser>
        <c:gapWidth val="100"/>
        <c:overlap val="0"/>
        <c:axId val="82424087"/>
        <c:axId val="37506667"/>
      </c:barChart>
      <c:catAx>
        <c:axId val="82424087"/>
        <c:scaling>
          <c:orientation val="minMax"/>
        </c:scaling>
        <c:delete val="0"/>
        <c:axPos val="b"/>
        <c:numFmt formatCode="[$-804]yyyy/m/d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37506667"/>
        <c:crosses val="autoZero"/>
        <c:auto val="1"/>
        <c:lblAlgn val="ctr"/>
        <c:lblOffset val="100"/>
        <c:noMultiLvlLbl val="0"/>
      </c:catAx>
      <c:valAx>
        <c:axId val="37506667"/>
        <c:scaling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82424087"/>
        <c:crosses val="autoZero"/>
        <c:crossBetween val="between"/>
      </c:valAx>
      <c:spPr>
        <a:noFill/>
        <a:ln w="0">
          <a:solidFill>
            <a:srgbClr val="b3b3b3"/>
          </a:solidFill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Parent 0</c:v>
                </c:pt>
              </c:strCache>
            </c:strRef>
          </c:tx>
          <c:spPr>
            <a:solidFill>
              <a:srgbClr val="004586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4-step block</c:v>
                </c:pt>
                <c:pt idx="1">
                  <c:v>1-step impulse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5.421836</c:v>
                </c:pt>
                <c:pt idx="1">
                  <c:v>8.688542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Parent 1</c:v>
                </c:pt>
              </c:strCache>
            </c:strRef>
          </c:tx>
          <c:spPr>
            <a:solidFill>
              <a:srgbClr val="ff420e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4-step block</c:v>
                </c:pt>
                <c:pt idx="1">
                  <c:v>1-step impulse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2"/>
                <c:pt idx="0">
                  <c:v>6.50949</c:v>
                </c:pt>
                <c:pt idx="1">
                  <c:v>5.982799</c:v>
                </c:pt>
              </c:numCache>
            </c:numRef>
          </c:val>
        </c:ser>
        <c:gapWidth val="100"/>
        <c:overlap val="0"/>
        <c:axId val="42496573"/>
        <c:axId val="18470723"/>
      </c:barChart>
      <c:catAx>
        <c:axId val="42496573"/>
        <c:scaling>
          <c:orientation val="minMax"/>
        </c:scaling>
        <c:delete val="0"/>
        <c:axPos val="b"/>
        <c:numFmt formatCode="[$-804]yyyy/m/d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18470723"/>
        <c:crosses val="autoZero"/>
        <c:auto val="1"/>
        <c:lblAlgn val="ctr"/>
        <c:lblOffset val="100"/>
        <c:noMultiLvlLbl val="0"/>
      </c:catAx>
      <c:valAx>
        <c:axId val="18470723"/>
        <c:scaling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42496573"/>
        <c:crosses val="autoZero"/>
        <c:crossBetween val="between"/>
      </c:valAx>
      <c:spPr>
        <a:noFill/>
        <a:ln w="0">
          <a:solidFill>
            <a:srgbClr val="b3b3b3"/>
          </a:solidFill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Arial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76000" y="430560"/>
            <a:ext cx="10367640" cy="180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83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76000" y="2526840"/>
            <a:ext cx="10367640" cy="626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5C34F0-50F2-4904-A20D-8D6645802C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76000" y="430560"/>
            <a:ext cx="10367640" cy="180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838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83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76000" y="2526840"/>
            <a:ext cx="10367640" cy="626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26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609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609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215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33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533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61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57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45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107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809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809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5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809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809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5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809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809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5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809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80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76000" y="9838440"/>
            <a:ext cx="2683800" cy="7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939840" y="9838440"/>
            <a:ext cx="3651480" cy="7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8259840" y="9838440"/>
            <a:ext cx="2683800" cy="7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ADB4FC6-4E69-4288-BA3C-4839ECB07AF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"/>
          <p:cNvGraphicFramePr/>
          <p:nvPr/>
        </p:nvGraphicFramePr>
        <p:xfrm>
          <a:off x="360000" y="2268000"/>
          <a:ext cx="5148000" cy="291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8" name=""/>
          <p:cNvGraphicFramePr/>
          <p:nvPr/>
        </p:nvGraphicFramePr>
        <p:xfrm>
          <a:off x="5904000" y="2268000"/>
          <a:ext cx="5256000" cy="291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"/>
          <p:cNvGraphicFramePr/>
          <p:nvPr/>
        </p:nvGraphicFramePr>
        <p:xfrm>
          <a:off x="360000" y="6912000"/>
          <a:ext cx="5148000" cy="25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"/>
          <p:cNvSpPr txBox="1"/>
          <p:nvPr/>
        </p:nvSpPr>
        <p:spPr>
          <a:xfrm>
            <a:off x="360000" y="198000"/>
            <a:ext cx="10800000" cy="150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Learned maintenance content has bounded physical utility</a:t>
            </a:r>
            <a:endParaRPr b="1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360000" y="558000"/>
            <a:ext cx="10800000" cy="8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Externally supplied material CA  •  central budget  •  two parent bodies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04000" y="954000"/>
            <a:ext cx="10440000" cy="99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Cue (8 steps)  →  gap (2)  →  mechanical contact (4)</a:t>
            </a:r>
            <a:endParaRPr b="1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504000" y="1278000"/>
            <a:ext cx="10440000" cy="8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Incident strain teaches delta; purchased reserve absorbs demand before injury.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360000" y="1800000"/>
            <a:ext cx="5184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A  Acquired content, stable relation</a:t>
            </a:r>
            <a:endParaRPr b="1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360000" y="2088000"/>
            <a:ext cx="5184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Tissue loss (mass units) • +96 steps; writes off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360000" y="5238000"/>
            <a:ext cx="5184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Retain vs pool: 16.6% / 5.1% less loss.</a:t>
            </a:r>
            <a:endParaRPr b="1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360000" y="5490000"/>
            <a:ext cx="5184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Same synthesis; total expenditure differs.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60000" y="5760000"/>
            <a:ext cx="5184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Retain, pool or swap the acquired readout.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904000" y="1800000"/>
            <a:ext cx="5256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B  Unannounced relation change</a:t>
            </a:r>
            <a:endParaRPr b="1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5904000" y="2088000"/>
            <a:ext cx="5256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Tissue loss (mass units) • steps 225–320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5904000" y="5238000"/>
            <a:ext cx="5256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Delta vs freeze: 9.17% / 10.24% less loss.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5904000" y="5490000"/>
            <a:ext cx="5256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Delta vs instant: 7.51% / 4.83% more loss.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5904000" y="5760000"/>
            <a:ext cx="5256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Both fixed maps retained; no post-hoc selection.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360000" y="6408000"/>
            <a:ext cx="5184000" cy="72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C  Stable relation; acquired content frozen</a:t>
            </a:r>
            <a:endParaRPr b="1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360000" y="6696000"/>
            <a:ext cx="5184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Loss reduction vs instant (%) • +96 steps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5904000" y="6408000"/>
            <a:ext cx="5256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Body trade-offs: delta minus instant</a:t>
            </a:r>
            <a:endParaRPr b="1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5904000" y="6732000"/>
            <a:ext cx="252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After relation change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8640000" y="6732000"/>
            <a:ext cx="1188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Parent 0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9900000" y="6732000"/>
            <a:ext cx="1188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Parent 1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5904000" y="7038000"/>
            <a:ext cx="252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Subsequent uptake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8640000" y="7020000"/>
            <a:ext cx="216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+0.109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9900000" y="7038000"/>
            <a:ext cx="1188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−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0.388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5904000" y="7326000"/>
            <a:ext cx="252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Terminal mass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8640000" y="7326000"/>
            <a:ext cx="1188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+0.340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9900000" y="7326000"/>
            <a:ext cx="1188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−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0.258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5904000" y="7614000"/>
            <a:ext cx="252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Terminal energy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8640000" y="7614000"/>
            <a:ext cx="1188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−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0.718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9900000" y="7614000"/>
            <a:ext cx="1188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+0.250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5904000" y="7956000"/>
            <a:ext cx="5256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No consistent net physical advantage.</a:t>
            </a:r>
            <a:endParaRPr b="1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5904000" y="8316000"/>
            <a:ext cx="5256000" cy="77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In C, uptake and terminal mass/energy are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modestly higher in all four paired conditions.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5904000" y="8856000"/>
            <a:ext cx="5256000" cy="77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Impulse minus block: extra absolute loss avoided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+0.271 / +0.028 mass units (parents 0 / 1).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5904000" y="9396000"/>
            <a:ext cx="5256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Stable-relation benefit ≠ reversal success.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360000" y="9540000"/>
            <a:ext cx="5184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Block: 5.42 / 6.51%; impulse: 8.69 / 5.98%.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360000" y="9792000"/>
            <a:ext cx="5184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Same external strain integral; body demand can differ.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360000" y="10080000"/>
            <a:ext cx="1080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Matched synthesis ≠ matched total cost; simple controls pay unused predictor-capacity fees.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360000" y="10314000"/>
            <a:ext cx="1080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Registered old-cohort death ≠ cumulative births ≠ retained newborn. Two parents; correlated forks.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360000" y="10530000"/>
            <a:ext cx="1080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Ordinary delta; observable incident-strain label. No new predictor or general net advantage.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2026-10-19T20:53:13Z</dcterms:created>
  <dc:creator/>
  <dc:description/>
  <dc:language>zh-CN</dc:language>
  <cp:lastModifiedBy/>
  <dcterms:modified xsi:type="dcterms:W3CDTF">2026-10-19T21:00:26Z</dcterms:modified>
  <cp:revision>1</cp:revision>
  <dc:subject/>
  <dc:title/>
</cp:coreProperties>
</file>