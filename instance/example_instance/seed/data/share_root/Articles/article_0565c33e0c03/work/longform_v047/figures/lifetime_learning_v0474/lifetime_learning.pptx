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122396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56520" cy="15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1CBF6C3-3DA2-49E9-831A-E92124F9FE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56520" cy="15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8526600"/>
            <a:ext cx="3179880" cy="62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8526600"/>
            <a:ext cx="2333160" cy="62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A927EA-74AE-4648-8A11-71D2DDA3605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8526600"/>
            <a:ext cx="2333160" cy="62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283320" y="210240"/>
            <a:ext cx="940860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300" spc="-1" strike="noStrike">
                <a:solidFill>
                  <a:srgbClr val="000000"/>
                </a:solidFill>
                <a:latin typeface="Arial"/>
                <a:ea typeface="DejaVu Sans"/>
              </a:rPr>
              <a:t>Controlled cue learning in a non-renewing body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283320" y="585360"/>
            <a:ext cx="94086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Externally arranged encounters; fast delta and eligibility both succeed. No new-method advantage.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283320" y="1005840"/>
            <a:ext cx="9353520" cy="931680"/>
          </a:xfrm>
          <a:prstGeom prst="rect">
            <a:avLst/>
          </a:prstGeom>
          <a:noFill/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t">
            <a:no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A  One continuous conservative body; no tissue birth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457200" y="1499760"/>
            <a:ext cx="1828080" cy="556920"/>
          </a:xfrm>
          <a:custGeom>
            <a:avLst/>
            <a:gdLst>
              <a:gd name="textAreaLeft" fmla="*/ 0 w 1828080"/>
              <a:gd name="textAreaRight" fmla="*/ 1828800 w 1828080"/>
              <a:gd name="textAreaTop" fmla="*/ 0 h 556920"/>
              <a:gd name="textAreaBottom" fmla="*/ 557640 h 556920"/>
            </a:gdLst>
            <a:ahLst/>
            <a:rect l="textAreaLeft" t="textAreaTop" r="textAreaRight" b="textAreaBottom"/>
            <a:pathLst>
              <a:path w="5080" h="1549">
                <a:moveTo>
                  <a:pt x="0" y="0"/>
                </a:moveTo>
                <a:lnTo>
                  <a:pt x="5080" y="0"/>
                </a:lnTo>
                <a:lnTo>
                  <a:pt x="5080" y="1549"/>
                </a:lnTo>
                <a:lnTo>
                  <a:pt x="0" y="1549"/>
                </a:lnTo>
                <a:lnTo>
                  <a:pt x="0" y="0"/>
                </a:lnTo>
                <a:close/>
              </a:path>
            </a:pathLst>
          </a:custGeom>
          <a:noFill/>
          <a:ln w="18360">
            <a:solidFill>
              <a:srgbClr val="247b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" name=""/>
          <p:cNvSpPr/>
          <p:nvPr/>
        </p:nvSpPr>
        <p:spPr>
          <a:xfrm>
            <a:off x="2971800" y="1499760"/>
            <a:ext cx="1828080" cy="556920"/>
          </a:xfrm>
          <a:custGeom>
            <a:avLst/>
            <a:gdLst>
              <a:gd name="textAreaLeft" fmla="*/ 0 w 1828080"/>
              <a:gd name="textAreaRight" fmla="*/ 1828800 w 1828080"/>
              <a:gd name="textAreaTop" fmla="*/ 0 h 556920"/>
              <a:gd name="textAreaBottom" fmla="*/ 557640 h 556920"/>
            </a:gdLst>
            <a:ahLst/>
            <a:rect l="textAreaLeft" t="textAreaTop" r="textAreaRight" b="textAreaBottom"/>
            <a:pathLst>
              <a:path w="5080" h="1549">
                <a:moveTo>
                  <a:pt x="0" y="0"/>
                </a:moveTo>
                <a:lnTo>
                  <a:pt x="5080" y="0"/>
                </a:lnTo>
                <a:lnTo>
                  <a:pt x="5080" y="1549"/>
                </a:lnTo>
                <a:lnTo>
                  <a:pt x="0" y="1549"/>
                </a:lnTo>
                <a:lnTo>
                  <a:pt x="0" y="0"/>
                </a:lnTo>
                <a:close/>
              </a:path>
            </a:pathLst>
          </a:custGeom>
          <a:noFill/>
          <a:ln w="18360">
            <a:solidFill>
              <a:srgbClr val="c86b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" name=""/>
          <p:cNvSpPr/>
          <p:nvPr/>
        </p:nvSpPr>
        <p:spPr>
          <a:xfrm>
            <a:off x="5486400" y="1499760"/>
            <a:ext cx="1828080" cy="556920"/>
          </a:xfrm>
          <a:custGeom>
            <a:avLst/>
            <a:gdLst>
              <a:gd name="textAreaLeft" fmla="*/ 0 w 1828080"/>
              <a:gd name="textAreaRight" fmla="*/ 1828800 w 1828080"/>
              <a:gd name="textAreaTop" fmla="*/ 0 h 556920"/>
              <a:gd name="textAreaBottom" fmla="*/ 557640 h 556920"/>
            </a:gdLst>
            <a:ahLst/>
            <a:rect l="textAreaLeft" t="textAreaTop" r="textAreaRight" b="textAreaBottom"/>
            <a:pathLst>
              <a:path w="5080" h="1549">
                <a:moveTo>
                  <a:pt x="0" y="0"/>
                </a:moveTo>
                <a:lnTo>
                  <a:pt x="5080" y="0"/>
                </a:lnTo>
                <a:lnTo>
                  <a:pt x="5080" y="1549"/>
                </a:lnTo>
                <a:lnTo>
                  <a:pt x="0" y="1549"/>
                </a:lnTo>
                <a:lnTo>
                  <a:pt x="0" y="0"/>
                </a:lnTo>
                <a:close/>
              </a:path>
            </a:pathLst>
          </a:custGeom>
          <a:noFill/>
          <a:ln w="18360">
            <a:solidFill>
              <a:srgbClr val="247b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" name=""/>
          <p:cNvSpPr/>
          <p:nvPr/>
        </p:nvSpPr>
        <p:spPr>
          <a:xfrm>
            <a:off x="8001000" y="1499760"/>
            <a:ext cx="1690920" cy="556920"/>
          </a:xfrm>
          <a:custGeom>
            <a:avLst/>
            <a:gdLst>
              <a:gd name="textAreaLeft" fmla="*/ 0 w 1690920"/>
              <a:gd name="textAreaRight" fmla="*/ 1691640 w 1690920"/>
              <a:gd name="textAreaTop" fmla="*/ 0 h 556920"/>
              <a:gd name="textAreaBottom" fmla="*/ 557640 h 556920"/>
            </a:gdLst>
            <a:ahLst/>
            <a:rect l="textAreaLeft" t="textAreaTop" r="textAreaRight" b="textAreaBottom"/>
            <a:pathLst>
              <a:path w="4699" h="1549">
                <a:moveTo>
                  <a:pt x="0" y="0"/>
                </a:moveTo>
                <a:lnTo>
                  <a:pt x="4699" y="0"/>
                </a:lnTo>
                <a:lnTo>
                  <a:pt x="4445" y="1549"/>
                </a:lnTo>
                <a:lnTo>
                  <a:pt x="0" y="1549"/>
                </a:lnTo>
                <a:lnTo>
                  <a:pt x="0" y="0"/>
                </a:lnTo>
                <a:close/>
              </a:path>
            </a:pathLst>
          </a:custGeom>
          <a:noFill/>
          <a:ln w="18360">
            <a:solidFill>
              <a:srgbClr val="5261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" name=""/>
          <p:cNvSpPr/>
          <p:nvPr/>
        </p:nvSpPr>
        <p:spPr>
          <a:xfrm>
            <a:off x="2286000" y="1828800"/>
            <a:ext cx="457200" cy="360"/>
          </a:xfrm>
          <a:prstGeom prst="line">
            <a:avLst/>
          </a:prstGeom>
          <a:ln w="18360">
            <a:solidFill>
              <a:srgbClr val="5261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" name=""/>
          <p:cNvSpPr/>
          <p:nvPr/>
        </p:nvSpPr>
        <p:spPr>
          <a:xfrm>
            <a:off x="4800600" y="1828800"/>
            <a:ext cx="457200" cy="360"/>
          </a:xfrm>
          <a:prstGeom prst="line">
            <a:avLst/>
          </a:prstGeom>
          <a:ln w="18360">
            <a:solidFill>
              <a:srgbClr val="5261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" name=""/>
          <p:cNvSpPr/>
          <p:nvPr/>
        </p:nvSpPr>
        <p:spPr>
          <a:xfrm>
            <a:off x="7315200" y="1828800"/>
            <a:ext cx="457200" cy="360"/>
          </a:xfrm>
          <a:prstGeom prst="line">
            <a:avLst/>
          </a:prstGeom>
          <a:ln w="18360">
            <a:solidFill>
              <a:srgbClr val="5261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" name=""/>
          <p:cNvSpPr/>
          <p:nvPr/>
        </p:nvSpPr>
        <p:spPr>
          <a:xfrm>
            <a:off x="411480" y="1472040"/>
            <a:ext cx="18648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ACQUIRE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cue A + / cue B −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2926080" y="1472040"/>
            <a:ext cx="18648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REVERSE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cue A − / cue B +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5449680" y="1472040"/>
            <a:ext cx="18648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NEUTRAL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64 neutral steps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7973640" y="1472040"/>
            <a:ext cx="16909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RETAIN / ERASE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+64-step probes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356760" y="2212920"/>
            <a:ext cx="2331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 epochs; 8 outcomes per cue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2871360" y="2212920"/>
            <a:ext cx="2294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After step 512; not signalled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394960" y="2212920"/>
            <a:ext cx="2331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Then an unrewarded probe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7918560" y="2212920"/>
            <a:ext cx="17913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Only Q reset to 0.2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356760" y="2514600"/>
            <a:ext cx="93535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Mapping shown for order 0; order 1 is reversed. Initial probe: 1–64. A neutral gap also follows acquisition.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356760" y="2788920"/>
            <a:ext cx="92804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Local cue registration → delayed local outcome → Q update → shared cue-gradient actuator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356760" y="3072240"/>
            <a:ext cx="93535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Same transported tissue, energy and sensor registrations throughout; no reset at reversal.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356760" y="3429000"/>
            <a:ext cx="9473040" cy="360"/>
          </a:xfrm>
          <a:prstGeom prst="line">
            <a:avLst/>
          </a:prstGeom>
          <a:ln w="9000">
            <a:solidFill>
              <a:srgbClr val="a6ad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283320" y="3483720"/>
            <a:ext cx="937188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B  Both rules learn; unpaired feedback yields opposing individual preferences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356760" y="3794760"/>
            <a:ext cx="9353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Correct-cue contact mass fraction • 2 seeds × 2 mappings per condition • saved probe endpoints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713160" y="4060080"/>
            <a:ext cx="39585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Fast delta  α =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713160" y="4429080"/>
            <a:ext cx="3672360" cy="1985400"/>
          </a:xfrm>
          <a:custGeom>
            <a:avLst/>
            <a:gdLst>
              <a:gd name="textAreaLeft" fmla="*/ 0 w 3672360"/>
              <a:gd name="textAreaRight" fmla="*/ 3673080 w 3672360"/>
              <a:gd name="textAreaTop" fmla="*/ 0 h 1985400"/>
              <a:gd name="textAreaBottom" fmla="*/ 1986120 h 1985400"/>
            </a:gdLst>
            <a:ahLst/>
            <a:rect l="textAreaLeft" t="textAreaTop" r="textAreaRight" b="textAreaBottom"/>
            <a:pathLst>
              <a:path fill="none" w="10203" h="5517">
                <a:moveTo>
                  <a:pt x="0" y="0"/>
                </a:moveTo>
                <a:lnTo>
                  <a:pt x="3" y="5517"/>
                </a:lnTo>
                <a:lnTo>
                  <a:pt x="10203" y="5517"/>
                </a:lnTo>
              </a:path>
            </a:pathLst>
          </a:custGeom>
          <a:noFill/>
          <a:ln w="9000">
            <a:solidFill>
              <a:srgbClr val="6573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" name=""/>
          <p:cNvSpPr/>
          <p:nvPr/>
        </p:nvSpPr>
        <p:spPr>
          <a:xfrm>
            <a:off x="713160" y="5457960"/>
            <a:ext cx="3673080" cy="360"/>
          </a:xfrm>
          <a:prstGeom prst="line">
            <a:avLst/>
          </a:prstGeom>
          <a:ln w="9000">
            <a:solidFill>
              <a:srgbClr val="ccd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" name=""/>
          <p:cNvSpPr/>
          <p:nvPr/>
        </p:nvSpPr>
        <p:spPr>
          <a:xfrm>
            <a:off x="429840" y="6309360"/>
            <a:ext cx="26460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210240" y="5358240"/>
            <a:ext cx="4838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0.5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429840" y="4407480"/>
            <a:ext cx="26460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813960" y="6492240"/>
            <a:ext cx="4654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64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2532960" y="6492240"/>
            <a:ext cx="4654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512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4242960" y="6492240"/>
            <a:ext cx="4654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960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2671560" y="4429080"/>
            <a:ext cx="360" cy="151920"/>
          </a:xfrm>
          <a:prstGeom prst="line">
            <a:avLst/>
          </a:prstGeom>
          <a:ln w="9000">
            <a:solidFill>
              <a:srgbClr val="c4c9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" name=""/>
          <p:cNvSpPr/>
          <p:nvPr/>
        </p:nvSpPr>
        <p:spPr>
          <a:xfrm>
            <a:off x="2671560" y="5143320"/>
            <a:ext cx="360" cy="128880"/>
          </a:xfrm>
          <a:prstGeom prst="line">
            <a:avLst/>
          </a:prstGeom>
          <a:ln w="9000">
            <a:solidFill>
              <a:srgbClr val="c4c9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" name=""/>
          <p:cNvSpPr/>
          <p:nvPr/>
        </p:nvSpPr>
        <p:spPr>
          <a:xfrm>
            <a:off x="2671560" y="5457960"/>
            <a:ext cx="360" cy="171360"/>
          </a:xfrm>
          <a:prstGeom prst="line">
            <a:avLst/>
          </a:prstGeom>
          <a:ln w="9000">
            <a:solidFill>
              <a:srgbClr val="c4c9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" name=""/>
          <p:cNvSpPr/>
          <p:nvPr/>
        </p:nvSpPr>
        <p:spPr>
          <a:xfrm>
            <a:off x="2671560" y="5872320"/>
            <a:ext cx="360" cy="128520"/>
          </a:xfrm>
          <a:prstGeom prst="line">
            <a:avLst/>
          </a:prstGeom>
          <a:ln w="9000">
            <a:solidFill>
              <a:srgbClr val="c4c9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" name=""/>
          <p:cNvSpPr/>
          <p:nvPr/>
        </p:nvSpPr>
        <p:spPr>
          <a:xfrm>
            <a:off x="2671560" y="6229440"/>
            <a:ext cx="360" cy="185760"/>
          </a:xfrm>
          <a:prstGeom prst="line">
            <a:avLst/>
          </a:prstGeom>
          <a:ln w="9000">
            <a:solidFill>
              <a:srgbClr val="c4c9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"/>
          <p:cNvSpPr/>
          <p:nvPr/>
        </p:nvSpPr>
        <p:spPr>
          <a:xfrm>
            <a:off x="971280" y="4500720"/>
            <a:ext cx="1699560" cy="956520"/>
          </a:xfrm>
          <a:custGeom>
            <a:avLst/>
            <a:gdLst>
              <a:gd name="textAreaLeft" fmla="*/ 0 w 1699560"/>
              <a:gd name="textAreaRight" fmla="*/ 1700280 w 1699560"/>
              <a:gd name="textAreaTop" fmla="*/ 0 h 956520"/>
              <a:gd name="textAreaBottom" fmla="*/ 957240 h 956520"/>
            </a:gdLst>
            <a:ahLst/>
            <a:rect l="textAreaLeft" t="textAreaTop" r="textAreaRight" b="textAreaBottom"/>
            <a:pathLst>
              <a:path fill="none" w="4723" h="2659">
                <a:moveTo>
                  <a:pt x="0" y="2659"/>
                </a:moveTo>
                <a:lnTo>
                  <a:pt x="1667" y="0"/>
                </a:lnTo>
                <a:lnTo>
                  <a:pt x="3374" y="0"/>
                </a:lnTo>
                <a:lnTo>
                  <a:pt x="4723" y="0"/>
                </a:lnTo>
              </a:path>
            </a:pathLst>
          </a:custGeom>
          <a:noFill/>
          <a:ln w="1836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" name=""/>
          <p:cNvSpPr/>
          <p:nvPr/>
        </p:nvSpPr>
        <p:spPr>
          <a:xfrm>
            <a:off x="971280" y="4500720"/>
            <a:ext cx="1699560" cy="956520"/>
          </a:xfrm>
          <a:custGeom>
            <a:avLst/>
            <a:gdLst>
              <a:gd name="textAreaLeft" fmla="*/ 0 w 1699560"/>
              <a:gd name="textAreaRight" fmla="*/ 1700280 w 1699560"/>
              <a:gd name="textAreaTop" fmla="*/ 0 h 956520"/>
              <a:gd name="textAreaBottom" fmla="*/ 957240 h 956520"/>
            </a:gdLst>
            <a:ahLst/>
            <a:rect l="textAreaLeft" t="textAreaTop" r="textAreaRight" b="textAreaBottom"/>
            <a:pathLst>
              <a:path fill="none" w="4723" h="2659">
                <a:moveTo>
                  <a:pt x="0" y="2659"/>
                </a:moveTo>
                <a:lnTo>
                  <a:pt x="1667" y="0"/>
                </a:lnTo>
                <a:lnTo>
                  <a:pt x="3374" y="0"/>
                </a:lnTo>
                <a:lnTo>
                  <a:pt x="4723" y="0"/>
                </a:lnTo>
              </a:path>
            </a:pathLst>
          </a:custGeom>
          <a:noFill/>
          <a:ln w="1836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" name=""/>
          <p:cNvSpPr/>
          <p:nvPr/>
        </p:nvSpPr>
        <p:spPr>
          <a:xfrm>
            <a:off x="3286080" y="4500720"/>
            <a:ext cx="1099440" cy="36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3056" h="0">
                <a:moveTo>
                  <a:pt x="0" y="0"/>
                </a:moveTo>
                <a:lnTo>
                  <a:pt x="1706" y="0"/>
                </a:lnTo>
                <a:lnTo>
                  <a:pt x="3056" y="0"/>
                </a:lnTo>
              </a:path>
            </a:pathLst>
          </a:custGeom>
          <a:noFill/>
          <a:ln w="1836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" name=""/>
          <p:cNvSpPr/>
          <p:nvPr/>
        </p:nvSpPr>
        <p:spPr>
          <a:xfrm>
            <a:off x="971280" y="4500720"/>
            <a:ext cx="1699560" cy="956520"/>
          </a:xfrm>
          <a:custGeom>
            <a:avLst/>
            <a:gdLst>
              <a:gd name="textAreaLeft" fmla="*/ 0 w 1699560"/>
              <a:gd name="textAreaRight" fmla="*/ 1700280 w 1699560"/>
              <a:gd name="textAreaTop" fmla="*/ 0 h 956520"/>
              <a:gd name="textAreaBottom" fmla="*/ 957240 h 956520"/>
            </a:gdLst>
            <a:ahLst/>
            <a:rect l="textAreaLeft" t="textAreaTop" r="textAreaRight" b="textAreaBottom"/>
            <a:pathLst>
              <a:path fill="none" w="4723" h="2659">
                <a:moveTo>
                  <a:pt x="0" y="2659"/>
                </a:moveTo>
                <a:lnTo>
                  <a:pt x="1667" y="0"/>
                </a:lnTo>
                <a:lnTo>
                  <a:pt x="3374" y="0"/>
                </a:lnTo>
                <a:lnTo>
                  <a:pt x="4723" y="0"/>
                </a:lnTo>
              </a:path>
            </a:pathLst>
          </a:custGeom>
          <a:noFill/>
          <a:ln w="1836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9" name=""/>
          <p:cNvSpPr/>
          <p:nvPr/>
        </p:nvSpPr>
        <p:spPr>
          <a:xfrm>
            <a:off x="971280" y="4500720"/>
            <a:ext cx="1699560" cy="956520"/>
          </a:xfrm>
          <a:custGeom>
            <a:avLst/>
            <a:gdLst>
              <a:gd name="textAreaLeft" fmla="*/ 0 w 1699560"/>
              <a:gd name="textAreaRight" fmla="*/ 1700280 w 1699560"/>
              <a:gd name="textAreaTop" fmla="*/ 0 h 956520"/>
              <a:gd name="textAreaBottom" fmla="*/ 957240 h 956520"/>
            </a:gdLst>
            <a:ahLst/>
            <a:rect l="textAreaLeft" t="textAreaTop" r="textAreaRight" b="textAreaBottom"/>
            <a:pathLst>
              <a:path fill="none" w="4723" h="2659">
                <a:moveTo>
                  <a:pt x="0" y="2659"/>
                </a:moveTo>
                <a:lnTo>
                  <a:pt x="1667" y="0"/>
                </a:lnTo>
                <a:lnTo>
                  <a:pt x="3374" y="0"/>
                </a:lnTo>
                <a:lnTo>
                  <a:pt x="4723" y="0"/>
                </a:lnTo>
              </a:path>
            </a:pathLst>
          </a:custGeom>
          <a:noFill/>
          <a:ln w="1836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" name=""/>
          <p:cNvSpPr/>
          <p:nvPr/>
        </p:nvSpPr>
        <p:spPr>
          <a:xfrm>
            <a:off x="3286080" y="4500720"/>
            <a:ext cx="1099440" cy="36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3056" h="0">
                <a:moveTo>
                  <a:pt x="0" y="0"/>
                </a:moveTo>
                <a:lnTo>
                  <a:pt x="1706" y="0"/>
                </a:lnTo>
                <a:lnTo>
                  <a:pt x="3056" y="0"/>
                </a:lnTo>
              </a:path>
            </a:pathLst>
          </a:custGeom>
          <a:noFill/>
          <a:ln w="1836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1" name=""/>
          <p:cNvSpPr/>
          <p:nvPr/>
        </p:nvSpPr>
        <p:spPr>
          <a:xfrm>
            <a:off x="971280" y="5457960"/>
            <a:ext cx="1699560" cy="360"/>
          </a:xfrm>
          <a:custGeom>
            <a:avLst/>
            <a:gdLst>
              <a:gd name="textAreaLeft" fmla="*/ 0 w 1699560"/>
              <a:gd name="textAreaRight" fmla="*/ 1700280 w 169956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4723" h="0">
                <a:moveTo>
                  <a:pt x="0" y="0"/>
                </a:moveTo>
                <a:lnTo>
                  <a:pt x="1667" y="0"/>
                </a:lnTo>
                <a:lnTo>
                  <a:pt x="3374" y="0"/>
                </a:lnTo>
                <a:lnTo>
                  <a:pt x="4723" y="0"/>
                </a:lnTo>
              </a:path>
            </a:pathLst>
          </a:custGeom>
          <a:noFill/>
          <a:ln w="9000">
            <a:solidFill>
              <a:srgbClr val="5d68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" name=""/>
          <p:cNvSpPr/>
          <p:nvPr/>
        </p:nvSpPr>
        <p:spPr>
          <a:xfrm>
            <a:off x="3286080" y="5457960"/>
            <a:ext cx="1099440" cy="36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3056" h="0">
                <a:moveTo>
                  <a:pt x="0" y="0"/>
                </a:moveTo>
                <a:lnTo>
                  <a:pt x="1706" y="0"/>
                </a:lnTo>
                <a:lnTo>
                  <a:pt x="3056" y="0"/>
                </a:lnTo>
              </a:path>
            </a:pathLst>
          </a:custGeom>
          <a:noFill/>
          <a:ln w="9000">
            <a:solidFill>
              <a:srgbClr val="5d68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3" name=""/>
          <p:cNvSpPr/>
          <p:nvPr/>
        </p:nvSpPr>
        <p:spPr>
          <a:xfrm>
            <a:off x="971280" y="5457960"/>
            <a:ext cx="1699560" cy="360"/>
          </a:xfrm>
          <a:custGeom>
            <a:avLst/>
            <a:gdLst>
              <a:gd name="textAreaLeft" fmla="*/ 0 w 1699560"/>
              <a:gd name="textAreaRight" fmla="*/ 1700280 w 169956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4723" h="0">
                <a:moveTo>
                  <a:pt x="0" y="0"/>
                </a:moveTo>
                <a:lnTo>
                  <a:pt x="1667" y="0"/>
                </a:lnTo>
                <a:lnTo>
                  <a:pt x="3374" y="0"/>
                </a:lnTo>
                <a:lnTo>
                  <a:pt x="4723" y="0"/>
                </a:lnTo>
              </a:path>
            </a:pathLst>
          </a:custGeom>
          <a:noFill/>
          <a:ln w="9000">
            <a:solidFill>
              <a:srgbClr val="5d68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4" name=""/>
          <p:cNvSpPr/>
          <p:nvPr/>
        </p:nvSpPr>
        <p:spPr>
          <a:xfrm>
            <a:off x="3286080" y="5457960"/>
            <a:ext cx="1099440" cy="36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3056" h="0">
                <a:moveTo>
                  <a:pt x="0" y="0"/>
                </a:moveTo>
                <a:lnTo>
                  <a:pt x="1706" y="0"/>
                </a:lnTo>
                <a:lnTo>
                  <a:pt x="3056" y="0"/>
                </a:lnTo>
              </a:path>
            </a:pathLst>
          </a:custGeom>
          <a:noFill/>
          <a:ln w="9000">
            <a:solidFill>
              <a:srgbClr val="5d68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" name=""/>
          <p:cNvSpPr/>
          <p:nvPr/>
        </p:nvSpPr>
        <p:spPr>
          <a:xfrm>
            <a:off x="971280" y="5457960"/>
            <a:ext cx="1699560" cy="360"/>
          </a:xfrm>
          <a:custGeom>
            <a:avLst/>
            <a:gdLst>
              <a:gd name="textAreaLeft" fmla="*/ 0 w 1699560"/>
              <a:gd name="textAreaRight" fmla="*/ 1700280 w 169956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4723" h="0">
                <a:moveTo>
                  <a:pt x="0" y="0"/>
                </a:moveTo>
                <a:lnTo>
                  <a:pt x="1667" y="0"/>
                </a:lnTo>
                <a:lnTo>
                  <a:pt x="3374" y="0"/>
                </a:lnTo>
                <a:lnTo>
                  <a:pt x="4723" y="0"/>
                </a:lnTo>
              </a:path>
            </a:pathLst>
          </a:custGeom>
          <a:noFill/>
          <a:ln w="9000">
            <a:solidFill>
              <a:srgbClr val="5d68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" name=""/>
          <p:cNvSpPr/>
          <p:nvPr/>
        </p:nvSpPr>
        <p:spPr>
          <a:xfrm>
            <a:off x="3286080" y="5457960"/>
            <a:ext cx="1099440" cy="36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3056" h="0">
                <a:moveTo>
                  <a:pt x="0" y="0"/>
                </a:moveTo>
                <a:lnTo>
                  <a:pt x="1706" y="0"/>
                </a:lnTo>
                <a:lnTo>
                  <a:pt x="3056" y="0"/>
                </a:lnTo>
              </a:path>
            </a:pathLst>
          </a:custGeom>
          <a:noFill/>
          <a:ln w="9000">
            <a:solidFill>
              <a:srgbClr val="5d68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" name=""/>
          <p:cNvSpPr/>
          <p:nvPr/>
        </p:nvSpPr>
        <p:spPr>
          <a:xfrm>
            <a:off x="971280" y="5457960"/>
            <a:ext cx="1699560" cy="360"/>
          </a:xfrm>
          <a:custGeom>
            <a:avLst/>
            <a:gdLst>
              <a:gd name="textAreaLeft" fmla="*/ 0 w 1699560"/>
              <a:gd name="textAreaRight" fmla="*/ 1700280 w 169956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4723" h="0">
                <a:moveTo>
                  <a:pt x="0" y="0"/>
                </a:moveTo>
                <a:lnTo>
                  <a:pt x="1667" y="0"/>
                </a:lnTo>
                <a:lnTo>
                  <a:pt x="3374" y="0"/>
                </a:lnTo>
                <a:lnTo>
                  <a:pt x="4723" y="0"/>
                </a:lnTo>
              </a:path>
            </a:pathLst>
          </a:custGeom>
          <a:noFill/>
          <a:ln w="9000">
            <a:solidFill>
              <a:srgbClr val="5d68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" name=""/>
          <p:cNvSpPr/>
          <p:nvPr/>
        </p:nvSpPr>
        <p:spPr>
          <a:xfrm>
            <a:off x="3286080" y="5457960"/>
            <a:ext cx="1099440" cy="36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3056" h="0">
                <a:moveTo>
                  <a:pt x="0" y="0"/>
                </a:moveTo>
                <a:lnTo>
                  <a:pt x="1706" y="0"/>
                </a:lnTo>
                <a:lnTo>
                  <a:pt x="3056" y="0"/>
                </a:lnTo>
              </a:path>
            </a:pathLst>
          </a:custGeom>
          <a:noFill/>
          <a:ln w="9000">
            <a:solidFill>
              <a:srgbClr val="5d68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" name=""/>
          <p:cNvSpPr/>
          <p:nvPr/>
        </p:nvSpPr>
        <p:spPr>
          <a:xfrm>
            <a:off x="5394960" y="4060080"/>
            <a:ext cx="39585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Eligibility  α = 0.5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5394960" y="5457960"/>
            <a:ext cx="3677400" cy="360"/>
          </a:xfrm>
          <a:prstGeom prst="line">
            <a:avLst/>
          </a:prstGeom>
          <a:ln w="9000">
            <a:solidFill>
              <a:srgbClr val="ccd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" name=""/>
          <p:cNvSpPr/>
          <p:nvPr/>
        </p:nvSpPr>
        <p:spPr>
          <a:xfrm>
            <a:off x="5111640" y="6309360"/>
            <a:ext cx="26460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892040" y="5358240"/>
            <a:ext cx="4838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0.5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111640" y="4407480"/>
            <a:ext cx="26460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5495400" y="6492240"/>
            <a:ext cx="4654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64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7205400" y="6492240"/>
            <a:ext cx="4654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512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8924400" y="6492240"/>
            <a:ext cx="4654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960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7358040" y="4429080"/>
            <a:ext cx="360" cy="151920"/>
          </a:xfrm>
          <a:prstGeom prst="line">
            <a:avLst/>
          </a:prstGeom>
          <a:ln w="9000">
            <a:solidFill>
              <a:srgbClr val="c4c9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8" name=""/>
          <p:cNvSpPr/>
          <p:nvPr/>
        </p:nvSpPr>
        <p:spPr>
          <a:xfrm>
            <a:off x="7358040" y="5143320"/>
            <a:ext cx="360" cy="128880"/>
          </a:xfrm>
          <a:prstGeom prst="line">
            <a:avLst/>
          </a:prstGeom>
          <a:ln w="9000">
            <a:solidFill>
              <a:srgbClr val="c4c9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" name=""/>
          <p:cNvSpPr/>
          <p:nvPr/>
        </p:nvSpPr>
        <p:spPr>
          <a:xfrm>
            <a:off x="7358040" y="5457960"/>
            <a:ext cx="360" cy="171360"/>
          </a:xfrm>
          <a:prstGeom prst="line">
            <a:avLst/>
          </a:prstGeom>
          <a:ln w="9000">
            <a:solidFill>
              <a:srgbClr val="c4c9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" name=""/>
          <p:cNvSpPr/>
          <p:nvPr/>
        </p:nvSpPr>
        <p:spPr>
          <a:xfrm>
            <a:off x="7358040" y="5872320"/>
            <a:ext cx="360" cy="128520"/>
          </a:xfrm>
          <a:prstGeom prst="line">
            <a:avLst/>
          </a:prstGeom>
          <a:ln w="9000">
            <a:solidFill>
              <a:srgbClr val="c4c9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" name=""/>
          <p:cNvSpPr/>
          <p:nvPr/>
        </p:nvSpPr>
        <p:spPr>
          <a:xfrm>
            <a:off x="7358040" y="6229440"/>
            <a:ext cx="360" cy="185760"/>
          </a:xfrm>
          <a:prstGeom prst="line">
            <a:avLst/>
          </a:prstGeom>
          <a:ln w="9000">
            <a:solidFill>
              <a:srgbClr val="c4c9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" name=""/>
          <p:cNvSpPr/>
          <p:nvPr/>
        </p:nvSpPr>
        <p:spPr>
          <a:xfrm>
            <a:off x="5643360" y="4500720"/>
            <a:ext cx="1713960" cy="1913760"/>
          </a:xfrm>
          <a:custGeom>
            <a:avLst/>
            <a:gdLst>
              <a:gd name="textAreaLeft" fmla="*/ 0 w 1713960"/>
              <a:gd name="textAreaRight" fmla="*/ 1714680 w 1713960"/>
              <a:gd name="textAreaTop" fmla="*/ 0 h 1913760"/>
              <a:gd name="textAreaBottom" fmla="*/ 1914480 h 1913760"/>
            </a:gdLst>
            <a:ahLst/>
            <a:rect l="textAreaLeft" t="textAreaTop" r="textAreaRight" b="textAreaBottom"/>
            <a:pathLst>
              <a:path fill="none" w="4763" h="5318">
                <a:moveTo>
                  <a:pt x="0" y="2659"/>
                </a:moveTo>
                <a:lnTo>
                  <a:pt x="1707" y="5318"/>
                </a:lnTo>
                <a:lnTo>
                  <a:pt x="3413" y="0"/>
                </a:lnTo>
                <a:lnTo>
                  <a:pt x="4763" y="0"/>
                </a:lnTo>
              </a:path>
            </a:pathLst>
          </a:custGeom>
          <a:noFill/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" name=""/>
          <p:cNvSpPr/>
          <p:nvPr/>
        </p:nvSpPr>
        <p:spPr>
          <a:xfrm>
            <a:off x="5643360" y="4500720"/>
            <a:ext cx="1713960" cy="956520"/>
          </a:xfrm>
          <a:custGeom>
            <a:avLst/>
            <a:gdLst>
              <a:gd name="textAreaLeft" fmla="*/ 0 w 1713960"/>
              <a:gd name="textAreaRight" fmla="*/ 1714680 w 1713960"/>
              <a:gd name="textAreaTop" fmla="*/ 0 h 956520"/>
              <a:gd name="textAreaBottom" fmla="*/ 957240 h 956520"/>
            </a:gdLst>
            <a:ahLst/>
            <a:rect l="textAreaLeft" t="textAreaTop" r="textAreaRight" b="textAreaBottom"/>
            <a:pathLst>
              <a:path fill="none" w="4763" h="2659">
                <a:moveTo>
                  <a:pt x="0" y="2659"/>
                </a:moveTo>
                <a:lnTo>
                  <a:pt x="1707" y="0"/>
                </a:lnTo>
                <a:lnTo>
                  <a:pt x="3413" y="0"/>
                </a:lnTo>
                <a:lnTo>
                  <a:pt x="4763" y="0"/>
                </a:lnTo>
              </a:path>
            </a:pathLst>
          </a:custGeom>
          <a:noFill/>
          <a:ln w="183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"/>
          <p:cNvSpPr/>
          <p:nvPr/>
        </p:nvSpPr>
        <p:spPr>
          <a:xfrm>
            <a:off x="7972200" y="4500720"/>
            <a:ext cx="1099440" cy="36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3056" h="0">
                <a:moveTo>
                  <a:pt x="0" y="0"/>
                </a:moveTo>
                <a:lnTo>
                  <a:pt x="1707" y="0"/>
                </a:lnTo>
                <a:lnTo>
                  <a:pt x="3056" y="0"/>
                </a:lnTo>
              </a:path>
            </a:pathLst>
          </a:custGeom>
          <a:noFill/>
          <a:ln w="1836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5" name=""/>
          <p:cNvSpPr/>
          <p:nvPr/>
        </p:nvSpPr>
        <p:spPr>
          <a:xfrm>
            <a:off x="5643360" y="4500720"/>
            <a:ext cx="1713960" cy="956520"/>
          </a:xfrm>
          <a:custGeom>
            <a:avLst/>
            <a:gdLst>
              <a:gd name="textAreaLeft" fmla="*/ 0 w 1713960"/>
              <a:gd name="textAreaRight" fmla="*/ 1714680 w 1713960"/>
              <a:gd name="textAreaTop" fmla="*/ 0 h 956520"/>
              <a:gd name="textAreaBottom" fmla="*/ 957240 h 956520"/>
            </a:gdLst>
            <a:ahLst/>
            <a:rect l="textAreaLeft" t="textAreaTop" r="textAreaRight" b="textAreaBottom"/>
            <a:pathLst>
              <a:path fill="none" w="4763" h="2659">
                <a:moveTo>
                  <a:pt x="0" y="2659"/>
                </a:moveTo>
                <a:lnTo>
                  <a:pt x="1707" y="0"/>
                </a:lnTo>
                <a:lnTo>
                  <a:pt x="3413" y="0"/>
                </a:lnTo>
                <a:lnTo>
                  <a:pt x="4763" y="0"/>
                </a:lnTo>
              </a:path>
            </a:pathLst>
          </a:custGeom>
          <a:noFill/>
          <a:ln w="1836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6" name=""/>
          <p:cNvSpPr/>
          <p:nvPr/>
        </p:nvSpPr>
        <p:spPr>
          <a:xfrm>
            <a:off x="7972200" y="4500720"/>
            <a:ext cx="1099440" cy="36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3056" h="0">
                <a:moveTo>
                  <a:pt x="0" y="0"/>
                </a:moveTo>
                <a:lnTo>
                  <a:pt x="1707" y="0"/>
                </a:lnTo>
                <a:lnTo>
                  <a:pt x="3056" y="0"/>
                </a:lnTo>
              </a:path>
            </a:pathLst>
          </a:custGeom>
          <a:noFill/>
          <a:ln w="1836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7" name=""/>
          <p:cNvSpPr/>
          <p:nvPr/>
        </p:nvSpPr>
        <p:spPr>
          <a:xfrm>
            <a:off x="5643360" y="4500720"/>
            <a:ext cx="1713960" cy="956520"/>
          </a:xfrm>
          <a:custGeom>
            <a:avLst/>
            <a:gdLst>
              <a:gd name="textAreaLeft" fmla="*/ 0 w 1713960"/>
              <a:gd name="textAreaRight" fmla="*/ 1714680 w 1713960"/>
              <a:gd name="textAreaTop" fmla="*/ 0 h 956520"/>
              <a:gd name="textAreaBottom" fmla="*/ 957240 h 956520"/>
            </a:gdLst>
            <a:ahLst/>
            <a:rect l="textAreaLeft" t="textAreaTop" r="textAreaRight" b="textAreaBottom"/>
            <a:pathLst>
              <a:path fill="none" w="4763" h="2659">
                <a:moveTo>
                  <a:pt x="0" y="2659"/>
                </a:moveTo>
                <a:lnTo>
                  <a:pt x="1707" y="0"/>
                </a:lnTo>
                <a:lnTo>
                  <a:pt x="3413" y="0"/>
                </a:lnTo>
                <a:lnTo>
                  <a:pt x="4763" y="0"/>
                </a:lnTo>
              </a:path>
            </a:pathLst>
          </a:custGeom>
          <a:noFill/>
          <a:ln w="1836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" name=""/>
          <p:cNvSpPr/>
          <p:nvPr/>
        </p:nvSpPr>
        <p:spPr>
          <a:xfrm>
            <a:off x="7972200" y="4500720"/>
            <a:ext cx="1099440" cy="36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3056" h="0">
                <a:moveTo>
                  <a:pt x="0" y="0"/>
                </a:moveTo>
                <a:lnTo>
                  <a:pt x="1707" y="0"/>
                </a:lnTo>
                <a:lnTo>
                  <a:pt x="3056" y="0"/>
                </a:lnTo>
              </a:path>
            </a:pathLst>
          </a:custGeom>
          <a:noFill/>
          <a:ln w="1836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9" name=""/>
          <p:cNvSpPr/>
          <p:nvPr/>
        </p:nvSpPr>
        <p:spPr>
          <a:xfrm>
            <a:off x="5643360" y="4500720"/>
            <a:ext cx="1713960" cy="956520"/>
          </a:xfrm>
          <a:custGeom>
            <a:avLst/>
            <a:gdLst>
              <a:gd name="textAreaLeft" fmla="*/ 0 w 1713960"/>
              <a:gd name="textAreaRight" fmla="*/ 1714680 w 1713960"/>
              <a:gd name="textAreaTop" fmla="*/ 0 h 956520"/>
              <a:gd name="textAreaBottom" fmla="*/ 957240 h 956520"/>
            </a:gdLst>
            <a:ahLst/>
            <a:rect l="textAreaLeft" t="textAreaTop" r="textAreaRight" b="textAreaBottom"/>
            <a:pathLst>
              <a:path fill="none" w="4763" h="2659">
                <a:moveTo>
                  <a:pt x="0" y="2659"/>
                </a:moveTo>
                <a:lnTo>
                  <a:pt x="1707" y="0"/>
                </a:lnTo>
                <a:lnTo>
                  <a:pt x="3413" y="0"/>
                </a:lnTo>
                <a:lnTo>
                  <a:pt x="4763" y="0"/>
                </a:lnTo>
              </a:path>
            </a:pathLst>
          </a:custGeom>
          <a:noFill/>
          <a:ln w="1836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" name=""/>
          <p:cNvSpPr/>
          <p:nvPr/>
        </p:nvSpPr>
        <p:spPr>
          <a:xfrm>
            <a:off x="7972200" y="4500720"/>
            <a:ext cx="1099440" cy="36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3056" h="0">
                <a:moveTo>
                  <a:pt x="0" y="0"/>
                </a:moveTo>
                <a:lnTo>
                  <a:pt x="1707" y="0"/>
                </a:lnTo>
                <a:lnTo>
                  <a:pt x="3056" y="0"/>
                </a:lnTo>
              </a:path>
            </a:pathLst>
          </a:custGeom>
          <a:noFill/>
          <a:ln w="1836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" name=""/>
          <p:cNvSpPr/>
          <p:nvPr/>
        </p:nvSpPr>
        <p:spPr>
          <a:xfrm>
            <a:off x="5643360" y="5457960"/>
            <a:ext cx="1713960" cy="360"/>
          </a:xfrm>
          <a:custGeom>
            <a:avLst/>
            <a:gdLst>
              <a:gd name="textAreaLeft" fmla="*/ 0 w 1713960"/>
              <a:gd name="textAreaRight" fmla="*/ 1714680 w 171396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4763" h="0">
                <a:moveTo>
                  <a:pt x="0" y="0"/>
                </a:moveTo>
                <a:lnTo>
                  <a:pt x="1707" y="0"/>
                </a:lnTo>
                <a:lnTo>
                  <a:pt x="3413" y="0"/>
                </a:lnTo>
                <a:lnTo>
                  <a:pt x="4763" y="0"/>
                </a:lnTo>
              </a:path>
            </a:pathLst>
          </a:custGeom>
          <a:noFill/>
          <a:ln w="9000">
            <a:solidFill>
              <a:srgbClr val="5d68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" name=""/>
          <p:cNvSpPr/>
          <p:nvPr/>
        </p:nvSpPr>
        <p:spPr>
          <a:xfrm>
            <a:off x="7972200" y="5457960"/>
            <a:ext cx="1099440" cy="36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3056" h="0">
                <a:moveTo>
                  <a:pt x="0" y="0"/>
                </a:moveTo>
                <a:lnTo>
                  <a:pt x="1707" y="0"/>
                </a:lnTo>
                <a:lnTo>
                  <a:pt x="3056" y="0"/>
                </a:lnTo>
              </a:path>
            </a:pathLst>
          </a:custGeom>
          <a:noFill/>
          <a:ln w="9000">
            <a:solidFill>
              <a:srgbClr val="5d68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" name=""/>
          <p:cNvSpPr/>
          <p:nvPr/>
        </p:nvSpPr>
        <p:spPr>
          <a:xfrm>
            <a:off x="5643360" y="5457960"/>
            <a:ext cx="1713960" cy="360"/>
          </a:xfrm>
          <a:custGeom>
            <a:avLst/>
            <a:gdLst>
              <a:gd name="textAreaLeft" fmla="*/ 0 w 1713960"/>
              <a:gd name="textAreaRight" fmla="*/ 1714680 w 171396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4763" h="0">
                <a:moveTo>
                  <a:pt x="0" y="0"/>
                </a:moveTo>
                <a:lnTo>
                  <a:pt x="1707" y="0"/>
                </a:lnTo>
                <a:lnTo>
                  <a:pt x="3413" y="0"/>
                </a:lnTo>
                <a:lnTo>
                  <a:pt x="4763" y="0"/>
                </a:lnTo>
              </a:path>
            </a:pathLst>
          </a:custGeom>
          <a:noFill/>
          <a:ln w="9000">
            <a:solidFill>
              <a:srgbClr val="5d68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4" name=""/>
          <p:cNvSpPr/>
          <p:nvPr/>
        </p:nvSpPr>
        <p:spPr>
          <a:xfrm>
            <a:off x="7972200" y="5457960"/>
            <a:ext cx="1099440" cy="36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3056" h="0">
                <a:moveTo>
                  <a:pt x="0" y="0"/>
                </a:moveTo>
                <a:lnTo>
                  <a:pt x="1707" y="0"/>
                </a:lnTo>
                <a:lnTo>
                  <a:pt x="3056" y="0"/>
                </a:lnTo>
              </a:path>
            </a:pathLst>
          </a:custGeom>
          <a:noFill/>
          <a:ln w="9000">
            <a:solidFill>
              <a:srgbClr val="5d68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" name=""/>
          <p:cNvSpPr/>
          <p:nvPr/>
        </p:nvSpPr>
        <p:spPr>
          <a:xfrm>
            <a:off x="5643360" y="5457960"/>
            <a:ext cx="1713960" cy="360"/>
          </a:xfrm>
          <a:custGeom>
            <a:avLst/>
            <a:gdLst>
              <a:gd name="textAreaLeft" fmla="*/ 0 w 1713960"/>
              <a:gd name="textAreaRight" fmla="*/ 1714680 w 171396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4763" h="0">
                <a:moveTo>
                  <a:pt x="0" y="0"/>
                </a:moveTo>
                <a:lnTo>
                  <a:pt x="1707" y="0"/>
                </a:lnTo>
                <a:lnTo>
                  <a:pt x="3413" y="0"/>
                </a:lnTo>
                <a:lnTo>
                  <a:pt x="4763" y="0"/>
                </a:lnTo>
              </a:path>
            </a:pathLst>
          </a:custGeom>
          <a:noFill/>
          <a:ln w="9000">
            <a:solidFill>
              <a:srgbClr val="5d68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6" name=""/>
          <p:cNvSpPr/>
          <p:nvPr/>
        </p:nvSpPr>
        <p:spPr>
          <a:xfrm>
            <a:off x="7972200" y="5457960"/>
            <a:ext cx="1099440" cy="36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3056" h="0">
                <a:moveTo>
                  <a:pt x="0" y="0"/>
                </a:moveTo>
                <a:lnTo>
                  <a:pt x="1707" y="0"/>
                </a:lnTo>
                <a:lnTo>
                  <a:pt x="3056" y="0"/>
                </a:lnTo>
              </a:path>
            </a:pathLst>
          </a:custGeom>
          <a:noFill/>
          <a:ln w="9000">
            <a:solidFill>
              <a:srgbClr val="5d68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" name=""/>
          <p:cNvSpPr/>
          <p:nvPr/>
        </p:nvSpPr>
        <p:spPr>
          <a:xfrm>
            <a:off x="5643360" y="5457960"/>
            <a:ext cx="1713960" cy="360"/>
          </a:xfrm>
          <a:custGeom>
            <a:avLst/>
            <a:gdLst>
              <a:gd name="textAreaLeft" fmla="*/ 0 w 1713960"/>
              <a:gd name="textAreaRight" fmla="*/ 1714680 w 171396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4763" h="0">
                <a:moveTo>
                  <a:pt x="0" y="0"/>
                </a:moveTo>
                <a:lnTo>
                  <a:pt x="1707" y="0"/>
                </a:lnTo>
                <a:lnTo>
                  <a:pt x="3413" y="0"/>
                </a:lnTo>
                <a:lnTo>
                  <a:pt x="4763" y="0"/>
                </a:lnTo>
              </a:path>
            </a:pathLst>
          </a:custGeom>
          <a:noFill/>
          <a:ln w="9000">
            <a:solidFill>
              <a:srgbClr val="5d68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8" name=""/>
          <p:cNvSpPr/>
          <p:nvPr/>
        </p:nvSpPr>
        <p:spPr>
          <a:xfrm>
            <a:off x="7972200" y="5457960"/>
            <a:ext cx="1099440" cy="36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fill="none" w="3056" h="0">
                <a:moveTo>
                  <a:pt x="0" y="0"/>
                </a:moveTo>
                <a:lnTo>
                  <a:pt x="1707" y="0"/>
                </a:lnTo>
                <a:lnTo>
                  <a:pt x="3056" y="0"/>
                </a:lnTo>
              </a:path>
            </a:pathLst>
          </a:custGeom>
          <a:noFill/>
          <a:ln w="9000">
            <a:solidFill>
              <a:srgbClr val="5d68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" name=""/>
          <p:cNvSpPr/>
          <p:nvPr/>
        </p:nvSpPr>
        <p:spPr>
          <a:xfrm>
            <a:off x="356760" y="6784920"/>
            <a:ext cx="9353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Step 512: relation switches. First reversal probe follows 8 feedback pulses; immediate recovery was not measured.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95160" y="7095600"/>
            <a:ext cx="390600" cy="33840"/>
          </a:xfrm>
          <a:prstGeom prst="line">
            <a:avLst/>
          </a:prstGeom>
          <a:ln w="1836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20160" bIns="-201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1" name=""/>
          <p:cNvSpPr/>
          <p:nvPr/>
        </p:nvSpPr>
        <p:spPr>
          <a:xfrm>
            <a:off x="1134000" y="7004160"/>
            <a:ext cx="2870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Paired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3243240" y="7129440"/>
            <a:ext cx="357120" cy="360"/>
          </a:xfrm>
          <a:prstGeom prst="line">
            <a:avLst/>
          </a:prstGeom>
          <a:ln w="1836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3" name=""/>
          <p:cNvSpPr/>
          <p:nvPr/>
        </p:nvSpPr>
        <p:spPr>
          <a:xfrm>
            <a:off x="3648600" y="7004160"/>
            <a:ext cx="2870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Unpaired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114960" y="7129440"/>
            <a:ext cx="405000" cy="360"/>
          </a:xfrm>
          <a:prstGeom prst="line">
            <a:avLst/>
          </a:prstGeom>
          <a:ln w="18360">
            <a:solidFill>
              <a:srgbClr val="5d68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5" name=""/>
          <p:cNvSpPr/>
          <p:nvPr/>
        </p:nvSpPr>
        <p:spPr>
          <a:xfrm>
            <a:off x="6528960" y="7004160"/>
            <a:ext cx="2870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Reactor (no Q writes)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356760" y="7386480"/>
            <a:ext cx="9430200" cy="360"/>
          </a:xfrm>
          <a:prstGeom prst="line">
            <a:avLst/>
          </a:prstGeom>
          <a:ln w="9000">
            <a:solidFill>
              <a:srgbClr val="a6ad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" name=""/>
          <p:cNvSpPr/>
          <p:nvPr/>
        </p:nvSpPr>
        <p:spPr>
          <a:xfrm>
            <a:off x="283320" y="7552800"/>
            <a:ext cx="937188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C  The same terminal body: preserve Q or erase Q, with all feedback off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356760" y="7863840"/>
            <a:ext cx="9353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Correct-cue contact fraction at +64 steps; writes off in both forks. Body, E, last-cue and trace are retained.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42960" y="8786880"/>
            <a:ext cx="9071640" cy="1899360"/>
          </a:xfrm>
          <a:custGeom>
            <a:avLst/>
            <a:gdLst>
              <a:gd name="textAreaLeft" fmla="*/ 0 w 9071640"/>
              <a:gd name="textAreaRight" fmla="*/ 9072360 w 9071640"/>
              <a:gd name="textAreaTop" fmla="*/ 0 h 1899360"/>
              <a:gd name="textAreaBottom" fmla="*/ 1900080 h 1899360"/>
            </a:gdLst>
            <a:ahLst/>
            <a:rect l="textAreaLeft" t="textAreaTop" r="textAreaRight" b="textAreaBottom"/>
            <a:pathLst>
              <a:path fill="none" w="25201" h="5278">
                <a:moveTo>
                  <a:pt x="0" y="0"/>
                </a:moveTo>
                <a:lnTo>
                  <a:pt x="0" y="5278"/>
                </a:lnTo>
                <a:lnTo>
                  <a:pt x="25201" y="5278"/>
                </a:lnTo>
              </a:path>
            </a:pathLst>
          </a:custGeom>
          <a:noFill/>
          <a:ln w="9000">
            <a:solidFill>
              <a:srgbClr val="6573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0" name=""/>
          <p:cNvSpPr/>
          <p:nvPr/>
        </p:nvSpPr>
        <p:spPr>
          <a:xfrm>
            <a:off x="642960" y="9744120"/>
            <a:ext cx="9072360" cy="360"/>
          </a:xfrm>
          <a:prstGeom prst="line">
            <a:avLst/>
          </a:prstGeom>
          <a:ln w="9000">
            <a:solidFill>
              <a:srgbClr val="ccd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1" name=""/>
          <p:cNvSpPr/>
          <p:nvPr/>
        </p:nvSpPr>
        <p:spPr>
          <a:xfrm>
            <a:off x="137160" y="10598040"/>
            <a:ext cx="4838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137160" y="9646920"/>
            <a:ext cx="4838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0.5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137160" y="8686800"/>
            <a:ext cx="4838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749880" y="8312040"/>
            <a:ext cx="136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Reactor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749880" y="8531280"/>
            <a:ext cx="136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paired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785520" y="9744120"/>
            <a:ext cx="671760" cy="360"/>
          </a:xfrm>
          <a:prstGeom prst="line">
            <a:avLst/>
          </a:prstGeom>
          <a:ln w="900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" name=""/>
          <p:cNvSpPr/>
          <p:nvPr/>
        </p:nvSpPr>
        <p:spPr>
          <a:xfrm>
            <a:off x="785520" y="9744120"/>
            <a:ext cx="671760" cy="360"/>
          </a:xfrm>
          <a:prstGeom prst="line">
            <a:avLst/>
          </a:prstGeom>
          <a:ln w="900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" name=""/>
          <p:cNvSpPr/>
          <p:nvPr/>
        </p:nvSpPr>
        <p:spPr>
          <a:xfrm>
            <a:off x="871560" y="9744120"/>
            <a:ext cx="585720" cy="360"/>
          </a:xfrm>
          <a:prstGeom prst="line">
            <a:avLst/>
          </a:prstGeom>
          <a:ln w="900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" name=""/>
          <p:cNvSpPr/>
          <p:nvPr/>
        </p:nvSpPr>
        <p:spPr>
          <a:xfrm>
            <a:off x="871560" y="9744120"/>
            <a:ext cx="699840" cy="360"/>
          </a:xfrm>
          <a:prstGeom prst="line">
            <a:avLst/>
          </a:prstGeom>
          <a:ln w="900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0" name=""/>
          <p:cNvSpPr/>
          <p:nvPr/>
        </p:nvSpPr>
        <p:spPr>
          <a:xfrm>
            <a:off x="694800" y="10798920"/>
            <a:ext cx="584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keep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1362600" y="10798920"/>
            <a:ext cx="602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erase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2249280" y="8312040"/>
            <a:ext cx="136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Fast delta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2249280" y="8531280"/>
            <a:ext cx="136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paired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2249280" y="8786880"/>
            <a:ext cx="693720" cy="1100160"/>
          </a:xfrm>
          <a:prstGeom prst="line">
            <a:avLst/>
          </a:prstGeom>
          <a:ln w="900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" name=""/>
          <p:cNvSpPr/>
          <p:nvPr/>
        </p:nvSpPr>
        <p:spPr>
          <a:xfrm>
            <a:off x="2249280" y="8786880"/>
            <a:ext cx="693720" cy="771480"/>
          </a:xfrm>
          <a:prstGeom prst="line">
            <a:avLst/>
          </a:prstGeom>
          <a:ln w="900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" name=""/>
          <p:cNvSpPr/>
          <p:nvPr/>
        </p:nvSpPr>
        <p:spPr>
          <a:xfrm>
            <a:off x="2357280" y="8786880"/>
            <a:ext cx="671400" cy="1100160"/>
          </a:xfrm>
          <a:prstGeom prst="line">
            <a:avLst/>
          </a:prstGeom>
          <a:ln w="900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7" name=""/>
          <p:cNvSpPr/>
          <p:nvPr/>
        </p:nvSpPr>
        <p:spPr>
          <a:xfrm>
            <a:off x="2357280" y="8786880"/>
            <a:ext cx="671400" cy="657000"/>
          </a:xfrm>
          <a:prstGeom prst="line">
            <a:avLst/>
          </a:prstGeom>
          <a:ln w="900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8" name=""/>
          <p:cNvSpPr/>
          <p:nvPr/>
        </p:nvSpPr>
        <p:spPr>
          <a:xfrm>
            <a:off x="2194560" y="10798920"/>
            <a:ext cx="584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keep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2853000" y="10798920"/>
            <a:ext cx="602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erase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3740040" y="8312040"/>
            <a:ext cx="136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Eligibility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3740040" y="8531280"/>
            <a:ext cx="136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paired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3740040" y="8786880"/>
            <a:ext cx="703080" cy="1185840"/>
          </a:xfrm>
          <a:prstGeom prst="line">
            <a:avLst/>
          </a:prstGeom>
          <a:ln w="900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3" name=""/>
          <p:cNvSpPr/>
          <p:nvPr/>
        </p:nvSpPr>
        <p:spPr>
          <a:xfrm>
            <a:off x="3814560" y="8786880"/>
            <a:ext cx="628560" cy="671400"/>
          </a:xfrm>
          <a:prstGeom prst="line">
            <a:avLst/>
          </a:prstGeom>
          <a:ln w="900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4" name=""/>
          <p:cNvSpPr/>
          <p:nvPr/>
        </p:nvSpPr>
        <p:spPr>
          <a:xfrm>
            <a:off x="3814560" y="8786880"/>
            <a:ext cx="700200" cy="1214280"/>
          </a:xfrm>
          <a:prstGeom prst="line">
            <a:avLst/>
          </a:prstGeom>
          <a:ln w="900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5" name=""/>
          <p:cNvSpPr/>
          <p:nvPr/>
        </p:nvSpPr>
        <p:spPr>
          <a:xfrm>
            <a:off x="3900240" y="8786880"/>
            <a:ext cx="614520" cy="685800"/>
          </a:xfrm>
          <a:prstGeom prst="line">
            <a:avLst/>
          </a:prstGeom>
          <a:ln w="900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6" name=""/>
          <p:cNvSpPr/>
          <p:nvPr/>
        </p:nvSpPr>
        <p:spPr>
          <a:xfrm>
            <a:off x="3684960" y="10798920"/>
            <a:ext cx="584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keep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4352400" y="10798920"/>
            <a:ext cx="602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erase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5230440" y="8312040"/>
            <a:ext cx="136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Reactor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5230440" y="8531280"/>
            <a:ext cx="136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unpaired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271840" y="9744120"/>
            <a:ext cx="657360" cy="360"/>
          </a:xfrm>
          <a:prstGeom prst="line">
            <a:avLst/>
          </a:prstGeom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1" name=""/>
          <p:cNvSpPr/>
          <p:nvPr/>
        </p:nvSpPr>
        <p:spPr>
          <a:xfrm>
            <a:off x="5271840" y="9744120"/>
            <a:ext cx="657360" cy="360"/>
          </a:xfrm>
          <a:prstGeom prst="line">
            <a:avLst/>
          </a:prstGeom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" name=""/>
          <p:cNvSpPr/>
          <p:nvPr/>
        </p:nvSpPr>
        <p:spPr>
          <a:xfrm>
            <a:off x="5343480" y="9744120"/>
            <a:ext cx="671400" cy="360"/>
          </a:xfrm>
          <a:prstGeom prst="line">
            <a:avLst/>
          </a:prstGeom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" name=""/>
          <p:cNvSpPr/>
          <p:nvPr/>
        </p:nvSpPr>
        <p:spPr>
          <a:xfrm>
            <a:off x="5343480" y="9744120"/>
            <a:ext cx="671400" cy="360"/>
          </a:xfrm>
          <a:prstGeom prst="line">
            <a:avLst/>
          </a:prstGeom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" name=""/>
          <p:cNvSpPr/>
          <p:nvPr/>
        </p:nvSpPr>
        <p:spPr>
          <a:xfrm>
            <a:off x="5175360" y="10798920"/>
            <a:ext cx="584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keep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5843160" y="10798920"/>
            <a:ext cx="602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erase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6729840" y="8312040"/>
            <a:ext cx="136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Fast delta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6729840" y="8531280"/>
            <a:ext cx="136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unpaired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6843600" y="9872640"/>
            <a:ext cx="671400" cy="42840"/>
          </a:xfrm>
          <a:prstGeom prst="line">
            <a:avLst/>
          </a:prstGeom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6480" bIns="-64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" name=""/>
          <p:cNvSpPr/>
          <p:nvPr/>
        </p:nvSpPr>
        <p:spPr>
          <a:xfrm flipV="1">
            <a:off x="6886440" y="9558360"/>
            <a:ext cx="657360" cy="42840"/>
          </a:xfrm>
          <a:prstGeom prst="line">
            <a:avLst/>
          </a:prstGeom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6480" bIns="-64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0" name=""/>
          <p:cNvSpPr/>
          <p:nvPr/>
        </p:nvSpPr>
        <p:spPr>
          <a:xfrm>
            <a:off x="6675120" y="10798920"/>
            <a:ext cx="584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keep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7342560" y="10798920"/>
            <a:ext cx="602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erase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8220600" y="8312040"/>
            <a:ext cx="136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Eligibility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8220600" y="8531280"/>
            <a:ext cx="136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unpaired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 flipV="1">
            <a:off x="8258040" y="9744120"/>
            <a:ext cx="671400" cy="942840"/>
          </a:xfrm>
          <a:prstGeom prst="line">
            <a:avLst/>
          </a:prstGeom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" name=""/>
          <p:cNvSpPr/>
          <p:nvPr/>
        </p:nvSpPr>
        <p:spPr>
          <a:xfrm>
            <a:off x="8300880" y="8786880"/>
            <a:ext cx="628560" cy="957240"/>
          </a:xfrm>
          <a:prstGeom prst="line">
            <a:avLst/>
          </a:prstGeom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6" name=""/>
          <p:cNvSpPr/>
          <p:nvPr/>
        </p:nvSpPr>
        <p:spPr>
          <a:xfrm flipV="1">
            <a:off x="8343720" y="9829800"/>
            <a:ext cx="657360" cy="628560"/>
          </a:xfrm>
          <a:prstGeom prst="line">
            <a:avLst/>
          </a:prstGeom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7" name=""/>
          <p:cNvSpPr/>
          <p:nvPr/>
        </p:nvSpPr>
        <p:spPr>
          <a:xfrm>
            <a:off x="8372520" y="9015480"/>
            <a:ext cx="671400" cy="628560"/>
          </a:xfrm>
          <a:prstGeom prst="line">
            <a:avLst/>
          </a:prstGeom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8" name=""/>
          <p:cNvSpPr/>
          <p:nvPr/>
        </p:nvSpPr>
        <p:spPr>
          <a:xfrm>
            <a:off x="8165520" y="10798920"/>
            <a:ext cx="584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keep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8832960" y="10798920"/>
            <a:ext cx="6026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erase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356760" y="11118960"/>
            <a:ext cx="9353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 seeds × 2 mappings = 4 dependent conditions per arm/pairing; 24 lives + 48 forks. No cell-level 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356760" y="11384280"/>
            <a:ext cx="9430200" cy="17280"/>
          </a:xfrm>
          <a:prstGeom prst="line">
            <a:avLst/>
          </a:prstGeom>
          <a:ln w="9000">
            <a:solidFill>
              <a:srgbClr val="a6ad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32040" bIns="-32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2" name=""/>
          <p:cNvSpPr/>
          <p:nvPr/>
        </p:nvSpPr>
        <p:spPr>
          <a:xfrm>
            <a:off x="356760" y="11512440"/>
            <a:ext cx="9353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All survive; M ≈ 24, no births. Life E: 72 → 38.66–42.29 EU. Basal + motion paid; Q writes not separately priced.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356760" y="11768400"/>
            <a:ext cx="9353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Two installed local plasticity rules and a shared actuator; these results do not establish new-method superiority.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3286080" y="5429160"/>
            <a:ext cx="1099440" cy="8496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84960"/>
              <a:gd name="textAreaBottom" fmla="*/ 85680 h 84960"/>
            </a:gdLst>
            <a:ahLst/>
            <a:rect l="textAreaLeft" t="textAreaTop" r="textAreaRight" b="textAreaBottom"/>
            <a:pathLst>
              <a:path fill="none" w="3056" h="238">
                <a:moveTo>
                  <a:pt x="0" y="238"/>
                </a:moveTo>
                <a:lnTo>
                  <a:pt x="1706" y="159"/>
                </a:lnTo>
                <a:lnTo>
                  <a:pt x="3056" y="0"/>
                </a:lnTo>
              </a:path>
            </a:pathLst>
          </a:custGeom>
          <a:noFill/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36360" bIns="363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5" name=""/>
          <p:cNvSpPr/>
          <p:nvPr/>
        </p:nvSpPr>
        <p:spPr>
          <a:xfrm>
            <a:off x="971280" y="4500720"/>
            <a:ext cx="1699560" cy="1913760"/>
          </a:xfrm>
          <a:custGeom>
            <a:avLst/>
            <a:gdLst>
              <a:gd name="textAreaLeft" fmla="*/ 0 w 1699560"/>
              <a:gd name="textAreaRight" fmla="*/ 1700280 w 1699560"/>
              <a:gd name="textAreaTop" fmla="*/ 0 h 1913760"/>
              <a:gd name="textAreaBottom" fmla="*/ 1914480 h 1913760"/>
            </a:gdLst>
            <a:ahLst/>
            <a:rect l="textAreaLeft" t="textAreaTop" r="textAreaRight" b="textAreaBottom"/>
            <a:pathLst>
              <a:path fill="none" w="4723" h="5318">
                <a:moveTo>
                  <a:pt x="0" y="2659"/>
                </a:moveTo>
                <a:lnTo>
                  <a:pt x="1667" y="0"/>
                </a:lnTo>
                <a:lnTo>
                  <a:pt x="3374" y="5318"/>
                </a:lnTo>
                <a:lnTo>
                  <a:pt x="4723" y="5318"/>
                </a:lnTo>
              </a:path>
            </a:pathLst>
          </a:custGeom>
          <a:noFill/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6" name=""/>
          <p:cNvSpPr/>
          <p:nvPr/>
        </p:nvSpPr>
        <p:spPr>
          <a:xfrm>
            <a:off x="3286080" y="5400720"/>
            <a:ext cx="1099440" cy="7056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70560"/>
              <a:gd name="textAreaBottom" fmla="*/ 71280 h 70560"/>
            </a:gdLst>
            <a:ahLst/>
            <a:rect l="textAreaLeft" t="textAreaTop" r="textAreaRight" b="textAreaBottom"/>
            <a:pathLst>
              <a:path fill="none" w="3056" h="198">
                <a:moveTo>
                  <a:pt x="0" y="0"/>
                </a:moveTo>
                <a:lnTo>
                  <a:pt x="1706" y="79"/>
                </a:lnTo>
                <a:lnTo>
                  <a:pt x="3056" y="198"/>
                </a:lnTo>
              </a:path>
            </a:pathLst>
          </a:custGeom>
          <a:noFill/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21960" bIns="219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7" name=""/>
          <p:cNvSpPr/>
          <p:nvPr/>
        </p:nvSpPr>
        <p:spPr>
          <a:xfrm>
            <a:off x="3286080" y="4500720"/>
            <a:ext cx="1099440" cy="124200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1242000"/>
              <a:gd name="textAreaBottom" fmla="*/ 1242720 h 1242000"/>
            </a:gdLst>
            <a:ahLst/>
            <a:rect l="textAreaLeft" t="textAreaTop" r="textAreaRight" b="textAreaBottom"/>
            <a:pathLst>
              <a:path fill="none" w="3056" h="3452">
                <a:moveTo>
                  <a:pt x="0" y="0"/>
                </a:moveTo>
                <a:lnTo>
                  <a:pt x="1706" y="3452"/>
                </a:lnTo>
                <a:lnTo>
                  <a:pt x="3056" y="2381"/>
                </a:lnTo>
              </a:path>
            </a:pathLst>
          </a:custGeom>
          <a:noFill/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8" name=""/>
          <p:cNvSpPr/>
          <p:nvPr/>
        </p:nvSpPr>
        <p:spPr>
          <a:xfrm>
            <a:off x="971280" y="5457960"/>
            <a:ext cx="1699560" cy="956520"/>
          </a:xfrm>
          <a:custGeom>
            <a:avLst/>
            <a:gdLst>
              <a:gd name="textAreaLeft" fmla="*/ 0 w 1699560"/>
              <a:gd name="textAreaRight" fmla="*/ 1700280 w 1699560"/>
              <a:gd name="textAreaTop" fmla="*/ 0 h 956520"/>
              <a:gd name="textAreaBottom" fmla="*/ 957240 h 956520"/>
            </a:gdLst>
            <a:ahLst/>
            <a:rect l="textAreaLeft" t="textAreaTop" r="textAreaRight" b="textAreaBottom"/>
            <a:pathLst>
              <a:path fill="none" w="4723" h="2659">
                <a:moveTo>
                  <a:pt x="0" y="0"/>
                </a:moveTo>
                <a:lnTo>
                  <a:pt x="1667" y="2659"/>
                </a:lnTo>
                <a:lnTo>
                  <a:pt x="3374" y="2659"/>
                </a:lnTo>
                <a:lnTo>
                  <a:pt x="4723" y="2659"/>
                </a:lnTo>
              </a:path>
            </a:pathLst>
          </a:custGeom>
          <a:noFill/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9" name=""/>
          <p:cNvSpPr/>
          <p:nvPr/>
        </p:nvSpPr>
        <p:spPr>
          <a:xfrm>
            <a:off x="3286080" y="5157720"/>
            <a:ext cx="1099440" cy="125676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1256760"/>
              <a:gd name="textAreaBottom" fmla="*/ 1257480 h 1256760"/>
            </a:gdLst>
            <a:ahLst/>
            <a:rect l="textAreaLeft" t="textAreaTop" r="textAreaRight" b="textAreaBottom"/>
            <a:pathLst>
              <a:path fill="none" w="3056" h="3493">
                <a:moveTo>
                  <a:pt x="0" y="3493"/>
                </a:moveTo>
                <a:lnTo>
                  <a:pt x="1706" y="0"/>
                </a:lnTo>
                <a:lnTo>
                  <a:pt x="3056" y="1111"/>
                </a:lnTo>
              </a:path>
            </a:pathLst>
          </a:custGeom>
          <a:noFill/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0" name=""/>
          <p:cNvSpPr/>
          <p:nvPr/>
        </p:nvSpPr>
        <p:spPr>
          <a:xfrm>
            <a:off x="5643360" y="4500720"/>
            <a:ext cx="1713960" cy="1899360"/>
          </a:xfrm>
          <a:custGeom>
            <a:avLst/>
            <a:gdLst>
              <a:gd name="textAreaLeft" fmla="*/ 0 w 1713960"/>
              <a:gd name="textAreaRight" fmla="*/ 1714680 w 1713960"/>
              <a:gd name="textAreaTop" fmla="*/ 0 h 1899360"/>
              <a:gd name="textAreaBottom" fmla="*/ 1900080 h 1899360"/>
            </a:gdLst>
            <a:ahLst/>
            <a:rect l="textAreaLeft" t="textAreaTop" r="textAreaRight" b="textAreaBottom"/>
            <a:pathLst>
              <a:path fill="none" w="4763" h="5278">
                <a:moveTo>
                  <a:pt x="0" y="2659"/>
                </a:moveTo>
                <a:lnTo>
                  <a:pt x="1707" y="5278"/>
                </a:lnTo>
                <a:lnTo>
                  <a:pt x="3413" y="0"/>
                </a:lnTo>
                <a:lnTo>
                  <a:pt x="4763" y="0"/>
                </a:lnTo>
              </a:path>
            </a:pathLst>
          </a:custGeom>
          <a:noFill/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1" name=""/>
          <p:cNvSpPr/>
          <p:nvPr/>
        </p:nvSpPr>
        <p:spPr>
          <a:xfrm>
            <a:off x="7972200" y="4500720"/>
            <a:ext cx="1099440" cy="187092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1870920"/>
              <a:gd name="textAreaBottom" fmla="*/ 1871640 h 1870920"/>
            </a:gdLst>
            <a:ahLst/>
            <a:rect l="textAreaLeft" t="textAreaTop" r="textAreaRight" b="textAreaBottom"/>
            <a:pathLst>
              <a:path fill="none" w="3056" h="5199">
                <a:moveTo>
                  <a:pt x="0" y="0"/>
                </a:moveTo>
                <a:lnTo>
                  <a:pt x="1707" y="5199"/>
                </a:lnTo>
                <a:lnTo>
                  <a:pt x="3056" y="5199"/>
                </a:lnTo>
              </a:path>
            </a:pathLst>
          </a:custGeom>
          <a:noFill/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2" name=""/>
          <p:cNvSpPr/>
          <p:nvPr/>
        </p:nvSpPr>
        <p:spPr>
          <a:xfrm>
            <a:off x="5643360" y="4500720"/>
            <a:ext cx="1713960" cy="1913760"/>
          </a:xfrm>
          <a:custGeom>
            <a:avLst/>
            <a:gdLst>
              <a:gd name="textAreaLeft" fmla="*/ 0 w 1713960"/>
              <a:gd name="textAreaRight" fmla="*/ 1714680 w 1713960"/>
              <a:gd name="textAreaTop" fmla="*/ 0 h 1913760"/>
              <a:gd name="textAreaBottom" fmla="*/ 1914480 h 1913760"/>
            </a:gdLst>
            <a:ahLst/>
            <a:rect l="textAreaLeft" t="textAreaTop" r="textAreaRight" b="textAreaBottom"/>
            <a:pathLst>
              <a:path fill="none" w="4763" h="5318">
                <a:moveTo>
                  <a:pt x="0" y="2659"/>
                </a:moveTo>
                <a:lnTo>
                  <a:pt x="1707" y="0"/>
                </a:lnTo>
                <a:lnTo>
                  <a:pt x="3413" y="5318"/>
                </a:lnTo>
                <a:lnTo>
                  <a:pt x="4763" y="5318"/>
                </a:lnTo>
              </a:path>
            </a:pathLst>
          </a:custGeom>
          <a:noFill/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3" name=""/>
          <p:cNvSpPr/>
          <p:nvPr/>
        </p:nvSpPr>
        <p:spPr>
          <a:xfrm>
            <a:off x="7972200" y="4529160"/>
            <a:ext cx="1099440" cy="188532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1885320"/>
              <a:gd name="textAreaBottom" fmla="*/ 1886040 h 1885320"/>
            </a:gdLst>
            <a:ahLst/>
            <a:rect l="textAreaLeft" t="textAreaTop" r="textAreaRight" b="textAreaBottom"/>
            <a:pathLst>
              <a:path fill="none" w="3056" h="5239">
                <a:moveTo>
                  <a:pt x="0" y="5239"/>
                </a:moveTo>
                <a:lnTo>
                  <a:pt x="1707" y="0"/>
                </a:lnTo>
                <a:lnTo>
                  <a:pt x="3056" y="0"/>
                </a:lnTo>
              </a:path>
            </a:pathLst>
          </a:custGeom>
          <a:noFill/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4" name=""/>
          <p:cNvSpPr/>
          <p:nvPr/>
        </p:nvSpPr>
        <p:spPr>
          <a:xfrm>
            <a:off x="5643360" y="4500720"/>
            <a:ext cx="1713960" cy="942120"/>
          </a:xfrm>
          <a:custGeom>
            <a:avLst/>
            <a:gdLst>
              <a:gd name="textAreaLeft" fmla="*/ 0 w 1713960"/>
              <a:gd name="textAreaRight" fmla="*/ 1714680 w 1713960"/>
              <a:gd name="textAreaTop" fmla="*/ 0 h 942120"/>
              <a:gd name="textAreaBottom" fmla="*/ 942840 h 942120"/>
            </a:gdLst>
            <a:ahLst/>
            <a:rect l="textAreaLeft" t="textAreaTop" r="textAreaRight" b="textAreaBottom"/>
            <a:pathLst>
              <a:path fill="none" w="4763" h="2619">
                <a:moveTo>
                  <a:pt x="0" y="2619"/>
                </a:moveTo>
                <a:lnTo>
                  <a:pt x="1707" y="79"/>
                </a:lnTo>
                <a:lnTo>
                  <a:pt x="3413" y="0"/>
                </a:lnTo>
                <a:lnTo>
                  <a:pt x="4763" y="0"/>
                </a:lnTo>
              </a:path>
            </a:pathLst>
          </a:custGeom>
          <a:noFill/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5" name=""/>
          <p:cNvSpPr/>
          <p:nvPr/>
        </p:nvSpPr>
        <p:spPr>
          <a:xfrm>
            <a:off x="7972200" y="4543560"/>
            <a:ext cx="1099440" cy="159948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1599480"/>
              <a:gd name="textAreaBottom" fmla="*/ 1600200 h 1599480"/>
            </a:gdLst>
            <a:ahLst/>
            <a:rect l="textAreaLeft" t="textAreaTop" r="textAreaRight" b="textAreaBottom"/>
            <a:pathLst>
              <a:path fill="none" w="3056" h="4445">
                <a:moveTo>
                  <a:pt x="0" y="0"/>
                </a:moveTo>
                <a:lnTo>
                  <a:pt x="1707" y="4445"/>
                </a:lnTo>
                <a:lnTo>
                  <a:pt x="3056" y="4326"/>
                </a:lnTo>
              </a:path>
            </a:pathLst>
          </a:custGeom>
          <a:noFill/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6" name=""/>
          <p:cNvSpPr/>
          <p:nvPr/>
        </p:nvSpPr>
        <p:spPr>
          <a:xfrm>
            <a:off x="5643360" y="5457960"/>
            <a:ext cx="1713960" cy="956520"/>
          </a:xfrm>
          <a:custGeom>
            <a:avLst/>
            <a:gdLst>
              <a:gd name="textAreaLeft" fmla="*/ 0 w 1713960"/>
              <a:gd name="textAreaRight" fmla="*/ 1714680 w 1713960"/>
              <a:gd name="textAreaTop" fmla="*/ 0 h 956520"/>
              <a:gd name="textAreaBottom" fmla="*/ 957240 h 956520"/>
            </a:gdLst>
            <a:ahLst/>
            <a:rect l="textAreaLeft" t="textAreaTop" r="textAreaRight" b="textAreaBottom"/>
            <a:pathLst>
              <a:path fill="none" w="4763" h="2659">
                <a:moveTo>
                  <a:pt x="0" y="0"/>
                </a:moveTo>
                <a:lnTo>
                  <a:pt x="1707" y="2579"/>
                </a:lnTo>
                <a:lnTo>
                  <a:pt x="3413" y="2659"/>
                </a:lnTo>
                <a:lnTo>
                  <a:pt x="4763" y="2659"/>
                </a:lnTo>
              </a:path>
            </a:pathLst>
          </a:custGeom>
          <a:noFill/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" name=""/>
          <p:cNvSpPr/>
          <p:nvPr/>
        </p:nvSpPr>
        <p:spPr>
          <a:xfrm>
            <a:off x="7972200" y="4772160"/>
            <a:ext cx="1099440" cy="158508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1585080"/>
              <a:gd name="textAreaBottom" fmla="*/ 1585800 h 1585080"/>
            </a:gdLst>
            <a:ahLst/>
            <a:rect l="textAreaLeft" t="textAreaTop" r="textAreaRight" b="textAreaBottom"/>
            <a:pathLst>
              <a:path fill="none" w="3056" h="4405">
                <a:moveTo>
                  <a:pt x="0" y="4405"/>
                </a:moveTo>
                <a:lnTo>
                  <a:pt x="1707" y="0"/>
                </a:lnTo>
                <a:lnTo>
                  <a:pt x="3056" y="79"/>
                </a:lnTo>
              </a:path>
            </a:pathLst>
          </a:custGeom>
          <a:noFill/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" name=""/>
          <p:cNvSpPr/>
          <p:nvPr/>
        </p:nvSpPr>
        <p:spPr>
          <a:xfrm flipV="1">
            <a:off x="6757920" y="9758520"/>
            <a:ext cx="671400" cy="28440"/>
          </a:xfrm>
          <a:prstGeom prst="line">
            <a:avLst/>
          </a:prstGeom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20880" bIns="-208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9" name=""/>
          <p:cNvSpPr/>
          <p:nvPr/>
        </p:nvSpPr>
        <p:spPr>
          <a:xfrm>
            <a:off x="6800760" y="9686880"/>
            <a:ext cx="671400" cy="42840"/>
          </a:xfrm>
          <a:prstGeom prst="line">
            <a:avLst/>
          </a:prstGeom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6480" bIns="-64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0" name=""/>
          <p:cNvSpPr/>
          <p:nvPr/>
        </p:nvSpPr>
        <p:spPr>
          <a:xfrm>
            <a:off x="971280" y="4500720"/>
            <a:ext cx="1699560" cy="1913760"/>
          </a:xfrm>
          <a:custGeom>
            <a:avLst/>
            <a:gdLst>
              <a:gd name="textAreaLeft" fmla="*/ 0 w 1699560"/>
              <a:gd name="textAreaRight" fmla="*/ 1700280 w 1699560"/>
              <a:gd name="textAreaTop" fmla="*/ 0 h 1913760"/>
              <a:gd name="textAreaBottom" fmla="*/ 1914480 h 1913760"/>
            </a:gdLst>
            <a:ahLst/>
            <a:rect l="textAreaLeft" t="textAreaTop" r="textAreaRight" b="textAreaBottom"/>
            <a:pathLst>
              <a:path fill="none" w="4723" h="5318">
                <a:moveTo>
                  <a:pt x="0" y="2659"/>
                </a:moveTo>
                <a:lnTo>
                  <a:pt x="1667" y="5318"/>
                </a:lnTo>
                <a:lnTo>
                  <a:pt x="3374" y="0"/>
                </a:lnTo>
                <a:lnTo>
                  <a:pt x="4723" y="0"/>
                </a:lnTo>
              </a:path>
            </a:pathLst>
          </a:custGeom>
          <a:noFill/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1" name=""/>
          <p:cNvSpPr/>
          <p:nvPr/>
        </p:nvSpPr>
        <p:spPr>
          <a:xfrm>
            <a:off x="971280" y="4500720"/>
            <a:ext cx="1699560" cy="942120"/>
          </a:xfrm>
          <a:custGeom>
            <a:avLst/>
            <a:gdLst>
              <a:gd name="textAreaLeft" fmla="*/ 0 w 1699560"/>
              <a:gd name="textAreaRight" fmla="*/ 1700280 w 1699560"/>
              <a:gd name="textAreaTop" fmla="*/ 0 h 942120"/>
              <a:gd name="textAreaBottom" fmla="*/ 942840 h 942120"/>
            </a:gdLst>
            <a:ahLst/>
            <a:rect l="textAreaLeft" t="textAreaTop" r="textAreaRight" b="textAreaBottom"/>
            <a:pathLst>
              <a:path fill="none" w="4723" h="2619">
                <a:moveTo>
                  <a:pt x="0" y="2619"/>
                </a:moveTo>
                <a:lnTo>
                  <a:pt x="1667" y="0"/>
                </a:lnTo>
                <a:lnTo>
                  <a:pt x="3374" y="0"/>
                </a:lnTo>
                <a:lnTo>
                  <a:pt x="4723" y="0"/>
                </a:lnTo>
              </a:path>
            </a:pathLst>
          </a:custGeom>
          <a:noFill/>
          <a:ln w="9000">
            <a:solidFill>
              <a:srgbClr val="d98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2" name=""/>
          <p:cNvSpPr/>
          <p:nvPr/>
        </p:nvSpPr>
        <p:spPr>
          <a:xfrm>
            <a:off x="3286080" y="4500720"/>
            <a:ext cx="1099440" cy="4212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42120"/>
              <a:gd name="textAreaBottom" fmla="*/ 42840 h 42120"/>
            </a:gdLst>
            <a:ahLst/>
            <a:rect l="textAreaLeft" t="textAreaTop" r="textAreaRight" b="textAreaBottom"/>
            <a:pathLst>
              <a:path fill="none" w="3056" h="119">
                <a:moveTo>
                  <a:pt x="0" y="0"/>
                </a:moveTo>
                <a:lnTo>
                  <a:pt x="1706" y="0"/>
                </a:lnTo>
                <a:lnTo>
                  <a:pt x="3056" y="119"/>
                </a:lnTo>
              </a:path>
            </a:pathLst>
          </a:custGeom>
          <a:noFill/>
          <a:ln w="1836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11160" bIns="-111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3" name=""/>
          <p:cNvSpPr/>
          <p:nvPr/>
        </p:nvSpPr>
        <p:spPr>
          <a:xfrm>
            <a:off x="3286080" y="4500720"/>
            <a:ext cx="1099440" cy="42120"/>
          </a:xfrm>
          <a:custGeom>
            <a:avLst/>
            <a:gdLst>
              <a:gd name="textAreaLeft" fmla="*/ 0 w 1099440"/>
              <a:gd name="textAreaRight" fmla="*/ 1100160 w 1099440"/>
              <a:gd name="textAreaTop" fmla="*/ 0 h 42120"/>
              <a:gd name="textAreaBottom" fmla="*/ 42840 h 42120"/>
            </a:gdLst>
            <a:ahLst/>
            <a:rect l="textAreaLeft" t="textAreaTop" r="textAreaRight" b="textAreaBottom"/>
            <a:pathLst>
              <a:path fill="none" w="3056" h="119">
                <a:moveTo>
                  <a:pt x="0" y="0"/>
                </a:moveTo>
                <a:lnTo>
                  <a:pt x="1706" y="0"/>
                </a:lnTo>
                <a:lnTo>
                  <a:pt x="3056" y="119"/>
                </a:lnTo>
              </a:path>
            </a:pathLst>
          </a:custGeom>
          <a:noFill/>
          <a:ln w="18360">
            <a:solidFill>
              <a:srgbClr val="197b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11160" bIns="-111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4" name=""/>
          <p:cNvSpPr/>
          <p:nvPr/>
        </p:nvSpPr>
        <p:spPr>
          <a:xfrm>
            <a:off x="5394960" y="4425840"/>
            <a:ext cx="3672360" cy="1985400"/>
          </a:xfrm>
          <a:custGeom>
            <a:avLst/>
            <a:gdLst>
              <a:gd name="textAreaLeft" fmla="*/ 0 w 3672360"/>
              <a:gd name="textAreaRight" fmla="*/ 3673080 w 3672360"/>
              <a:gd name="textAreaTop" fmla="*/ 0 h 1985400"/>
              <a:gd name="textAreaBottom" fmla="*/ 1986120 h 1985400"/>
            </a:gdLst>
            <a:ahLst/>
            <a:rect l="textAreaLeft" t="textAreaTop" r="textAreaRight" b="textAreaBottom"/>
            <a:pathLst>
              <a:path fill="none" w="10203" h="5517">
                <a:moveTo>
                  <a:pt x="0" y="0"/>
                </a:moveTo>
                <a:lnTo>
                  <a:pt x="3" y="5517"/>
                </a:lnTo>
                <a:lnTo>
                  <a:pt x="10203" y="5517"/>
                </a:lnTo>
              </a:path>
            </a:pathLst>
          </a:custGeom>
          <a:noFill/>
          <a:ln w="9000">
            <a:solidFill>
              <a:srgbClr val="65737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2026-10-16T20:49:47Z</dcterms:created>
  <dc:creator/>
  <dc:description/>
  <dc:language>zh-CN</dc:language>
  <cp:lastModifiedBy/>
  <cp:lastPrinted>2026-10-19T10:55:33Z</cp:lastPrinted>
  <dcterms:modified xsi:type="dcterms:W3CDTF">2026-10-19T14:14:28Z</dcterms:modified>
  <cp:revision>250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