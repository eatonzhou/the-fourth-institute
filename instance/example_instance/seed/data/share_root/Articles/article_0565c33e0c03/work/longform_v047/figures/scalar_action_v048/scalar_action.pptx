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4360" cy="154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BE6B01-0FF8-4184-9308-8082FE2C45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4360" cy="154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77720" cy="62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1000" cy="62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B0FA85-5639-4ED1-B7AA-D82E46D49E6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1000" cy="62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29840" y="557640"/>
            <a:ext cx="9171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Reward reversal and a changed actuator test different capabilities.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429840" y="951120"/>
            <a:ext cx="9171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A  Local scalar receipts, carried state and a preset actuator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2880" y="1314360"/>
            <a:ext cx="2342880" cy="813960"/>
          </a:xfrm>
          <a:custGeom>
            <a:avLst/>
            <a:gdLst>
              <a:gd name="textAreaLeft" fmla="*/ 0 w 2342880"/>
              <a:gd name="textAreaRight" fmla="*/ 2343240 w 2342880"/>
              <a:gd name="textAreaTop" fmla="*/ 0 h 813960"/>
              <a:gd name="textAreaBottom" fmla="*/ 814320 h 813960"/>
            </a:gdLst>
            <a:ahLst/>
            <a:rect l="textAreaLeft" t="textAreaTop" r="textAreaRight" b="textAreaBottom"/>
            <a:pathLst>
              <a:path w="6509" h="2262">
                <a:moveTo>
                  <a:pt x="0" y="0"/>
                </a:moveTo>
                <a:lnTo>
                  <a:pt x="6509" y="0"/>
                </a:lnTo>
                <a:lnTo>
                  <a:pt x="6509" y="2262"/>
                </a:lnTo>
                <a:lnTo>
                  <a:pt x="0" y="2262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621720" y="1380600"/>
            <a:ext cx="2157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Paid scalar 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(actual gain − loss)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/ (0.005ρ)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600360" y="1314360"/>
            <a:ext cx="2657160" cy="813960"/>
          </a:xfrm>
          <a:custGeom>
            <a:avLst/>
            <a:gdLst>
              <a:gd name="textAreaLeft" fmla="*/ 0 w 2657160"/>
              <a:gd name="textAreaRight" fmla="*/ 2657520 w 2657160"/>
              <a:gd name="textAreaTop" fmla="*/ 0 h 813960"/>
              <a:gd name="textAreaBottom" fmla="*/ 814320 h 813960"/>
            </a:gdLst>
            <a:ahLst/>
            <a:rect l="textAreaLeft" t="textAreaTop" r="textAreaRight" b="textAreaBottom"/>
            <a:pathLst>
              <a:path w="7382" h="2262">
                <a:moveTo>
                  <a:pt x="0" y="0"/>
                </a:moveTo>
                <a:lnTo>
                  <a:pt x="7382" y="0"/>
                </a:lnTo>
                <a:lnTo>
                  <a:pt x="7382" y="2262"/>
                </a:lnTo>
                <a:lnTo>
                  <a:pt x="0" y="2262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684960" y="1380600"/>
            <a:ext cx="2477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Own 8-step probe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Δy × noise score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update 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986520" y="1314360"/>
            <a:ext cx="2514240" cy="813960"/>
          </a:xfrm>
          <a:custGeom>
            <a:avLst/>
            <a:gdLst>
              <a:gd name="textAreaLeft" fmla="*/ 0 w 2514240"/>
              <a:gd name="textAreaRight" fmla="*/ 2514600 w 2514240"/>
              <a:gd name="textAreaTop" fmla="*/ 0 h 813960"/>
              <a:gd name="textAreaBottom" fmla="*/ 814320 h 813960"/>
            </a:gdLst>
            <a:ahLst/>
            <a:rect l="textAreaLeft" t="textAreaTop" r="textAreaRight" b="textAreaBottom"/>
            <a:pathLst>
              <a:path w="6985" h="2262">
                <a:moveTo>
                  <a:pt x="0" y="0"/>
                </a:moveTo>
                <a:lnTo>
                  <a:pt x="6985" y="0"/>
                </a:lnTo>
                <a:lnTo>
                  <a:pt x="6985" y="2262"/>
                </a:lnTo>
                <a:lnTo>
                  <a:pt x="0" y="2262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d66a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068240" y="1380600"/>
            <a:ext cx="2331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unit(g) + noise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bounded action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payment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2914560" y="1714320"/>
            <a:ext cx="614160" cy="360"/>
          </a:xfrm>
          <a:prstGeom prst="line">
            <a:avLst/>
          </a:prstGeom>
          <a:ln w="18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3414600" y="1657440"/>
            <a:ext cx="113760" cy="113760"/>
          </a:xfrm>
          <a:custGeom>
            <a:avLst/>
            <a:gdLst>
              <a:gd name="textAreaLeft" fmla="*/ 0 w 113760"/>
              <a:gd name="textAreaRight" fmla="*/ 114120 w 113760"/>
              <a:gd name="textAreaTop" fmla="*/ 0 h 113760"/>
              <a:gd name="textAreaBottom" fmla="*/ 114120 h 113760"/>
            </a:gdLst>
            <a:ahLst/>
            <a:rect l="textAreaLeft" t="textAreaTop" r="textAreaRight" b="textAreaBottom"/>
            <a:pathLst>
              <a:path fill="none" w="317" h="317">
                <a:moveTo>
                  <a:pt x="0" y="317"/>
                </a:moveTo>
                <a:lnTo>
                  <a:pt x="317" y="158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300720" y="1714320"/>
            <a:ext cx="614160" cy="360"/>
          </a:xfrm>
          <a:prstGeom prst="line">
            <a:avLst/>
          </a:prstGeom>
          <a:ln w="18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6800760" y="1657440"/>
            <a:ext cx="113760" cy="113760"/>
          </a:xfrm>
          <a:custGeom>
            <a:avLst/>
            <a:gdLst>
              <a:gd name="textAreaLeft" fmla="*/ 0 w 113760"/>
              <a:gd name="textAreaRight" fmla="*/ 114120 w 113760"/>
              <a:gd name="textAreaTop" fmla="*/ 0 h 113760"/>
              <a:gd name="textAreaBottom" fmla="*/ 114120 h 113760"/>
            </a:gdLst>
            <a:ahLst/>
            <a:rect l="textAreaLeft" t="textAreaTop" r="textAreaRight" b="textAreaBottom"/>
            <a:pathLst>
              <a:path fill="none" w="317" h="317">
                <a:moveTo>
                  <a:pt x="0" y="317"/>
                </a:moveTo>
                <a:lnTo>
                  <a:pt x="317" y="158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614240" y="2171520"/>
            <a:ext cx="6671880" cy="228240"/>
          </a:xfrm>
          <a:custGeom>
            <a:avLst/>
            <a:gdLst>
              <a:gd name="textAreaLeft" fmla="*/ 0 w 6671880"/>
              <a:gd name="textAreaRight" fmla="*/ 6672240 w 667188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fill="none" w="18534" h="635">
                <a:moveTo>
                  <a:pt x="18534" y="0"/>
                </a:moveTo>
                <a:lnTo>
                  <a:pt x="18534" y="635"/>
                </a:lnTo>
                <a:lnTo>
                  <a:pt x="0" y="635"/>
                </a:lnTo>
                <a:lnTo>
                  <a:pt x="0" y="0"/>
                </a:lnTo>
              </a:path>
            </a:pathLst>
          </a:custGeom>
          <a:noFill/>
          <a:ln w="900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flipV="1">
            <a:off x="1614240" y="2171520"/>
            <a:ext cx="360" cy="228600"/>
          </a:xfrm>
          <a:prstGeom prst="line">
            <a:avLst/>
          </a:prstGeom>
          <a:ln w="1836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1557360" y="2171520"/>
            <a:ext cx="113760" cy="128520"/>
          </a:xfrm>
          <a:custGeom>
            <a:avLst/>
            <a:gdLst>
              <a:gd name="textAreaLeft" fmla="*/ 0 w 113760"/>
              <a:gd name="textAreaRight" fmla="*/ 114120 w 113760"/>
              <a:gd name="textAreaTop" fmla="*/ 0 h 128520"/>
              <a:gd name="textAreaBottom" fmla="*/ 128880 h 128520"/>
            </a:gdLst>
            <a:ahLst/>
            <a:rect l="textAreaLeft" t="textAreaTop" r="textAreaRight" b="textAreaBottom"/>
            <a:pathLst>
              <a:path fill="none" w="317" h="358">
                <a:moveTo>
                  <a:pt x="317" y="358"/>
                </a:moveTo>
                <a:lnTo>
                  <a:pt x="158" y="0"/>
                </a:lnTo>
                <a:lnTo>
                  <a:pt x="0" y="358"/>
                </a:lnTo>
              </a:path>
            </a:pathLst>
          </a:custGeom>
          <a:noFill/>
          <a:ln w="1836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231280" y="2432160"/>
            <a:ext cx="730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Physical K transports material and internal state; it is not a policy input.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29840" y="275220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Visible: local scalar, carried state, own clock/RNG and completed-payment flag.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29840" y="294444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gradient, field position, donor displacement or actuator truth is supplied.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29840" y="228600"/>
            <a:ext cx="917100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Scalar feedback supports acquired action with limited revision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29840" y="332856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B  Reward reversal succeeds in only one of two conditions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29840" y="357516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Evaluation: final-64 body field score | P / F = original full gate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39640" y="3886200"/>
            <a:ext cx="19746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871360" y="3886200"/>
            <a:ext cx="2157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1–320 Acquire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074920" y="3886200"/>
            <a:ext cx="2157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321–640 Reverse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269480" y="3886200"/>
            <a:ext cx="2157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641–768 No feedback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39640" y="4224600"/>
            <a:ext cx="2194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Response estimate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871360" y="422460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C0  +0.6355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C1  +0.6327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074920" y="422460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C0  +0.1468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C1  +0.2798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269480" y="422460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C0  +0.5341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C1  +0.6096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39640" y="4645080"/>
            <a:ext cx="2194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Reward delta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2871360" y="46450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+0.4588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+0.4625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074920" y="46450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-0.2411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-0.1850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269480" y="46450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+0.2160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+0.1773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39640" y="5056560"/>
            <a:ext cx="2194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Context delta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871360" y="505656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+0.4555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+0.4586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074920" y="505656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-0.5243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-0.5163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269480" y="505656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-0.4279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-0.2654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39640" y="5477400"/>
            <a:ext cx="2194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Fixed run/tumble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871360" y="547740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+0.2586 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+0.1608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074920" y="547740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-0.0274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-0.0193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269480" y="547740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+0.0721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+0.0474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39640" y="5897880"/>
            <a:ext cx="2194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Random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871360" y="58978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+0.0657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-0.0085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074920" y="58978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-0.0511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+0.0276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269480" y="58978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C0  -0.0869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C1  +0.0370 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66200" y="634608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Gate: score &gt; .25; positive mass fraction ≥ .60; M ≥ 12; connected fraction ≥ .75.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66200" y="653796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/ C1 are two conditions. Success after 640 does not repair failure during reversal.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29840" y="686700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C  Same actual-640 parents: stored content is useful, but not exclusive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66200" y="7123320"/>
            <a:ext cx="9207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128 steps without new outcomes or writes; body / E / scalar records / clock / RNG matched.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57240" y="7529400"/>
            <a:ext cx="3843000" cy="1585800"/>
          </a:xfrm>
          <a:custGeom>
            <a:avLst/>
            <a:gdLst>
              <a:gd name="textAreaLeft" fmla="*/ 0 w 3843000"/>
              <a:gd name="textAreaRight" fmla="*/ 3843360 w 3843000"/>
              <a:gd name="textAreaTop" fmla="*/ 0 h 1585800"/>
              <a:gd name="textAreaBottom" fmla="*/ 1586160 h 1585800"/>
            </a:gdLst>
            <a:ahLst/>
            <a:rect l="textAreaLeft" t="textAreaTop" r="textAreaRight" b="textAreaBottom"/>
            <a:pathLst>
              <a:path fill="none" w="10676" h="4406">
                <a:moveTo>
                  <a:pt x="0" y="0"/>
                </a:moveTo>
                <a:lnTo>
                  <a:pt x="0" y="4406"/>
                </a:lnTo>
                <a:lnTo>
                  <a:pt x="10676" y="4406"/>
                </a:lnTo>
              </a:path>
            </a:pathLst>
          </a:custGeom>
          <a:noFill/>
          <a:ln w="900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7240" y="9115200"/>
            <a:ext cx="539640" cy="360"/>
          </a:xfrm>
          <a:prstGeom prst="line">
            <a:avLst/>
          </a:prstGeom>
          <a:ln w="900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429840" y="902520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87240" y="8543520"/>
            <a:ext cx="539640" cy="360"/>
          </a:xfrm>
          <a:prstGeom prst="line">
            <a:avLst/>
          </a:prstGeom>
          <a:ln w="900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429840" y="845820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0.25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87240" y="7972200"/>
            <a:ext cx="539640" cy="360"/>
          </a:xfrm>
          <a:prstGeom prst="line">
            <a:avLst/>
          </a:prstGeom>
          <a:ln w="900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429840" y="789120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87240" y="7529040"/>
            <a:ext cx="539640" cy="360"/>
          </a:xfrm>
          <a:prstGeom prst="line">
            <a:avLst/>
          </a:prstGeom>
          <a:ln w="9000">
            <a:solidFill>
              <a:srgbClr val="6577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429840" y="743400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957240" y="8543880"/>
            <a:ext cx="3843360" cy="360"/>
          </a:xfrm>
          <a:prstGeom prst="line">
            <a:avLst/>
          </a:prstGeom>
          <a:ln w="9000">
            <a:solidFill>
              <a:srgbClr val="c6c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1005840" y="7287840"/>
            <a:ext cx="3849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Final-64 body field score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99960" y="7900920"/>
            <a:ext cx="2871360" cy="885600"/>
          </a:xfrm>
          <a:custGeom>
            <a:avLst/>
            <a:gdLst>
              <a:gd name="textAreaLeft" fmla="*/ 0 w 2871360"/>
              <a:gd name="textAreaRight" fmla="*/ 2871720 w 2871360"/>
              <a:gd name="textAreaTop" fmla="*/ 0 h 885600"/>
              <a:gd name="textAreaBottom" fmla="*/ 885960 h 885600"/>
            </a:gdLst>
            <a:ahLst/>
            <a:rect l="textAreaLeft" t="textAreaTop" r="textAreaRight" b="textAreaBottom"/>
            <a:pathLst>
              <a:path fill="none" w="7977" h="2461">
                <a:moveTo>
                  <a:pt x="0" y="0"/>
                </a:moveTo>
                <a:lnTo>
                  <a:pt x="4009" y="1945"/>
                </a:lnTo>
                <a:lnTo>
                  <a:pt x="7977" y="2461"/>
                </a:lnTo>
              </a:path>
            </a:pathLst>
          </a:custGeom>
          <a:noFill/>
          <a:ln w="18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271520" y="7872480"/>
            <a:ext cx="42480" cy="56880"/>
          </a:xfrm>
          <a:custGeom>
            <a:avLst/>
            <a:gdLst>
              <a:gd name="textAreaLeft" fmla="*/ 0 w 42480"/>
              <a:gd name="textAreaRight" fmla="*/ 42840 w 424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119" h="159">
                <a:moveTo>
                  <a:pt x="0" y="0"/>
                </a:moveTo>
                <a:lnTo>
                  <a:pt x="119" y="0"/>
                </a:lnTo>
                <a:lnTo>
                  <a:pt x="119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1440" bIns="-1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344240" y="7909560"/>
            <a:ext cx="95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0.5341 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2714400" y="8572320"/>
            <a:ext cx="42480" cy="56880"/>
          </a:xfrm>
          <a:custGeom>
            <a:avLst/>
            <a:gdLst>
              <a:gd name="textAreaLeft" fmla="*/ 0 w 42480"/>
              <a:gd name="textAreaRight" fmla="*/ 42840 w 424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119" h="159">
                <a:moveTo>
                  <a:pt x="0" y="0"/>
                </a:moveTo>
                <a:lnTo>
                  <a:pt x="119" y="0"/>
                </a:lnTo>
                <a:lnTo>
                  <a:pt x="119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1440" bIns="-1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779920" y="8613720"/>
            <a:ext cx="95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0.2244 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157640" y="8772480"/>
            <a:ext cx="42480" cy="42480"/>
          </a:xfrm>
          <a:custGeom>
            <a:avLst/>
            <a:gdLst>
              <a:gd name="textAreaLeft" fmla="*/ 0 w 42480"/>
              <a:gd name="textAreaRight" fmla="*/ 42840 w 42480"/>
              <a:gd name="textAreaTop" fmla="*/ 0 h 42480"/>
              <a:gd name="textAreaBottom" fmla="*/ 42840 h 42480"/>
            </a:gdLst>
            <a:ahLst/>
            <a:rect l="textAreaLeft" t="textAreaTop" r="textAreaRight" b="textAreaBottom"/>
            <a:pathLst>
              <a:path w="119" h="119">
                <a:moveTo>
                  <a:pt x="0" y="0"/>
                </a:moveTo>
                <a:lnTo>
                  <a:pt x="119" y="0"/>
                </a:lnTo>
                <a:lnTo>
                  <a:pt x="11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15840" bIns="-158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224600" y="8796600"/>
            <a:ext cx="95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0.1404 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299960" y="7729560"/>
            <a:ext cx="2871360" cy="942480"/>
          </a:xfrm>
          <a:custGeom>
            <a:avLst/>
            <a:gdLst>
              <a:gd name="textAreaLeft" fmla="*/ 0 w 2871360"/>
              <a:gd name="textAreaRight" fmla="*/ 2871720 w 2871360"/>
              <a:gd name="textAreaTop" fmla="*/ 0 h 942480"/>
              <a:gd name="textAreaBottom" fmla="*/ 942840 h 942480"/>
            </a:gdLst>
            <a:ahLst/>
            <a:rect l="textAreaLeft" t="textAreaTop" r="textAreaRight" b="textAreaBottom"/>
            <a:pathLst>
              <a:path fill="none" w="7977" h="2619">
                <a:moveTo>
                  <a:pt x="0" y="0"/>
                </a:moveTo>
                <a:lnTo>
                  <a:pt x="4009" y="1667"/>
                </a:lnTo>
                <a:lnTo>
                  <a:pt x="7977" y="2619"/>
                </a:lnTo>
              </a:path>
            </a:pathLst>
          </a:custGeom>
          <a:noFill/>
          <a:ln w="18360">
            <a:solidFill>
              <a:srgbClr val="c85d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271520" y="7701120"/>
            <a:ext cx="42480" cy="56520"/>
          </a:xfrm>
          <a:custGeom>
            <a:avLst/>
            <a:gdLst>
              <a:gd name="textAreaLeft" fmla="*/ 0 w 42480"/>
              <a:gd name="textAreaRight" fmla="*/ 42840 w 42480"/>
              <a:gd name="textAreaTop" fmla="*/ 0 h 56520"/>
              <a:gd name="textAreaBottom" fmla="*/ 56880 h 56520"/>
            </a:gdLst>
            <a:ahLst/>
            <a:rect l="textAreaLeft" t="textAreaTop" r="textAreaRight" b="textAreaBottom"/>
            <a:pathLst>
              <a:path w="119" h="158">
                <a:moveTo>
                  <a:pt x="0" y="0"/>
                </a:moveTo>
                <a:lnTo>
                  <a:pt x="119" y="0"/>
                </a:lnTo>
                <a:lnTo>
                  <a:pt x="119" y="158"/>
                </a:lnTo>
                <a:lnTo>
                  <a:pt x="0" y="158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c85d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1800" bIns="-1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344240" y="7552800"/>
            <a:ext cx="95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0.6096 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714400" y="8300880"/>
            <a:ext cx="42480" cy="56880"/>
          </a:xfrm>
          <a:custGeom>
            <a:avLst/>
            <a:gdLst>
              <a:gd name="textAreaLeft" fmla="*/ 0 w 42480"/>
              <a:gd name="textAreaRight" fmla="*/ 42840 w 424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119" h="159">
                <a:moveTo>
                  <a:pt x="0" y="0"/>
                </a:moveTo>
                <a:lnTo>
                  <a:pt x="119" y="0"/>
                </a:lnTo>
                <a:lnTo>
                  <a:pt x="119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c85d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1440" bIns="-1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779920" y="8147160"/>
            <a:ext cx="95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0.3453 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157640" y="8643960"/>
            <a:ext cx="42480" cy="42480"/>
          </a:xfrm>
          <a:custGeom>
            <a:avLst/>
            <a:gdLst>
              <a:gd name="textAreaLeft" fmla="*/ 0 w 42480"/>
              <a:gd name="textAreaRight" fmla="*/ 42840 w 42480"/>
              <a:gd name="textAreaTop" fmla="*/ 0 h 42480"/>
              <a:gd name="textAreaBottom" fmla="*/ 42840 h 42480"/>
            </a:gdLst>
            <a:ahLst/>
            <a:rect l="textAreaLeft" t="textAreaTop" r="textAreaRight" b="textAreaBottom"/>
            <a:pathLst>
              <a:path w="119" h="119">
                <a:moveTo>
                  <a:pt x="0" y="0"/>
                </a:moveTo>
                <a:lnTo>
                  <a:pt x="119" y="0"/>
                </a:lnTo>
                <a:lnTo>
                  <a:pt x="11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noFill/>
          <a:ln w="27360">
            <a:solidFill>
              <a:srgbClr val="c85d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15840" bIns="-158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224600" y="8485560"/>
            <a:ext cx="950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0.1954 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969120" y="9135000"/>
            <a:ext cx="1179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Keep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2404800" y="9135000"/>
            <a:ext cx="1179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Clear 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849480" y="9135000"/>
            <a:ext cx="1179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Rotate 90°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443560" y="7558200"/>
            <a:ext cx="357120" cy="360"/>
          </a:xfrm>
          <a:prstGeom prst="line">
            <a:avLst/>
          </a:prstGeom>
          <a:ln w="18360">
            <a:solidFill>
              <a:srgbClr val="187e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5861160" y="7470720"/>
            <a:ext cx="3483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parent → three branches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443560" y="7800840"/>
            <a:ext cx="357120" cy="360"/>
          </a:xfrm>
          <a:prstGeom prst="line">
            <a:avLst/>
          </a:prstGeom>
          <a:ln w="18360">
            <a:solidFill>
              <a:srgbClr val="c85d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5861160" y="7699320"/>
            <a:ext cx="3483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parent → three branches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431680" y="8001000"/>
            <a:ext cx="3995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Pass: keep 2/2; clear 1/2; rotate 0/2.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431680" y="8302680"/>
            <a:ext cx="3995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Clear still explores and transports.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 favorable body position can persist.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431680" y="8686800"/>
            <a:ext cx="3995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Lines connect matched branches,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not successive time points.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431680" y="9052560"/>
            <a:ext cx="3995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Grey line: score threshold only.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29840" y="948240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D  Changed actuation: a cheaper fixed feedback control also succeeds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66200" y="972000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Actual-320 parents; same reward meaning. Fixed run/tumble receives the same initial heading.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39640" y="9948600"/>
            <a:ext cx="20480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Branch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697480" y="9948600"/>
            <a:ext cx="20480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321–640 Map changed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965120" y="9948600"/>
            <a:ext cx="20480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641–768 No feedback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342560" y="994860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Movement cost / EU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39640" y="102412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Continue updates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97480" y="10241280"/>
            <a:ext cx="2121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+0.8899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+0.8685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965120" y="10241280"/>
            <a:ext cx="2121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+0.8562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+0.7657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342560" y="1024128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1.4221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1.3829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00040" y="10629720"/>
            <a:ext cx="9001080" cy="360"/>
          </a:xfrm>
          <a:prstGeom prst="line">
            <a:avLst/>
          </a:prstGeom>
          <a:ln w="9000">
            <a:solidFill>
              <a:srgbClr val="d8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539640" y="1065276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Frozen estimate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697480" y="10652760"/>
            <a:ext cx="2121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-0.2329  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-0.2939  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965120" y="10652760"/>
            <a:ext cx="2121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-0.2532  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-0.2866  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342560" y="1065276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1.4873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1.4872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00040" y="11044080"/>
            <a:ext cx="9001080" cy="360"/>
          </a:xfrm>
          <a:prstGeom prst="line">
            <a:avLst/>
          </a:prstGeom>
          <a:ln w="9000">
            <a:solidFill>
              <a:srgbClr val="d8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539640" y="1107324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Fixed run/tumble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697480" y="11073240"/>
            <a:ext cx="2121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+0.7126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+0.7076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965120" y="11073240"/>
            <a:ext cx="2121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+0.7199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+0.7208  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342560" y="11073240"/>
            <a:ext cx="2084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C0  1.2037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C1  1.2101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00040" y="11472840"/>
            <a:ext cx="9001080" cy="360"/>
          </a:xfrm>
          <a:prstGeom prst="line">
            <a:avLst/>
          </a:prstGeom>
          <a:ln w="9000">
            <a:solidFill>
              <a:srgbClr val="d8e2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466200" y="1153044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Frozen writers still receive physical outcomes. Movement totals cover steps 321–768.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66200" y="1173168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 tissue birth; dense feedback. 10 life0 + 10 dependent branches, not 20 independent repeats.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466200" y="11923920"/>
            <a:ext cx="92808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Actual outcomes / basal / movement recorded; computation, communication and sensing hardware unpriced.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2026-10-19T21:18:04Z</cp:lastPrinted>
  <dcterms:modified xsi:type="dcterms:W3CDTF">2026-10-19T21:23:27Z</dcterms:modified>
  <cp:revision>274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