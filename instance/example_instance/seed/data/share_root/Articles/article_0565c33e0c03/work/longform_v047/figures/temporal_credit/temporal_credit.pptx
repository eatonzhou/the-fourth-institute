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Prior: all 6</c:v>
                </c:pt>
              </c:strCache>
            </c:strRef>
          </c:tx>
          <c:spPr>
            <a:solidFill>
              <a:srgbClr val="004586"/>
            </a:solidFill>
            <a:ln w="0">
              <a:noFill/>
            </a:ln>
          </c:spPr>
          <c:invertIfNegative val="0"/>
          <c:dLbls>
            <c:numFmt formatCode="General" sourceLinked="0"/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Last</c:v>
                </c:pt>
                <c:pt idx="1">
                  <c:v>Trace16</c:v>
                </c:pt>
                <c:pt idx="2">
                  <c:v>Lag1</c:v>
                </c:pt>
                <c:pt idx="3">
                  <c:v>Joint</c:v>
                </c:pt>
                <c:pt idx="4">
                  <c:v>Gated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Shift: all 3</c:v>
                </c:pt>
              </c:strCache>
            </c:strRef>
          </c:tx>
          <c:spPr>
            <a:solidFill>
              <a:srgbClr val="ff420e"/>
            </a:solidFill>
            <a:ln w="0">
              <a:noFill/>
            </a:ln>
          </c:spPr>
          <c:invertIfNegative val="0"/>
          <c:dLbls>
            <c:numFmt formatCode="General" sourceLinked="0"/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Last</c:v>
                </c:pt>
                <c:pt idx="1">
                  <c:v>Trace16</c:v>
                </c:pt>
                <c:pt idx="2">
                  <c:v>Lag1</c:v>
                </c:pt>
                <c:pt idx="3">
                  <c:v>Joint</c:v>
                </c:pt>
                <c:pt idx="4">
                  <c:v>Gated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5"/>
                <c:pt idx="0">
                  <c:v>3</c:v>
                </c:pt>
                <c:pt idx="1">
                  <c:v>2</c:v>
                </c:pt>
                <c:pt idx="2">
                  <c:v>0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Prior disconnect</c:v>
                </c:pt>
              </c:strCache>
            </c:strRef>
          </c:tx>
          <c:spPr>
            <a:solidFill>
              <a:srgbClr val="ffd320"/>
            </a:solidFill>
            <a:ln w="0">
              <a:noFill/>
            </a:ln>
          </c:spPr>
          <c:invertIfNegative val="0"/>
          <c:dLbls>
            <c:numFmt formatCode="General" sourceLinked="0"/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Last</c:v>
                </c:pt>
                <c:pt idx="1">
                  <c:v>Trace16</c:v>
                </c:pt>
                <c:pt idx="2">
                  <c:v>Lag1</c:v>
                </c:pt>
                <c:pt idx="3">
                  <c:v>Joint</c:v>
                </c:pt>
                <c:pt idx="4">
                  <c:v>Gated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gapWidth val="100"/>
        <c:overlap val="0"/>
        <c:axId val="20758142"/>
        <c:axId val="58902211"/>
      </c:barChart>
      <c:catAx>
        <c:axId val="20758142"/>
        <c:scaling>
          <c:orientation val="minMax"/>
        </c:scaling>
        <c:delete val="0"/>
        <c:axPos val="b"/>
        <c:numFmt formatCode="[$-804]yyyy/m/d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Arial"/>
                <a:ea typeface="DejaVu Sans"/>
              </a:defRPr>
            </a:pPr>
          </a:p>
        </c:txPr>
        <c:crossAx val="58902211"/>
        <c:crosses val="autoZero"/>
        <c:auto val="1"/>
        <c:lblAlgn val="ctr"/>
        <c:lblOffset val="100"/>
        <c:noMultiLvlLbl val="0"/>
      </c:catAx>
      <c:valAx>
        <c:axId val="58902211"/>
        <c:scaling>
          <c:orientation val="minMax"/>
          <c:max val="5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Arial"/>
                <a:ea typeface="DejaVu Sans"/>
              </a:defRPr>
            </a:pPr>
          </a:p>
        </c:txPr>
        <c:crossAx val="20758142"/>
        <c:crossesAt val="1"/>
        <c:crossBetween val="between"/>
        <c:majorUnit val="1"/>
      </c:valAx>
      <c:spPr>
        <a:noFill/>
        <a:ln w="0">
          <a:solidFill>
            <a:srgbClr val="b3b3b3"/>
          </a:solidFill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Arial"/>
              <a:ea typeface="DejaVu Sans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7403 / 0</c:v>
                </c:pt>
              </c:strCache>
            </c:strRef>
          </c:tx>
          <c:spPr>
            <a:solidFill>
              <a:srgbClr val="004586"/>
            </a:solidFill>
            <a:ln w="28800">
              <a:solidFill>
                <a:srgbClr val="004586"/>
              </a:solidFill>
              <a:round/>
            </a:ln>
          </c:spPr>
          <c:marker>
            <c:symbol val="square"/>
            <c:size val="8"/>
            <c:spPr>
              <a:solidFill>
                <a:srgbClr val="004586"/>
              </a:solidFill>
            </c:spPr>
          </c:marker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1216</c:v>
                </c:pt>
                <c:pt idx="1">
                  <c:v>1792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0.999452296162346</c:v>
                </c:pt>
                <c:pt idx="1">
                  <c:v>0.0172068609144625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7403 / 1</c:v>
                </c:pt>
              </c:strCache>
            </c:strRef>
          </c:tx>
          <c:spPr>
            <a:solidFill>
              <a:srgbClr val="ff420e"/>
            </a:solidFill>
            <a:ln w="28800">
              <a:solidFill>
                <a:srgbClr val="ff420e"/>
              </a:solidFill>
              <a:round/>
            </a:ln>
          </c:spPr>
          <c:marker>
            <c:symbol val="diamond"/>
            <c:size val="8"/>
            <c:spPr>
              <a:solidFill>
                <a:srgbClr val="ff420e"/>
              </a:solidFill>
            </c:spPr>
          </c:marker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1216</c:v>
                </c:pt>
                <c:pt idx="1">
                  <c:v>1792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2"/>
                <c:pt idx="0">
                  <c:v>0.999523619628628</c:v>
                </c:pt>
                <c:pt idx="1">
                  <c:v>0.0400684516145957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7404 / 0</c:v>
                </c:pt>
              </c:strCache>
            </c:strRef>
          </c:tx>
          <c:spPr>
            <a:solidFill>
              <a:srgbClr val="ffd320"/>
            </a:solidFill>
            <a:ln w="28800">
              <a:solidFill>
                <a:srgbClr val="ffd320"/>
              </a:solidFill>
              <a:round/>
            </a:ln>
          </c:spPr>
          <c:marker>
            <c:symbol val="triangle"/>
            <c:size val="8"/>
            <c:spPr>
              <a:solidFill>
                <a:srgbClr val="ffd320"/>
              </a:solidFill>
            </c:spPr>
          </c:marker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1216</c:v>
                </c:pt>
                <c:pt idx="1">
                  <c:v>1792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2"/>
                <c:pt idx="0">
                  <c:v>0.999509612595355</c:v>
                </c:pt>
                <c:pt idx="1">
                  <c:v>0.00995788928562379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label 3</c:f>
              <c:strCache>
                <c:ptCount val="1"/>
                <c:pt idx="0">
                  <c:v>7404 / 1</c:v>
                </c:pt>
              </c:strCache>
            </c:strRef>
          </c:tx>
          <c:spPr>
            <a:solidFill>
              <a:srgbClr val="579d1c"/>
            </a:solidFill>
            <a:ln w="28800">
              <a:solidFill>
                <a:srgbClr val="579d1c"/>
              </a:solidFill>
              <a:round/>
            </a:ln>
          </c:spPr>
          <c:marker>
            <c:symbol val="triangle"/>
            <c:size val="8"/>
            <c:spPr>
              <a:solidFill>
                <a:srgbClr val="579d1c"/>
              </a:solidFill>
            </c:spPr>
          </c:marker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1216</c:v>
                </c:pt>
                <c:pt idx="1">
                  <c:v>1792</c:v>
                </c:pt>
              </c:strCache>
            </c:strRef>
          </c:cat>
          <c:val>
            <c:numRef>
              <c:f>3</c:f>
              <c:numCache>
                <c:formatCode>General</c:formatCode>
                <c:ptCount val="2"/>
                <c:pt idx="0">
                  <c:v>0.999250674073646</c:v>
                </c:pt>
                <c:pt idx="1">
                  <c:v>0.0390269459515398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25624541"/>
        <c:axId val="17140363"/>
      </c:lineChart>
      <c:catAx>
        <c:axId val="25624541"/>
        <c:scaling>
          <c:orientation val="minMax"/>
        </c:scaling>
        <c:delete val="0"/>
        <c:axPos val="b"/>
        <c:numFmt formatCode="[$-804]yyyy/m/d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Arial"/>
                <a:ea typeface="DejaVu Sans"/>
              </a:defRPr>
            </a:pPr>
          </a:p>
        </c:txPr>
        <c:crossAx val="17140363"/>
        <c:crosses val="autoZero"/>
        <c:auto val="1"/>
        <c:lblAlgn val="ctr"/>
        <c:lblOffset val="100"/>
        <c:noMultiLvlLbl val="0"/>
      </c:catAx>
      <c:valAx>
        <c:axId val="17140363"/>
        <c:scaling>
          <c:orientation val="minMax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Arial"/>
                <a:ea typeface="DejaVu Sans"/>
              </a:defRPr>
            </a:pPr>
          </a:p>
        </c:txPr>
        <c:crossAx val="25624541"/>
        <c:crosses val="autoZero"/>
        <c:crossBetween val="midCat"/>
      </c:valAx>
      <c:spPr>
        <a:noFill/>
        <a:ln w="0">
          <a:solidFill>
            <a:srgbClr val="b3b3b3"/>
          </a:solidFill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Arial"/>
              <a:ea typeface="DejaVu Sans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E96242F-2CAD-4D66-A758-BF92693BE0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460024B-211F-4961-A786-768C08CD84B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"/>
          <p:cNvGraphicFramePr/>
          <p:nvPr/>
        </p:nvGraphicFramePr>
        <p:xfrm>
          <a:off x="360000" y="2592000"/>
          <a:ext cx="5579640" cy="241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" name=""/>
          <p:cNvGraphicFramePr/>
          <p:nvPr/>
        </p:nvGraphicFramePr>
        <p:xfrm>
          <a:off x="6156000" y="2592000"/>
          <a:ext cx="3527640" cy="241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"/>
          <p:cNvSpPr/>
          <p:nvPr/>
        </p:nvSpPr>
        <p:spPr>
          <a:xfrm>
            <a:off x="360000" y="180000"/>
            <a:ext cx="935964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</a:rPr>
              <a:t>Reassigning credit when the predictive time source changes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360000" y="540000"/>
            <a:ext cx="93596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Cue meaning reverses first; feedback source changes later, in the same surviving bodies.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360000" y="900000"/>
            <a:ext cx="935964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A  Same event history, two distinct changes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360000" y="119016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Early cue: 8 steps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1980000" y="1190160"/>
            <a:ext cx="7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Gap: 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2700000" y="1190160"/>
            <a:ext cx="16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Recent cue: 8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4320000" y="1190160"/>
            <a:ext cx="7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Gap: 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5220000" y="1190160"/>
            <a:ext cx="341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4 outcome pulses (steps 25 / 29 / 33 / 37)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360000" y="1451160"/>
            <a:ext cx="1619640" cy="1684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" name=""/>
          <p:cNvSpPr/>
          <p:nvPr/>
        </p:nvSpPr>
        <p:spPr>
          <a:xfrm>
            <a:off x="2700000" y="1451160"/>
            <a:ext cx="1619640" cy="1684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" name=""/>
          <p:cNvSpPr/>
          <p:nvPr/>
        </p:nvSpPr>
        <p:spPr>
          <a:xfrm>
            <a:off x="5040000" y="1440000"/>
            <a:ext cx="179640" cy="17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" name=""/>
          <p:cNvSpPr/>
          <p:nvPr/>
        </p:nvSpPr>
        <p:spPr>
          <a:xfrm>
            <a:off x="5940000" y="1451160"/>
            <a:ext cx="360" cy="1684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" name=""/>
          <p:cNvSpPr/>
          <p:nvPr/>
        </p:nvSpPr>
        <p:spPr>
          <a:xfrm>
            <a:off x="6660000" y="1451160"/>
            <a:ext cx="360" cy="1684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" name=""/>
          <p:cNvSpPr/>
          <p:nvPr/>
        </p:nvSpPr>
        <p:spPr>
          <a:xfrm>
            <a:off x="7380000" y="1451160"/>
            <a:ext cx="179640" cy="1684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" name=""/>
          <p:cNvSpPr/>
          <p:nvPr/>
        </p:nvSpPr>
        <p:spPr>
          <a:xfrm>
            <a:off x="1980000" y="1620000"/>
            <a:ext cx="7200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" name=""/>
          <p:cNvSpPr/>
          <p:nvPr/>
        </p:nvSpPr>
        <p:spPr>
          <a:xfrm>
            <a:off x="4320000" y="1620000"/>
            <a:ext cx="7200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" name=""/>
          <p:cNvSpPr/>
          <p:nvPr/>
        </p:nvSpPr>
        <p:spPr>
          <a:xfrm>
            <a:off x="5220000" y="1620000"/>
            <a:ext cx="28800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" name=""/>
          <p:cNvSpPr/>
          <p:nvPr/>
        </p:nvSpPr>
        <p:spPr>
          <a:xfrm>
            <a:off x="360000" y="1800000"/>
            <a:ext cx="935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Meaning flip at 640: cue meanings swap; the EARLY event still predicts the outcome.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360000" y="1980000"/>
            <a:ext cx="93596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Source shift at 1216: EARLY → RECENT; cue meaning fixed; 17 surviving parents continue.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360000" y="2340000"/>
            <a:ext cx="557964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B  All-probe pass counts, from 4 original conditions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6120000" y="2340000"/>
            <a:ext cx="377964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C  Old-source gate weight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360000" y="5040000"/>
            <a:ext cx="557964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Shift: Last 3/3; Trace16 2/2 among survivors. Prior failures stay excluded.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Joint and Gated: 4/4 in both stages; no advantage of gating established.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6156000" y="5004000"/>
            <a:ext cx="374364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0.99925–0.99952 → 0.00996–0.04007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Lines join endpoints, not a sampled time curve.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360000" y="5400000"/>
            <a:ext cx="953964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First new-source probe follows 16 feedback pulses. Probe endpoint = favourable-cue contact-mass share, not phase accuracy.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5940000" y="1450800"/>
            <a:ext cx="180000" cy="169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6660000" y="1450800"/>
            <a:ext cx="180000" cy="169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2026-10-19T10:19:20Z</dcterms:created>
  <dc:creator/>
  <dc:description/>
  <dc:language>zh-CN</dc:language>
  <cp:lastModifiedBy/>
  <cp:lastPrinted>2026-10-19T10:37:16Z</cp:lastPrinted>
  <dcterms:modified xsi:type="dcterms:W3CDTF">2026-10-19T10:38:48Z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