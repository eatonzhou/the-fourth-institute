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7600" cy="154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38D27E-D6A4-469E-BB5E-C24F8CC282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7600" cy="154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0960" cy="63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4240" cy="63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1F1014-7067-4236-AD19-3B5E4262453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4240" cy="63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46960" y="155520"/>
            <a:ext cx="937224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</a:rPr>
              <a:t>Experience places births, but does not beat current inventory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46960" y="56700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Equal actual birth mass separates where new material is placed from how much is born.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246960" y="95112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A  Local history sets a gate; the host matches the birth quantity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57120" y="1528920"/>
            <a:ext cx="499680" cy="456840"/>
          </a:xfrm>
          <a:custGeom>
            <a:avLst/>
            <a:gdLst>
              <a:gd name="textAreaLeft" fmla="*/ 0 w 499680"/>
              <a:gd name="textAreaRight" fmla="*/ 500040 w 49968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1389" h="1270">
                <a:moveTo>
                  <a:pt x="0" y="0"/>
                </a:moveTo>
                <a:lnTo>
                  <a:pt x="1389" y="0"/>
                </a:lnTo>
                <a:lnTo>
                  <a:pt x="1389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087f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942840" y="1528920"/>
            <a:ext cx="499680" cy="456840"/>
          </a:xfrm>
          <a:custGeom>
            <a:avLst/>
            <a:gdLst>
              <a:gd name="textAreaLeft" fmla="*/ 0 w 499680"/>
              <a:gd name="textAreaRight" fmla="*/ 500040 w 49968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1389" h="1270">
                <a:moveTo>
                  <a:pt x="0" y="0"/>
                </a:moveTo>
                <a:lnTo>
                  <a:pt x="1389" y="0"/>
                </a:lnTo>
                <a:lnTo>
                  <a:pt x="1389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087f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1514520" y="1528920"/>
            <a:ext cx="499680" cy="456840"/>
          </a:xfrm>
          <a:custGeom>
            <a:avLst/>
            <a:gdLst>
              <a:gd name="textAreaLeft" fmla="*/ 0 w 499680"/>
              <a:gd name="textAreaRight" fmla="*/ 500040 w 49968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1389" h="1270">
                <a:moveTo>
                  <a:pt x="0" y="0"/>
                </a:moveTo>
                <a:lnTo>
                  <a:pt x="1389" y="0"/>
                </a:lnTo>
                <a:lnTo>
                  <a:pt x="1389" y="1270"/>
                </a:lnTo>
                <a:lnTo>
                  <a:pt x="0" y="1270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087f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20040" y="1216080"/>
            <a:ext cx="20113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Paid local intake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56760" y="158184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n/d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32760" y="158184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n/d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508760" y="158184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n/d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20040" y="2066400"/>
            <a:ext cx="19746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Old carrier; α = 0.4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Newborn: no past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128680" y="1757520"/>
            <a:ext cx="614520" cy="360"/>
          </a:xfrm>
          <a:prstGeom prst="line">
            <a:avLst/>
          </a:prstGeom>
          <a:ln w="18360">
            <a:solidFill>
              <a:srgbClr val="087f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2614320" y="1700280"/>
            <a:ext cx="128520" cy="128160"/>
          </a:xfrm>
          <a:custGeom>
            <a:avLst/>
            <a:gdLst>
              <a:gd name="textAreaLeft" fmla="*/ 0 w 128520"/>
              <a:gd name="textAreaRight" fmla="*/ 128880 w 128520"/>
              <a:gd name="textAreaTop" fmla="*/ 0 h 128160"/>
              <a:gd name="textAreaBottom" fmla="*/ 128520 h 128160"/>
            </a:gdLst>
            <a:ahLst/>
            <a:rect l="textAreaLeft" t="textAreaTop" r="textAreaRight" b="textAreaBottom"/>
            <a:pathLst>
              <a:path fill="none" w="358" h="357">
                <a:moveTo>
                  <a:pt x="0" y="357"/>
                </a:moveTo>
                <a:lnTo>
                  <a:pt x="358" y="15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087f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2814480" y="1471680"/>
            <a:ext cx="1642680" cy="585360"/>
          </a:xfrm>
          <a:custGeom>
            <a:avLst/>
            <a:gdLst>
              <a:gd name="textAreaLeft" fmla="*/ 0 w 1642680"/>
              <a:gd name="textAreaRight" fmla="*/ 1643040 w 1642680"/>
              <a:gd name="textAreaTop" fmla="*/ 0 h 585360"/>
              <a:gd name="textAreaBottom" fmla="*/ 585720 h 585360"/>
            </a:gdLst>
            <a:ahLst/>
            <a:rect l="textAreaLeft" t="textAreaTop" r="textAreaRight" b="textAreaBottom"/>
            <a:pathLst>
              <a:path w="4564" h="1627">
                <a:moveTo>
                  <a:pt x="0" y="0"/>
                </a:moveTo>
                <a:lnTo>
                  <a:pt x="4564" y="0"/>
                </a:lnTo>
                <a:lnTo>
                  <a:pt x="4564" y="1627"/>
                </a:lnTo>
                <a:lnTo>
                  <a:pt x="0" y="1627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087f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2871360" y="1572840"/>
            <a:ext cx="1508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Local gate gᵢ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2807280" y="2103120"/>
            <a:ext cx="19746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EMA history 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instant inventory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572000" y="1757520"/>
            <a:ext cx="542880" cy="360"/>
          </a:xfrm>
          <a:prstGeom prst="line">
            <a:avLst/>
          </a:prstGeom>
          <a:ln w="18360">
            <a:solidFill>
              <a:srgbClr val="087f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5000400" y="1700280"/>
            <a:ext cx="114120" cy="128160"/>
          </a:xfrm>
          <a:custGeom>
            <a:avLst/>
            <a:gdLst>
              <a:gd name="textAreaLeft" fmla="*/ 0 w 114120"/>
              <a:gd name="textAreaRight" fmla="*/ 114480 w 114120"/>
              <a:gd name="textAreaTop" fmla="*/ 0 h 128160"/>
              <a:gd name="textAreaBottom" fmla="*/ 128520 h 128160"/>
            </a:gdLst>
            <a:ahLst/>
            <a:rect l="textAreaLeft" t="textAreaTop" r="textAreaRight" b="textAreaBottom"/>
            <a:pathLst>
              <a:path fill="none" w="318" h="357">
                <a:moveTo>
                  <a:pt x="0" y="357"/>
                </a:moveTo>
                <a:lnTo>
                  <a:pt x="318" y="15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087f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186160" y="1471680"/>
            <a:ext cx="1800000" cy="585360"/>
          </a:xfrm>
          <a:custGeom>
            <a:avLst/>
            <a:gdLst>
              <a:gd name="textAreaLeft" fmla="*/ 0 w 1800000"/>
              <a:gd name="textAreaRight" fmla="*/ 1800360 w 1800000"/>
              <a:gd name="textAreaTop" fmla="*/ 0 h 585360"/>
              <a:gd name="textAreaBottom" fmla="*/ 585720 h 585360"/>
            </a:gdLst>
            <a:ahLst/>
            <a:rect l="textAreaLeft" t="textAreaTop" r="textAreaRight" b="textAreaBottom"/>
            <a:pathLst>
              <a:path w="5001" h="1627">
                <a:moveTo>
                  <a:pt x="0" y="0"/>
                </a:moveTo>
                <a:lnTo>
                  <a:pt x="5001" y="0"/>
                </a:lnTo>
                <a:lnTo>
                  <a:pt x="5001" y="1627"/>
                </a:lnTo>
                <a:lnTo>
                  <a:pt x="0" y="1627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5248800" y="1545480"/>
            <a:ext cx="1691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Weights qᵢ × gᵢ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175360" y="2103120"/>
            <a:ext cx="1865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qᵢ: actual precursor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Uniform: weights qᵢ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086600" y="1757520"/>
            <a:ext cx="514080" cy="360"/>
          </a:xfrm>
          <a:prstGeom prst="line">
            <a:avLst/>
          </a:prstGeom>
          <a:ln w="1836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7486560" y="1700280"/>
            <a:ext cx="113760" cy="128160"/>
          </a:xfrm>
          <a:custGeom>
            <a:avLst/>
            <a:gdLst>
              <a:gd name="textAreaLeft" fmla="*/ 0 w 113760"/>
              <a:gd name="textAreaRight" fmla="*/ 114120 w 113760"/>
              <a:gd name="textAreaTop" fmla="*/ 0 h 128160"/>
              <a:gd name="textAreaBottom" fmla="*/ 128520 h 128160"/>
            </a:gdLst>
            <a:ahLst/>
            <a:rect l="textAreaLeft" t="textAreaTop" r="textAreaRight" b="textAreaBottom"/>
            <a:pathLst>
              <a:path fill="none" w="317" h="357">
                <a:moveTo>
                  <a:pt x="0" y="357"/>
                </a:moveTo>
                <a:lnTo>
                  <a:pt x="317" y="15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672320" y="1471680"/>
            <a:ext cx="1971360" cy="585360"/>
          </a:xfrm>
          <a:custGeom>
            <a:avLst/>
            <a:gdLst>
              <a:gd name="textAreaLeft" fmla="*/ 0 w 1971360"/>
              <a:gd name="textAreaRight" fmla="*/ 1971720 w 1971360"/>
              <a:gd name="textAreaTop" fmla="*/ 0 h 585360"/>
              <a:gd name="textAreaBottom" fmla="*/ 585720 h 585360"/>
            </a:gdLst>
            <a:ahLst/>
            <a:rect l="textAreaLeft" t="textAreaTop" r="textAreaRight" b="textAreaBottom"/>
            <a:pathLst>
              <a:path w="5477" h="1627">
                <a:moveTo>
                  <a:pt x="0" y="0"/>
                </a:moveTo>
                <a:lnTo>
                  <a:pt x="5477" y="0"/>
                </a:lnTo>
                <a:lnTo>
                  <a:pt x="5477" y="1627"/>
                </a:lnTo>
                <a:lnTo>
                  <a:pt x="0" y="1627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735680" y="154548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Equal Σbornᵢ = B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662600" y="2103120"/>
            <a:ext cx="19746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Normalize each layout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Same B within a pair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83320" y="264276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Hand-set updater  •  shared E  •  external movement  •  imposed M20  •  following 128 steps: all-open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57040" y="3000240"/>
            <a:ext cx="957276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246960" y="312732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B  A small spatial difference at equal birth mass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46960" y="348372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Predeclared compact / seed …4001 / same / cycle 24. Both layouts: B = 0.004 (0.02% of M20).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246960" y="4316040"/>
            <a:ext cx="1691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Common parent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791: density 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283320" y="4818960"/>
            <a:ext cx="1545120" cy="1545120"/>
          </a:xfrm>
          <a:prstGeom prst="rect">
            <a:avLst/>
          </a:prstGeom>
          <a:ln w="0">
            <a:noFill/>
          </a:ln>
        </p:spPr>
      </p:pic>
      <p:sp>
        <p:nvSpPr>
          <p:cNvPr id="39" name=""/>
          <p:cNvSpPr/>
          <p:nvPr/>
        </p:nvSpPr>
        <p:spPr>
          <a:xfrm>
            <a:off x="246960" y="6473880"/>
            <a:ext cx="1691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Original coordinates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x 0–18; y 7–25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32 × 32 periodic grid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914480" y="5586480"/>
            <a:ext cx="385560" cy="360"/>
          </a:xfrm>
          <a:prstGeom prst="line">
            <a:avLst/>
          </a:prstGeom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2185920" y="5529240"/>
            <a:ext cx="113760" cy="114120"/>
          </a:xfrm>
          <a:custGeom>
            <a:avLst/>
            <a:gdLst>
              <a:gd name="textAreaLeft" fmla="*/ 0 w 113760"/>
              <a:gd name="textAreaRight" fmla="*/ 114120 w 11376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fill="none" w="317" h="318">
                <a:moveTo>
                  <a:pt x="0" y="318"/>
                </a:moveTo>
                <a:lnTo>
                  <a:pt x="317" y="15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624400" y="3776400"/>
            <a:ext cx="19746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792: density 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855320" y="3776400"/>
            <a:ext cx="19746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792: actual born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086600" y="3776400"/>
            <a:ext cx="19746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920: surviving tag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901880" y="4709160"/>
            <a:ext cx="7495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EMA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2624400" y="4133160"/>
            <a:ext cx="1545120" cy="1545120"/>
          </a:xfrm>
          <a:prstGeom prst="rect">
            <a:avLst/>
          </a:prstGeom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3"/>
          <a:stretch/>
        </p:blipFill>
        <p:spPr>
          <a:xfrm>
            <a:off x="4855320" y="4133160"/>
            <a:ext cx="1545120" cy="1545120"/>
          </a:xfrm>
          <a:prstGeom prst="rect">
            <a:avLst/>
          </a:prstGeom>
          <a:ln w="0">
            <a:noFill/>
          </a:ln>
        </p:spPr>
      </p:pic>
      <p:pic>
        <p:nvPicPr>
          <p:cNvPr id="48" name="" descr=""/>
          <p:cNvPicPr/>
          <p:nvPr/>
        </p:nvPicPr>
        <p:blipFill>
          <a:blip r:embed="rId4"/>
          <a:stretch/>
        </p:blipFill>
        <p:spPr>
          <a:xfrm>
            <a:off x="7086600" y="4133160"/>
            <a:ext cx="1545120" cy="154512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/>
          <p:nvPr/>
        </p:nvSpPr>
        <p:spPr>
          <a:xfrm>
            <a:off x="1901880" y="6400800"/>
            <a:ext cx="7495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Instant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5"/>
          <a:stretch/>
        </p:blipFill>
        <p:spPr>
          <a:xfrm>
            <a:off x="2624400" y="5824800"/>
            <a:ext cx="1545120" cy="1545120"/>
          </a:xfrm>
          <a:prstGeom prst="rect">
            <a:avLst/>
          </a:prstGeom>
          <a:ln w="0">
            <a:noFill/>
          </a:ln>
        </p:spPr>
      </p:pic>
      <p:pic>
        <p:nvPicPr>
          <p:cNvPr id="51" name="" descr=""/>
          <p:cNvPicPr/>
          <p:nvPr/>
        </p:nvPicPr>
        <p:blipFill>
          <a:blip r:embed="rId6"/>
          <a:stretch/>
        </p:blipFill>
        <p:spPr>
          <a:xfrm>
            <a:off x="2624400" y="7479720"/>
            <a:ext cx="1545120" cy="63720"/>
          </a:xfrm>
          <a:prstGeom prst="rect">
            <a:avLst/>
          </a:prstGeom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2587680" y="7571160"/>
            <a:ext cx="392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005000" y="7571160"/>
            <a:ext cx="393120" cy="7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818960" y="7571160"/>
            <a:ext cx="392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650920" y="7571160"/>
            <a:ext cx="1215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1.6 × 10⁻⁴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7"/>
          <a:stretch/>
        </p:blipFill>
        <p:spPr>
          <a:xfrm>
            <a:off x="7086600" y="7479720"/>
            <a:ext cx="1545120" cy="63720"/>
          </a:xfrm>
          <a:prstGeom prst="rect">
            <a:avLst/>
          </a:prstGeom>
          <a:ln w="0">
            <a:noFill/>
          </a:ln>
        </p:spPr>
      </p:pic>
      <p:sp>
        <p:nvSpPr>
          <p:cNvPr id="57" name=""/>
          <p:cNvSpPr/>
          <p:nvPr/>
        </p:nvSpPr>
        <p:spPr>
          <a:xfrm>
            <a:off x="7049880" y="7571160"/>
            <a:ext cx="3927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882200" y="7571160"/>
            <a:ext cx="1215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1.6 × 10⁻⁴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46960" y="791856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Separate density / born / tag scales. Tag describes later contact; pulse uptake occurs before birth.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257040" y="8244000"/>
            <a:ext cx="9572760" cy="360"/>
          </a:xfrm>
          <a:prstGeom prst="line">
            <a:avLst/>
          </a:prstGeom>
          <a:ln w="9000">
            <a:solidFill>
              <a:srgbClr val="bcc6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>
            <a:off x="246960" y="834840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C  Equal-birth placement does not beat instant inventory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46960" y="8668440"/>
            <a:ext cx="4672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All 32 paired Δuptake (EMA − comparator), EU × 10⁻⁴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514840" y="8800920"/>
            <a:ext cx="1429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5687640" y="8668440"/>
            <a:ext cx="1508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seed …4001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243560" y="8800920"/>
            <a:ext cx="1429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7415640" y="8668440"/>
            <a:ext cx="1508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seed …4002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843600" y="8986680"/>
            <a:ext cx="360" cy="2186280"/>
          </a:xfrm>
          <a:prstGeom prst="line">
            <a:avLst/>
          </a:prstGeom>
          <a:ln w="9000">
            <a:solidFill>
              <a:srgbClr val="bbc4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8275320" y="8924400"/>
            <a:ext cx="1508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Mean / negative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283320" y="9052560"/>
            <a:ext cx="2331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Uniform / same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39640" y="904356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7543800" y="909828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7077600" y="915300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>
            <a:off x="6803280" y="920808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>
            <a:off x="6812280" y="925380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>
            <a:off x="7196400" y="930852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" name=""/>
          <p:cNvSpPr/>
          <p:nvPr/>
        </p:nvSpPr>
        <p:spPr>
          <a:xfrm>
            <a:off x="6812280" y="936360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>
            <a:off x="6972120" y="9186840"/>
            <a:ext cx="100080" cy="360"/>
          </a:xfrm>
          <a:prstGeom prst="line">
            <a:avLst/>
          </a:prstGeom>
          <a:ln w="18360">
            <a:solidFill>
              <a:srgbClr val="202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8275320" y="9052560"/>
            <a:ext cx="14716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+0.163 / 2/8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83320" y="9628560"/>
            <a:ext cx="2331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Uniform / swap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867000" y="956448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6812280" y="961956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"/>
          <p:cNvSpPr/>
          <p:nvPr/>
        </p:nvSpPr>
        <p:spPr>
          <a:xfrm>
            <a:off x="7196400" y="967428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6812280" y="972936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"/>
          <p:cNvSpPr/>
          <p:nvPr/>
        </p:nvSpPr>
        <p:spPr>
          <a:xfrm>
            <a:off x="6812280" y="978408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>
            <a:off x="6748200" y="982980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"/>
          <p:cNvSpPr/>
          <p:nvPr/>
        </p:nvSpPr>
        <p:spPr>
          <a:xfrm>
            <a:off x="6812280" y="988452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"/>
          <p:cNvSpPr/>
          <p:nvPr/>
        </p:nvSpPr>
        <p:spPr>
          <a:xfrm>
            <a:off x="6995160" y="993960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"/>
          <p:cNvSpPr/>
          <p:nvPr/>
        </p:nvSpPr>
        <p:spPr>
          <a:xfrm>
            <a:off x="6858000" y="9758520"/>
            <a:ext cx="99720" cy="360"/>
          </a:xfrm>
          <a:prstGeom prst="line">
            <a:avLst/>
          </a:prstGeom>
          <a:ln w="18360">
            <a:solidFill>
              <a:srgbClr val="202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"/>
          <p:cNvSpPr/>
          <p:nvPr/>
        </p:nvSpPr>
        <p:spPr>
          <a:xfrm>
            <a:off x="8275320" y="9628560"/>
            <a:ext cx="14716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+0.061 / 1/8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283320" y="10204560"/>
            <a:ext cx="2331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Instant / same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970960" y="1014084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6546960" y="1019556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" name=""/>
          <p:cNvSpPr/>
          <p:nvPr/>
        </p:nvSpPr>
        <p:spPr>
          <a:xfrm>
            <a:off x="2880360" y="1024128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" name=""/>
          <p:cNvSpPr/>
          <p:nvPr/>
        </p:nvSpPr>
        <p:spPr>
          <a:xfrm>
            <a:off x="4260960" y="1030536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6199560" y="1036008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6803280" y="1040580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5559480" y="1046088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>
            <a:off x="6812280" y="1051560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5600520" y="10329840"/>
            <a:ext cx="100080" cy="360"/>
          </a:xfrm>
          <a:prstGeom prst="line">
            <a:avLst/>
          </a:prstGeom>
          <a:ln w="18360">
            <a:solidFill>
              <a:srgbClr val="202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8275320" y="10204560"/>
            <a:ext cx="14716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-1.050 / 8/8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283320" y="10780920"/>
            <a:ext cx="23313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Instant / swap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309360" y="1071684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6812280" y="1077156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" name=""/>
          <p:cNvSpPr/>
          <p:nvPr/>
        </p:nvSpPr>
        <p:spPr>
          <a:xfrm>
            <a:off x="4663440" y="1082664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>
            <a:off x="6812280" y="1088136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>
            <a:off x="6812280" y="1093608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>
            <a:off x="5568840" y="1098180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6812280" y="1103688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"/>
          <p:cNvSpPr/>
          <p:nvPr/>
        </p:nvSpPr>
        <p:spPr>
          <a:xfrm>
            <a:off x="3090600" y="11091600"/>
            <a:ext cx="36720" cy="360"/>
          </a:xfrm>
          <a:prstGeom prst="line">
            <a:avLst/>
          </a:prstGeom>
          <a:ln w="36720">
            <a:solidFill>
              <a:srgbClr val="c16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>
            <a:off x="5829120" y="10915560"/>
            <a:ext cx="114480" cy="360"/>
          </a:xfrm>
          <a:prstGeom prst="line">
            <a:avLst/>
          </a:prstGeom>
          <a:ln w="18360">
            <a:solidFill>
              <a:srgbClr val="202a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" name=""/>
          <p:cNvSpPr/>
          <p:nvPr/>
        </p:nvSpPr>
        <p:spPr>
          <a:xfrm>
            <a:off x="8275320" y="10780920"/>
            <a:ext cx="14716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-0.846 / 7/8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771640" y="11258640"/>
            <a:ext cx="4971960" cy="360"/>
          </a:xfrm>
          <a:prstGeom prst="line">
            <a:avLst/>
          </a:prstGeom>
          <a:ln w="900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3319200" y="1132020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-3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453200" y="1132020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-2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577840" y="1132020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-1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702480" y="11320200"/>
            <a:ext cx="539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83320" y="1165860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Two environment seeds × two shapes × two clocks; dependent pairs. B ranges 8.31 × 10⁻⁷ to 0.004.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83320" y="11914560"/>
            <a:ext cx="9372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Uniform comparison: tiny mean intake gains; mass / body-time mixed. No new form or maintenance advantage.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94720" y="8988480"/>
            <a:ext cx="36720" cy="360"/>
          </a:xfrm>
          <a:prstGeom prst="line">
            <a:avLst/>
          </a:prstGeom>
          <a:ln w="36720">
            <a:solidFill>
              <a:srgbClr val="35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8"/>
          <a:stretch/>
        </p:blipFill>
        <p:spPr>
          <a:xfrm>
            <a:off x="4855320" y="5824800"/>
            <a:ext cx="1545120" cy="1545120"/>
          </a:xfrm>
          <a:prstGeom prst="rect">
            <a:avLst/>
          </a:prstGeom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9"/>
          <a:stretch/>
        </p:blipFill>
        <p:spPr>
          <a:xfrm>
            <a:off x="7086600" y="5824800"/>
            <a:ext cx="1545120" cy="154512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10"/>
          <a:stretch/>
        </p:blipFill>
        <p:spPr>
          <a:xfrm>
            <a:off x="4855320" y="7479720"/>
            <a:ext cx="1545120" cy="6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2026-10-17T23:03:51Z</cp:lastPrinted>
  <dcterms:modified xsi:type="dcterms:W3CDTF">2026-10-18T16:00:37Z</dcterms:modified>
  <cp:revision>216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