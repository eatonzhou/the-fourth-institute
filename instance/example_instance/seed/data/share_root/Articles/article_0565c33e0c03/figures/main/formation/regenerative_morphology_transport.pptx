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60840" cy="155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4EC1D4-734E-4BA5-BA42-96E8D69A1F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60840" cy="155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8420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3748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D272E3-AF01-4ED5-8457-DF5DC655F79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37480" cy="63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320040" y="19188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A  Formation does not guarantee persistence</a:t>
            </a: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320040" y="53964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 fixed rules × two initial bodies · all eight qualify at 128 in the 64² domain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20040" y="914400"/>
            <a:ext cx="2084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Rule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477880" y="914400"/>
            <a:ext cx="1252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Trilobe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740040" y="914400"/>
            <a:ext cx="14356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Bridged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20040" y="1197720"/>
            <a:ext cx="2084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Reference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770560" y="11977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●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060080" y="11977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①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20040" y="1435680"/>
            <a:ext cx="2084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Core 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770560" y="143568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②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060080" y="143568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●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20040" y="1673280"/>
            <a:ext cx="2084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Double shell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2770560" y="167328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●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060080" y="167328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●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20040" y="1901880"/>
            <a:ext cx="2084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Core + outer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770560" y="190188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●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060080" y="190188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●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20040" y="2194560"/>
            <a:ext cx="49651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① 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/ ② continued; six eligible bodies not continued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751720" y="914400"/>
            <a:ext cx="39592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Two non-rigid initial shapes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5861160" y="1179720"/>
            <a:ext cx="1143000" cy="1143000"/>
          </a:xfrm>
          <a:prstGeom prst="rect">
            <a:avLst/>
          </a:prstGeom>
          <a:ln w="0">
            <a:noFill/>
          </a:ln>
        </p:spPr>
      </p:pic>
      <p:pic>
        <p:nvPicPr>
          <p:cNvPr id="27" name="" descr=""/>
          <p:cNvPicPr/>
          <p:nvPr/>
        </p:nvPicPr>
        <p:blipFill>
          <a:blip r:embed="rId2"/>
          <a:stretch/>
        </p:blipFill>
        <p:spPr>
          <a:xfrm>
            <a:off x="7918560" y="1179720"/>
            <a:ext cx="1143000" cy="1143000"/>
          </a:xfrm>
          <a:prstGeom prst="rect">
            <a:avLst/>
          </a:prstGeom>
          <a:ln w="0">
            <a:noFill/>
          </a:ln>
        </p:spPr>
      </p:pic>
      <p:sp>
        <p:nvSpPr>
          <p:cNvPr id="28" name=""/>
          <p:cNvSpPr txBox="1"/>
          <p:nvPr/>
        </p:nvSpPr>
        <p:spPr>
          <a:xfrm>
            <a:off x="5788080" y="2212920"/>
            <a:ext cx="39592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Same initial M = 71.249; E = 56.999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28320" y="2543040"/>
            <a:ext cx="9429840" cy="0"/>
          </a:xfrm>
          <a:prstGeom prst="line">
            <a:avLst/>
          </a:prstGeom>
          <a:ln w="9000">
            <a:solidFill>
              <a:srgbClr val="ab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20040" y="2642760"/>
            <a:ext cx="9354240" cy="94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B  Matched state 128 → paid adjacent F transport off / on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20040" y="2999160"/>
            <a:ext cx="4782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②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Ring: 64 / 96 domains; both arms alive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5285160" y="2999160"/>
            <a:ext cx="44989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①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Double blobs · 64 domain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02920" y="3255120"/>
            <a:ext cx="9691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64: 128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3"/>
          <a:stretch/>
        </p:blipFill>
        <p:spPr>
          <a:xfrm>
            <a:off x="502920" y="3538800"/>
            <a:ext cx="896040" cy="2295000"/>
          </a:xfrm>
          <a:prstGeom prst="rect">
            <a:avLst/>
          </a:prstGeom>
          <a:ln w="0">
            <a:noFill/>
          </a:ln>
        </p:spPr>
      </p:pic>
      <p:sp>
        <p:nvSpPr>
          <p:cNvPr id="35" name=""/>
          <p:cNvSpPr txBox="1"/>
          <p:nvPr/>
        </p:nvSpPr>
        <p:spPr>
          <a:xfrm>
            <a:off x="1828800" y="3255120"/>
            <a:ext cx="9691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64: 384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163680" y="3255120"/>
            <a:ext cx="9691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96: 384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4"/>
          <a:stretch/>
        </p:blipFill>
        <p:spPr>
          <a:xfrm>
            <a:off x="5468040" y="3538800"/>
            <a:ext cx="3684960" cy="1143000"/>
          </a:xfrm>
          <a:prstGeom prst="rect">
            <a:avLst/>
          </a:prstGeom>
          <a:ln w="0">
            <a:noFill/>
          </a:ln>
        </p:spPr>
      </p:pic>
      <p:sp>
        <p:nvSpPr>
          <p:cNvPr id="38" name=""/>
          <p:cNvSpPr txBox="1"/>
          <p:nvPr/>
        </p:nvSpPr>
        <p:spPr>
          <a:xfrm>
            <a:off x="9171360" y="390456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128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5"/>
          <a:stretch/>
        </p:blipFill>
        <p:spPr>
          <a:xfrm>
            <a:off x="5468040" y="4617720"/>
            <a:ext cx="3684960" cy="1143000"/>
          </a:xfrm>
          <a:prstGeom prst="rect">
            <a:avLst/>
          </a:prstGeom>
          <a:ln w="0">
            <a:noFill/>
          </a:ln>
        </p:spPr>
      </p:pic>
      <p:sp>
        <p:nvSpPr>
          <p:cNvPr id="40" name=""/>
          <p:cNvSpPr txBox="1"/>
          <p:nvPr/>
        </p:nvSpPr>
        <p:spPr>
          <a:xfrm>
            <a:off x="9171360" y="498348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192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321880" y="5824800"/>
            <a:ext cx="44258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Both exactly zero from 220 through 384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20040" y="5970960"/>
            <a:ext cx="48920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64 x20–44,y0–63; 96 x36–60,y12–83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321880" y="6062400"/>
            <a:ext cx="44258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x 0–63; y 24–43 ↓; same window at both times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20040" y="624528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Transport-on fields; density ρ: white 0 → teal 1 M/cell. All fields use the same colour scale.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20040" y="6492240"/>
            <a:ext cx="937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64: gap 7 &lt; K₂ reach 8 at 232; 317 is not onset. 96: no new-edge contact (ρ &gt; .01).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28320" y="6786720"/>
            <a:ext cx="9429840" cy="0"/>
          </a:xfrm>
          <a:prstGeom prst="line">
            <a:avLst/>
          </a:prstGeom>
          <a:ln w="9000">
            <a:solidFill>
              <a:srgbClr val="ab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20040" y="6885360"/>
            <a:ext cx="9354240" cy="94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C  Transport changes reserves without changing either fate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20040" y="7196400"/>
            <a:ext cx="2871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Tissue mass (M)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212080" y="7196400"/>
            <a:ext cx="2871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Stored energy (EU)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843680" y="7358040"/>
            <a:ext cx="442800" cy="0"/>
          </a:xfrm>
          <a:prstGeom prst="line">
            <a:avLst/>
          </a:prstGeom>
          <a:ln w="36720">
            <a:solidFill>
              <a:srgbClr val="7c81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312040" y="724212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64 off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9001080" y="7358040"/>
            <a:ext cx="399960" cy="0"/>
          </a:xfrm>
          <a:prstGeom prst="line">
            <a:avLst/>
          </a:prstGeom>
          <a:ln w="18360">
            <a:solidFill>
              <a:srgbClr val="1685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9354240" y="7242120"/>
            <a:ext cx="6400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64 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57160" y="7629480"/>
            <a:ext cx="0" cy="1443240"/>
          </a:xfrm>
          <a:prstGeom prst="line">
            <a:avLst/>
          </a:prstGeom>
          <a:ln w="9000">
            <a:solidFill>
              <a:srgbClr val="7a87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57160" y="9072720"/>
            <a:ext cx="3786120" cy="0"/>
          </a:xfrm>
          <a:prstGeom prst="line">
            <a:avLst/>
          </a:prstGeom>
          <a:ln w="9000">
            <a:solidFill>
              <a:srgbClr val="7a87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20040" y="897948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20040" y="825696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20040" y="753480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400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40080" y="9144000"/>
            <a:ext cx="603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128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002680" y="9144000"/>
            <a:ext cx="603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220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532960" y="9144000"/>
            <a:ext cx="603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256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425840" y="9144000"/>
            <a:ext cx="603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384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57160" y="8758080"/>
            <a:ext cx="3786120" cy="314640"/>
          </a:xfrm>
          <a:custGeom>
            <a:avLst/>
            <a:gdLst/>
            <a:ahLst/>
            <a:rect l="0" t="0" r="r" b="b"/>
            <a:pathLst>
              <a:path fill="none" w="10517" h="874">
                <a:moveTo>
                  <a:pt x="0" y="0"/>
                </a:moveTo>
                <a:lnTo>
                  <a:pt x="1667" y="80"/>
                </a:lnTo>
                <a:lnTo>
                  <a:pt x="2619" y="119"/>
                </a:lnTo>
                <a:lnTo>
                  <a:pt x="2818" y="159"/>
                </a:lnTo>
                <a:lnTo>
                  <a:pt x="2976" y="159"/>
                </a:lnTo>
                <a:lnTo>
                  <a:pt x="3135" y="239"/>
                </a:lnTo>
                <a:lnTo>
                  <a:pt x="3215" y="318"/>
                </a:lnTo>
                <a:lnTo>
                  <a:pt x="3413" y="635"/>
                </a:lnTo>
                <a:lnTo>
                  <a:pt x="3572" y="834"/>
                </a:lnTo>
                <a:lnTo>
                  <a:pt x="3651" y="874"/>
                </a:lnTo>
                <a:lnTo>
                  <a:pt x="3810" y="874"/>
                </a:lnTo>
                <a:lnTo>
                  <a:pt x="4286" y="874"/>
                </a:lnTo>
                <a:lnTo>
                  <a:pt x="7779" y="874"/>
                </a:lnTo>
                <a:lnTo>
                  <a:pt x="10517" y="874"/>
                </a:lnTo>
              </a:path>
            </a:pathLst>
          </a:custGeom>
          <a:ln w="36720">
            <a:solidFill>
              <a:srgbClr val="7c8190"/>
            </a:solidFill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857160" y="8758080"/>
            <a:ext cx="3786120" cy="314640"/>
          </a:xfrm>
          <a:custGeom>
            <a:avLst/>
            <a:gdLst/>
            <a:ahLst/>
            <a:rect l="0" t="0" r="r" b="b"/>
            <a:pathLst>
              <a:path fill="none" w="10517" h="874">
                <a:moveTo>
                  <a:pt x="0" y="0"/>
                </a:moveTo>
                <a:lnTo>
                  <a:pt x="1667" y="80"/>
                </a:lnTo>
                <a:lnTo>
                  <a:pt x="2619" y="119"/>
                </a:lnTo>
                <a:lnTo>
                  <a:pt x="2818" y="119"/>
                </a:lnTo>
                <a:lnTo>
                  <a:pt x="2976" y="159"/>
                </a:lnTo>
                <a:lnTo>
                  <a:pt x="3135" y="239"/>
                </a:lnTo>
                <a:lnTo>
                  <a:pt x="3215" y="278"/>
                </a:lnTo>
                <a:lnTo>
                  <a:pt x="3413" y="635"/>
                </a:lnTo>
                <a:lnTo>
                  <a:pt x="3572" y="834"/>
                </a:lnTo>
                <a:lnTo>
                  <a:pt x="3651" y="874"/>
                </a:lnTo>
                <a:lnTo>
                  <a:pt x="3810" y="874"/>
                </a:lnTo>
                <a:lnTo>
                  <a:pt x="4286" y="874"/>
                </a:lnTo>
                <a:lnTo>
                  <a:pt x="7779" y="874"/>
                </a:lnTo>
                <a:lnTo>
                  <a:pt x="10517" y="874"/>
                </a:lnTo>
              </a:path>
            </a:pathLst>
          </a:custGeom>
          <a:ln w="18360">
            <a:solidFill>
              <a:srgbClr val="168592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857160" y="7829640"/>
            <a:ext cx="3786120" cy="442800"/>
          </a:xfrm>
          <a:custGeom>
            <a:avLst/>
            <a:gdLst/>
            <a:ahLst/>
            <a:rect l="0" t="0" r="r" b="b"/>
            <a:pathLst>
              <a:path fill="none" w="10517" h="1230">
                <a:moveTo>
                  <a:pt x="0" y="1230"/>
                </a:moveTo>
                <a:lnTo>
                  <a:pt x="3810" y="278"/>
                </a:lnTo>
                <a:lnTo>
                  <a:pt x="4286" y="158"/>
                </a:lnTo>
                <a:lnTo>
                  <a:pt x="4723" y="79"/>
                </a:lnTo>
                <a:lnTo>
                  <a:pt x="5080" y="39"/>
                </a:lnTo>
                <a:lnTo>
                  <a:pt x="5437" y="0"/>
                </a:lnTo>
                <a:lnTo>
                  <a:pt x="7779" y="39"/>
                </a:lnTo>
                <a:lnTo>
                  <a:pt x="9287" y="39"/>
                </a:lnTo>
                <a:lnTo>
                  <a:pt x="10517" y="39"/>
                </a:lnTo>
              </a:path>
            </a:pathLst>
          </a:custGeom>
          <a:ln w="36720">
            <a:solidFill>
              <a:srgbClr val="7c8190"/>
            </a:solidFill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57160" y="7829640"/>
            <a:ext cx="3786120" cy="442800"/>
          </a:xfrm>
          <a:custGeom>
            <a:avLst/>
            <a:gdLst/>
            <a:ahLst/>
            <a:rect l="0" t="0" r="r" b="b"/>
            <a:pathLst>
              <a:path fill="none" w="10517" h="1230">
                <a:moveTo>
                  <a:pt x="0" y="1230"/>
                </a:moveTo>
                <a:lnTo>
                  <a:pt x="3810" y="278"/>
                </a:lnTo>
                <a:lnTo>
                  <a:pt x="4286" y="158"/>
                </a:lnTo>
                <a:lnTo>
                  <a:pt x="4723" y="79"/>
                </a:lnTo>
                <a:lnTo>
                  <a:pt x="5080" y="39"/>
                </a:lnTo>
                <a:lnTo>
                  <a:pt x="5437" y="0"/>
                </a:lnTo>
                <a:lnTo>
                  <a:pt x="7779" y="39"/>
                </a:lnTo>
                <a:lnTo>
                  <a:pt x="9247" y="39"/>
                </a:lnTo>
                <a:lnTo>
                  <a:pt x="10517" y="39"/>
                </a:lnTo>
              </a:path>
            </a:pathLst>
          </a:custGeom>
          <a:ln w="18360">
            <a:solidFill>
              <a:srgbClr val="168592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757840" y="7629480"/>
            <a:ext cx="0" cy="1443240"/>
          </a:xfrm>
          <a:prstGeom prst="line">
            <a:avLst/>
          </a:prstGeom>
          <a:ln w="9000">
            <a:solidFill>
              <a:srgbClr val="7a87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757840" y="9072720"/>
            <a:ext cx="3786120" cy="0"/>
          </a:xfrm>
          <a:prstGeom prst="line">
            <a:avLst/>
          </a:prstGeom>
          <a:ln w="9000">
            <a:solidFill>
              <a:srgbClr val="7a87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212080" y="897948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212080" y="833940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212080" y="7699320"/>
            <a:ext cx="567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400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541120" y="9144000"/>
            <a:ext cx="603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128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894720" y="9144000"/>
            <a:ext cx="603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220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425000" y="9144000"/>
            <a:ext cx="603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256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9317880" y="9144000"/>
            <a:ext cx="6033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384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757840" y="8886960"/>
            <a:ext cx="3786120" cy="185760"/>
          </a:xfrm>
          <a:custGeom>
            <a:avLst/>
            <a:gdLst/>
            <a:ahLst/>
            <a:rect l="0" t="0" r="r" b="b"/>
            <a:pathLst>
              <a:path fill="none" w="10517" h="516">
                <a:moveTo>
                  <a:pt x="0" y="158"/>
                </a:moveTo>
                <a:lnTo>
                  <a:pt x="2183" y="39"/>
                </a:lnTo>
                <a:lnTo>
                  <a:pt x="2619" y="0"/>
                </a:lnTo>
                <a:lnTo>
                  <a:pt x="2937" y="39"/>
                </a:lnTo>
                <a:lnTo>
                  <a:pt x="3056" y="39"/>
                </a:lnTo>
                <a:lnTo>
                  <a:pt x="3175" y="79"/>
                </a:lnTo>
                <a:lnTo>
                  <a:pt x="3254" y="158"/>
                </a:lnTo>
                <a:lnTo>
                  <a:pt x="3413" y="357"/>
                </a:lnTo>
                <a:lnTo>
                  <a:pt x="3532" y="436"/>
                </a:lnTo>
                <a:lnTo>
                  <a:pt x="3651" y="516"/>
                </a:lnTo>
                <a:lnTo>
                  <a:pt x="3770" y="516"/>
                </a:lnTo>
                <a:lnTo>
                  <a:pt x="4286" y="516"/>
                </a:lnTo>
                <a:lnTo>
                  <a:pt x="7778" y="516"/>
                </a:lnTo>
                <a:lnTo>
                  <a:pt x="10517" y="516"/>
                </a:lnTo>
              </a:path>
            </a:pathLst>
          </a:custGeom>
          <a:ln w="36720">
            <a:solidFill>
              <a:srgbClr val="7c8190"/>
            </a:solidFill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757840" y="8886960"/>
            <a:ext cx="3786120" cy="185760"/>
          </a:xfrm>
          <a:custGeom>
            <a:avLst/>
            <a:gdLst/>
            <a:ahLst/>
            <a:rect l="0" t="0" r="r" b="b"/>
            <a:pathLst>
              <a:path fill="none" w="10517" h="516">
                <a:moveTo>
                  <a:pt x="0" y="158"/>
                </a:moveTo>
                <a:lnTo>
                  <a:pt x="873" y="119"/>
                </a:lnTo>
                <a:lnTo>
                  <a:pt x="2381" y="0"/>
                </a:lnTo>
                <a:lnTo>
                  <a:pt x="2698" y="0"/>
                </a:lnTo>
                <a:lnTo>
                  <a:pt x="2976" y="0"/>
                </a:lnTo>
                <a:lnTo>
                  <a:pt x="3135" y="39"/>
                </a:lnTo>
                <a:lnTo>
                  <a:pt x="3214" y="79"/>
                </a:lnTo>
                <a:lnTo>
                  <a:pt x="3453" y="357"/>
                </a:lnTo>
                <a:lnTo>
                  <a:pt x="3572" y="476"/>
                </a:lnTo>
                <a:lnTo>
                  <a:pt x="3651" y="516"/>
                </a:lnTo>
                <a:lnTo>
                  <a:pt x="3770" y="516"/>
                </a:lnTo>
                <a:lnTo>
                  <a:pt x="4286" y="516"/>
                </a:lnTo>
                <a:lnTo>
                  <a:pt x="7778" y="516"/>
                </a:lnTo>
                <a:lnTo>
                  <a:pt x="10517" y="516"/>
                </a:lnTo>
              </a:path>
            </a:pathLst>
          </a:custGeom>
          <a:ln w="18360">
            <a:solidFill>
              <a:srgbClr val="168592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757840" y="7943760"/>
            <a:ext cx="3786120" cy="628560"/>
          </a:xfrm>
          <a:custGeom>
            <a:avLst/>
            <a:gdLst/>
            <a:ahLst/>
            <a:rect l="0" t="0" r="r" b="b"/>
            <a:pathLst>
              <a:path fill="none" w="10517" h="1746">
                <a:moveTo>
                  <a:pt x="0" y="1746"/>
                </a:moveTo>
                <a:lnTo>
                  <a:pt x="1389" y="1429"/>
                </a:lnTo>
                <a:lnTo>
                  <a:pt x="3770" y="834"/>
                </a:lnTo>
                <a:lnTo>
                  <a:pt x="4286" y="715"/>
                </a:lnTo>
                <a:lnTo>
                  <a:pt x="5199" y="516"/>
                </a:lnTo>
                <a:lnTo>
                  <a:pt x="6350" y="278"/>
                </a:lnTo>
                <a:lnTo>
                  <a:pt x="7104" y="199"/>
                </a:lnTo>
                <a:lnTo>
                  <a:pt x="7778" y="119"/>
                </a:lnTo>
                <a:lnTo>
                  <a:pt x="9763" y="40"/>
                </a:lnTo>
                <a:lnTo>
                  <a:pt x="10517" y="0"/>
                </a:lnTo>
              </a:path>
            </a:pathLst>
          </a:custGeom>
          <a:ln w="36720">
            <a:solidFill>
              <a:srgbClr val="7c8190"/>
            </a:solidFill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757840" y="7772400"/>
            <a:ext cx="3786120" cy="799920"/>
          </a:xfrm>
          <a:custGeom>
            <a:avLst/>
            <a:gdLst/>
            <a:ahLst/>
            <a:rect l="0" t="0" r="r" b="b"/>
            <a:pathLst>
              <a:path fill="none" w="10517" h="2222">
                <a:moveTo>
                  <a:pt x="0" y="2222"/>
                </a:moveTo>
                <a:lnTo>
                  <a:pt x="1389" y="1865"/>
                </a:lnTo>
                <a:lnTo>
                  <a:pt x="3770" y="1111"/>
                </a:lnTo>
                <a:lnTo>
                  <a:pt x="4286" y="992"/>
                </a:lnTo>
                <a:lnTo>
                  <a:pt x="5358" y="675"/>
                </a:lnTo>
                <a:lnTo>
                  <a:pt x="6270" y="437"/>
                </a:lnTo>
                <a:lnTo>
                  <a:pt x="7024" y="278"/>
                </a:lnTo>
                <a:lnTo>
                  <a:pt x="7778" y="159"/>
                </a:lnTo>
                <a:lnTo>
                  <a:pt x="8294" y="119"/>
                </a:lnTo>
                <a:lnTo>
                  <a:pt x="9128" y="40"/>
                </a:lnTo>
                <a:lnTo>
                  <a:pt x="10517" y="0"/>
                </a:lnTo>
              </a:path>
            </a:pathLst>
          </a:custGeom>
          <a:ln w="18360">
            <a:solidFill>
              <a:srgbClr val="168592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697480" y="8403480"/>
            <a:ext cx="19749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Ring: 64 / 96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477880" y="8759880"/>
            <a:ext cx="21578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Double blobs: zero tail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6117480" y="9390960"/>
            <a:ext cx="35935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96: 297–384 continuous net loss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20040" y="9390960"/>
            <a:ext cx="57517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64: grey / teal; 96: violet / orange = off / 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28320" y="9672480"/>
            <a:ext cx="9429840" cy="0"/>
          </a:xfrm>
          <a:prstGeom prst="line">
            <a:avLst/>
          </a:prstGeom>
          <a:ln w="9000">
            <a:solidFill>
              <a:srgbClr val="ab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20040" y="976572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D  Energy gains coexist with declining late generation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20040" y="10095120"/>
            <a:ext cx="48553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On versus off (%): 64 teal; 96 orange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914480" y="10458360"/>
            <a:ext cx="2871720" cy="0"/>
          </a:xfrm>
          <a:prstGeom prst="line">
            <a:avLst/>
          </a:prstGeom>
          <a:ln w="9000">
            <a:solidFill>
              <a:srgbClr val="9ba8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774080" y="1025964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218760" y="1025964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654440" y="1025964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20040" y="10561320"/>
            <a:ext cx="15454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End E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914480" y="10658520"/>
            <a:ext cx="2814480" cy="0"/>
          </a:xfrm>
          <a:prstGeom prst="line">
            <a:avLst/>
          </a:prstGeom>
          <a:ln w="64080">
            <a:solidFill>
              <a:srgbClr val="1685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-77040" bIns="-77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791600" y="10561320"/>
            <a:ext cx="1252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+15.637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20040" y="10945440"/>
            <a:ext cx="15454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End M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901880" y="11027520"/>
            <a:ext cx="45720" cy="0"/>
          </a:xfrm>
          <a:prstGeom prst="line">
            <a:avLst/>
          </a:prstGeom>
          <a:ln w="64080">
            <a:solidFill>
              <a:srgbClr val="1685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-77040" bIns="-77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030040" y="10936080"/>
            <a:ext cx="1252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+0.281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20040" y="11320200"/>
            <a:ext cx="15454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Body-time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901880" y="11411640"/>
            <a:ext cx="27360" cy="0"/>
          </a:xfrm>
          <a:prstGeom prst="line">
            <a:avLst/>
          </a:prstGeom>
          <a:ln w="64080">
            <a:solidFill>
              <a:srgbClr val="1685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-77040" bIns="-77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011680" y="11320200"/>
            <a:ext cx="1252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+0.208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861160" y="10095120"/>
            <a:ext cx="38494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Last-32 births, off / on (M)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861160" y="10433160"/>
            <a:ext cx="38494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64: 21.376 / 21.146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861160" y="10744200"/>
            <a:ext cx="38494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96: 5.026 / 4.860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861160" y="11045880"/>
            <a:ext cx="38494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On fee (64 / 96): 6.614 / 6.536 EU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861160" y="11356920"/>
            <a:ext cx="38494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ΔE: +55.077 / +59.821 EU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20040" y="1175004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96 outer P = births = 0: tissue is transported in.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Learning off; domain sensitivity, not a steady state or pure boundary mediation.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6"/>
          <a:stretch/>
        </p:blipFill>
        <p:spPr>
          <a:xfrm>
            <a:off x="1828800" y="3538800"/>
            <a:ext cx="896040" cy="229500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7"/>
          <a:stretch/>
        </p:blipFill>
        <p:spPr>
          <a:xfrm>
            <a:off x="3163680" y="3538800"/>
            <a:ext cx="795600" cy="2295000"/>
          </a:xfrm>
          <a:prstGeom prst="rect">
            <a:avLst/>
          </a:prstGeom>
          <a:ln w="0">
            <a:noFill/>
          </a:ln>
        </p:spPr>
      </p:pic>
      <p:sp>
        <p:nvSpPr>
          <p:cNvPr id="108" name=""/>
          <p:cNvSpPr/>
          <p:nvPr/>
        </p:nvSpPr>
        <p:spPr>
          <a:xfrm>
            <a:off x="3143160" y="3672000"/>
            <a:ext cx="857160" cy="0"/>
          </a:xfrm>
          <a:prstGeom prst="line">
            <a:avLst/>
          </a:prstGeom>
          <a:ln w="9000">
            <a:solidFill>
              <a:srgbClr val="a9ad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143160" y="5729400"/>
            <a:ext cx="857160" cy="0"/>
          </a:xfrm>
          <a:prstGeom prst="line">
            <a:avLst/>
          </a:prstGeom>
          <a:ln w="9000">
            <a:solidFill>
              <a:srgbClr val="a9ad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57160" y="7729560"/>
            <a:ext cx="3786120" cy="542880"/>
          </a:xfrm>
          <a:custGeom>
            <a:avLst/>
            <a:gdLst/>
            <a:ahLst/>
            <a:rect l="0" t="0" r="r" b="b"/>
            <a:pathLst>
              <a:path fill="none" w="10517" h="1508">
                <a:moveTo>
                  <a:pt x="0" y="1508"/>
                </a:moveTo>
                <a:lnTo>
                  <a:pt x="3810" y="556"/>
                </a:lnTo>
                <a:lnTo>
                  <a:pt x="4286" y="436"/>
                </a:lnTo>
                <a:lnTo>
                  <a:pt x="5953" y="40"/>
                </a:lnTo>
                <a:lnTo>
                  <a:pt x="6429" y="0"/>
                </a:lnTo>
                <a:lnTo>
                  <a:pt x="6906" y="0"/>
                </a:lnTo>
                <a:lnTo>
                  <a:pt x="6945" y="0"/>
                </a:lnTo>
                <a:lnTo>
                  <a:pt x="7779" y="0"/>
                </a:lnTo>
                <a:lnTo>
                  <a:pt x="10517" y="159"/>
                </a:lnTo>
              </a:path>
            </a:pathLst>
          </a:custGeom>
          <a:ln w="36720">
            <a:solidFill>
              <a:srgbClr val="796898"/>
            </a:solidFill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857160" y="7715160"/>
            <a:ext cx="3786120" cy="557280"/>
          </a:xfrm>
          <a:custGeom>
            <a:avLst/>
            <a:gdLst/>
            <a:ahLst/>
            <a:rect l="0" t="0" r="r" b="b"/>
            <a:pathLst>
              <a:path fill="none" w="10517" h="1548">
                <a:moveTo>
                  <a:pt x="0" y="1548"/>
                </a:moveTo>
                <a:lnTo>
                  <a:pt x="3810" y="596"/>
                </a:lnTo>
                <a:lnTo>
                  <a:pt x="4286" y="476"/>
                </a:lnTo>
                <a:lnTo>
                  <a:pt x="5953" y="80"/>
                </a:lnTo>
                <a:lnTo>
                  <a:pt x="6429" y="40"/>
                </a:lnTo>
                <a:lnTo>
                  <a:pt x="6906" y="0"/>
                </a:lnTo>
                <a:lnTo>
                  <a:pt x="6945" y="0"/>
                </a:lnTo>
                <a:lnTo>
                  <a:pt x="7779" y="40"/>
                </a:lnTo>
                <a:lnTo>
                  <a:pt x="10517" y="199"/>
                </a:lnTo>
              </a:path>
            </a:pathLst>
          </a:custGeom>
          <a:ln w="18360">
            <a:solidFill>
              <a:srgbClr val="ca792b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757840" y="7872480"/>
            <a:ext cx="3786120" cy="699840"/>
          </a:xfrm>
          <a:custGeom>
            <a:avLst/>
            <a:gdLst/>
            <a:ahLst/>
            <a:rect l="0" t="0" r="r" b="b"/>
            <a:pathLst>
              <a:path fill="none" w="10517" h="1944">
                <a:moveTo>
                  <a:pt x="0" y="1944"/>
                </a:moveTo>
                <a:lnTo>
                  <a:pt x="1389" y="1627"/>
                </a:lnTo>
                <a:lnTo>
                  <a:pt x="3770" y="1032"/>
                </a:lnTo>
                <a:lnTo>
                  <a:pt x="4286" y="913"/>
                </a:lnTo>
                <a:lnTo>
                  <a:pt x="5953" y="516"/>
                </a:lnTo>
                <a:lnTo>
                  <a:pt x="6905" y="317"/>
                </a:lnTo>
                <a:lnTo>
                  <a:pt x="6945" y="317"/>
                </a:lnTo>
                <a:lnTo>
                  <a:pt x="7778" y="198"/>
                </a:lnTo>
                <a:lnTo>
                  <a:pt x="8493" y="119"/>
                </a:lnTo>
                <a:lnTo>
                  <a:pt x="9009" y="39"/>
                </a:lnTo>
                <a:lnTo>
                  <a:pt x="9803" y="0"/>
                </a:lnTo>
                <a:lnTo>
                  <a:pt x="10517" y="0"/>
                </a:lnTo>
              </a:path>
            </a:pathLst>
          </a:custGeom>
          <a:ln w="36720">
            <a:solidFill>
              <a:srgbClr val="796898"/>
            </a:solidFill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757840" y="7686720"/>
            <a:ext cx="3786120" cy="885600"/>
          </a:xfrm>
          <a:custGeom>
            <a:avLst/>
            <a:gdLst/>
            <a:ahLst/>
            <a:rect l="0" t="0" r="r" b="b"/>
            <a:pathLst>
              <a:path fill="none" w="10517" h="2460">
                <a:moveTo>
                  <a:pt x="0" y="2460"/>
                </a:moveTo>
                <a:lnTo>
                  <a:pt x="1389" y="2103"/>
                </a:lnTo>
                <a:lnTo>
                  <a:pt x="3770" y="1349"/>
                </a:lnTo>
                <a:lnTo>
                  <a:pt x="4286" y="1230"/>
                </a:lnTo>
                <a:lnTo>
                  <a:pt x="5873" y="754"/>
                </a:lnTo>
                <a:lnTo>
                  <a:pt x="6905" y="476"/>
                </a:lnTo>
                <a:lnTo>
                  <a:pt x="6945" y="476"/>
                </a:lnTo>
                <a:lnTo>
                  <a:pt x="7778" y="278"/>
                </a:lnTo>
                <a:lnTo>
                  <a:pt x="8533" y="119"/>
                </a:lnTo>
                <a:lnTo>
                  <a:pt x="9287" y="40"/>
                </a:lnTo>
                <a:lnTo>
                  <a:pt x="9842" y="0"/>
                </a:lnTo>
                <a:lnTo>
                  <a:pt x="10517" y="0"/>
                </a:lnTo>
              </a:path>
            </a:pathLst>
          </a:custGeom>
          <a:ln w="18360">
            <a:solidFill>
              <a:srgbClr val="ca792b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914480" y="10758600"/>
            <a:ext cx="2857320" cy="0"/>
          </a:xfrm>
          <a:prstGeom prst="line">
            <a:avLst/>
          </a:prstGeom>
          <a:ln w="45720">
            <a:solidFill>
              <a:srgbClr val="ca7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680" rIns="112680" tIns="-67680" bIns="-67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846320" y="10725840"/>
            <a:ext cx="1252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+15.938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901880" y="11128320"/>
            <a:ext cx="45720" cy="0"/>
          </a:xfrm>
          <a:prstGeom prst="line">
            <a:avLst/>
          </a:prstGeom>
          <a:ln w="45720">
            <a:solidFill>
              <a:srgbClr val="ca7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680" rIns="112680" tIns="-67680" bIns="-67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030040" y="11100960"/>
            <a:ext cx="1252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+0.303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901880" y="11512440"/>
            <a:ext cx="27360" cy="0"/>
          </a:xfrm>
          <a:prstGeom prst="line">
            <a:avLst/>
          </a:prstGeom>
          <a:ln w="45720">
            <a:solidFill>
              <a:srgbClr val="ca7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680" rIns="112680" tIns="-67680" bIns="-67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011680" y="11475720"/>
            <a:ext cx="1252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+0.203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2026-10-17T23:03:51Z</cp:lastPrinted>
  <dcterms:modified xsi:type="dcterms:W3CDTF">2026-10-18T03:50:23Z</dcterms:modified>
  <cp:revision>177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