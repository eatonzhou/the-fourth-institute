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09728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整体框架：人的方向、团队工作与真实结果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874519" cy="14173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17465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人类目标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98448"/>
            <a:ext cx="172821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方向与偏好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关键约束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成果体验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960120"/>
            <a:ext cx="2240280" cy="14173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1005840"/>
            <a:ext cx="21122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语义与工作状态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298448"/>
            <a:ext cx="209397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目标／规范／设计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任务／职责／依赖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内容／版本／证据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960120"/>
            <a:ext cx="2240280" cy="14173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7568" y="1005840"/>
            <a:ext cx="21122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自主开发组织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6712" y="1298448"/>
            <a:ext cx="209397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委派与上下文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模块实现与协作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验证与局部交付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960120"/>
            <a:ext cx="2194560" cy="14173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005840"/>
            <a:ext cx="2066543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实际软件与使用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1298448"/>
            <a:ext cx="204825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功能与运行状态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用户任务与故障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变化后的真实结果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1673352"/>
            <a:ext cx="5943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0" y="1673352"/>
            <a:ext cx="5943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63840" y="1673352"/>
            <a:ext cx="5943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88920" y="3200400"/>
            <a:ext cx="5074920" cy="137160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928" y="3246120"/>
            <a:ext cx="49469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Workbench：理解与控制共处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2" y="3538728"/>
            <a:ext cx="4928616" cy="9875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按当前问题选择表达 → 体验／探索／比较 → 对象上的操作与反馈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55480" y="2377440"/>
            <a:ext cx="0" cy="1490472"/>
          </a:xfrm>
          <a:prstGeom prst="line">
            <a:avLst/>
          </a:prstGeom>
          <a:ln w="13970">
            <a:solidFill>
              <a:srgbClr val="267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863840" y="3867912"/>
            <a:ext cx="169164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234440" y="3867912"/>
            <a:ext cx="1554480" cy="0"/>
          </a:xfrm>
          <a:prstGeom prst="line">
            <a:avLst/>
          </a:prstGeom>
          <a:ln w="13970">
            <a:solidFill>
              <a:srgbClr val="267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234440" y="2377440"/>
            <a:ext cx="0" cy="1490472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029200" y="2743200"/>
            <a:ext cx="0" cy="45720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904487" y="2743200"/>
            <a:ext cx="1124713" cy="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904487" y="2377440"/>
            <a:ext cx="0" cy="365760"/>
          </a:xfrm>
          <a:prstGeom prst="line">
            <a:avLst/>
          </a:prstGeom>
          <a:ln w="13970">
            <a:solidFill>
              <a:srgbClr val="26756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55279" y="3017520"/>
            <a:ext cx="2651760" cy="3200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756C"/>
                </a:solidFill>
                <a:latin typeface="Noto Sans CJK SC"/>
              </a:defRPr>
            </a:pPr>
            <a:r>
              <a:t>观察与验证证据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能力放大：组合、积累、反馈与交互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2377440" cy="15544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6012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52728"/>
            <a:ext cx="2231136" cy="11704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模块边界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协作协议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按需委派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08760" y="2468880"/>
            <a:ext cx="0" cy="50292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71800" y="914400"/>
            <a:ext cx="2377440" cy="155448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96012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积累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252728"/>
            <a:ext cx="2231136" cy="11704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设计理由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故障教训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可复用能力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0520" y="2468880"/>
            <a:ext cx="0" cy="50292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23560" y="914400"/>
            <a:ext cx="2377440" cy="15544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96012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反馈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1252728"/>
            <a:ext cx="2231136" cy="11704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定向检查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真实使用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交付后观察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2468880"/>
            <a:ext cx="0" cy="50292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75320" y="914400"/>
            <a:ext cx="2377440" cy="155448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96012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1252728"/>
            <a:ext cx="2231136" cy="11704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选择重点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可操作表达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准确的人类反馈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64040" y="2468880"/>
            <a:ext cx="0" cy="50292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0040" y="2971800"/>
            <a:ext cx="10332720" cy="77724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" y="3008376"/>
            <a:ext cx="10222992" cy="7040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756C"/>
                </a:solidFill>
                <a:latin typeface="Noto Sans CJK SC"/>
              </a:defRPr>
            </a:pPr>
            <a:r>
              <a:t>工程能力：可承担的变化复杂度、质量与持续维护范围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60520"/>
            <a:ext cx="3200400" cy="640080"/>
          </a:xfrm>
          <a:prstGeom prst="rect">
            <a:avLst/>
          </a:prstGeom>
          <a:solidFill>
            <a:srgbClr val="FAF3E7"/>
          </a:solidFill>
          <a:ln w="12700">
            <a:solidFill>
              <a:srgbClr val="996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4197096"/>
            <a:ext cx="3090672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9651B"/>
                </a:solidFill>
                <a:latin typeface="Noto Sans CJK SC"/>
              </a:defRPr>
            </a:pPr>
            <a:r>
              <a:t>人：理解／决策／恢复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4160520"/>
            <a:ext cx="3200400" cy="640080"/>
          </a:xfrm>
          <a:prstGeom prst="rect">
            <a:avLst/>
          </a:prstGeom>
          <a:solidFill>
            <a:srgbClr val="F3F4F5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41063" y="4197096"/>
            <a:ext cx="3090672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机器：推理／工具／等待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4160520"/>
            <a:ext cx="3200400" cy="640080"/>
          </a:xfrm>
          <a:prstGeom prst="rect">
            <a:avLst/>
          </a:prstGeom>
          <a:solidFill>
            <a:srgbClr val="F3F4F5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07224" y="4197096"/>
            <a:ext cx="3090672" cy="566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组织：协调／知识维护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794760"/>
            <a:ext cx="1033272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收益需扣除以下成本；增加成员或 token 不自动产生放大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语义约束：从目标到可检查的结果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920240" cy="11887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17922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98448"/>
            <a:ext cx="1773936" cy="8046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取消后可确认任务停止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1554480"/>
            <a:ext cx="18288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423160" y="960120"/>
            <a:ext cx="1920240" cy="11887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005840"/>
            <a:ext cx="17922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298448"/>
            <a:ext cx="1773936" cy="8046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运行中取消／重复取消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43400" y="1554480"/>
            <a:ext cx="18288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26280" y="960120"/>
            <a:ext cx="1920240" cy="11887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005840"/>
            <a:ext cx="17922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契约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1298448"/>
            <a:ext cx="1773936" cy="8046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请求已收／停止已证实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46520" y="1554480"/>
            <a:ext cx="18288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629400" y="960120"/>
            <a:ext cx="1920240" cy="11887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005840"/>
            <a:ext cx="17922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1298448"/>
            <a:ext cx="1773936" cy="8046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前端／调度／执行器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49640" y="1554480"/>
            <a:ext cx="18288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732520" y="960120"/>
            <a:ext cx="1920240" cy="11887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1005840"/>
            <a:ext cx="17922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证据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1298448"/>
            <a:ext cx="1773936" cy="80467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状态、资源、用户体验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97480"/>
            <a:ext cx="4937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2734056"/>
            <a:ext cx="4828032" cy="20756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393192" y="2734056"/>
            <a:ext cx="479145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遇到冲突时追查假设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200400"/>
            <a:ext cx="1371600" cy="68580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3236976"/>
            <a:ext cx="1261872" cy="6126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规范意图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3200400"/>
            <a:ext cx="1371600" cy="68580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57984" y="3236976"/>
            <a:ext cx="1261872" cy="6126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当前行为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3200400"/>
            <a:ext cx="1371600" cy="68580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58184" y="3236976"/>
            <a:ext cx="1261872" cy="6126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测试断言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4572000" cy="5943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0">
                <a:solidFill>
                  <a:srgbClr val="263442"/>
                </a:solidFill>
                <a:latin typeface="Noto Sans CJK SC"/>
              </a:defRPr>
            </a:pPr>
            <a:r>
              <a:t>依据当前认可目标和具体证据判断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68" b="0">
                <a:solidFill>
                  <a:srgbClr val="263442"/>
                </a:solidFill>
                <a:latin typeface="Noto Sans CJK SC"/>
              </a:defRPr>
            </a:pPr>
            <a:r>
              <a:t>修改其中过时或错误的部分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2697480"/>
            <a:ext cx="50749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32704" y="2734056"/>
            <a:ext cx="4965192" cy="20756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5650992" y="2734056"/>
            <a:ext cx="492861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每次变化保存足够的联系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200400"/>
            <a:ext cx="4709160" cy="13716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对象：改的是哪个行为或契约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依据：目标、实例与适用条件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状态：拟议／实现／已验证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影响：责任模块及需更新的检查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团队结构与软件结构：相关但分别建模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0332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859536"/>
            <a:ext cx="10222992" cy="16642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93192" y="859536"/>
            <a:ext cx="1018641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组织关系：长期职责与临时协调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1874519" cy="8686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7465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64208"/>
            <a:ext cx="1728216" cy="4846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目标／偏好／承诺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325880"/>
            <a:ext cx="2103120" cy="8686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371600"/>
            <a:ext cx="19751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任务负责人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1664208"/>
            <a:ext cx="1956816" cy="4846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跨模块方案与交付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325880"/>
            <a:ext cx="2103120" cy="8686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3288" y="1371600"/>
            <a:ext cx="19751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模块成员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1664208"/>
            <a:ext cx="1956816" cy="4846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执行器长期经验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325880"/>
            <a:ext cx="2103120" cy="8686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371600"/>
            <a:ext cx="19751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模块成员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664208"/>
            <a:ext cx="1956816" cy="4846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任务状态长期经验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68880" y="1764792"/>
            <a:ext cx="54864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1764792"/>
            <a:ext cx="54864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069080" y="2194560"/>
            <a:ext cx="0" cy="182880"/>
          </a:xfrm>
          <a:prstGeom prst="line">
            <a:avLst/>
          </a:prstGeom>
          <a:ln w="13970">
            <a:solidFill>
              <a:srgbClr val="27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9080" y="2377440"/>
            <a:ext cx="5303520" cy="0"/>
          </a:xfrm>
          <a:prstGeom prst="line">
            <a:avLst/>
          </a:prstGeom>
          <a:ln w="13970">
            <a:solidFill>
              <a:srgbClr val="27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372600" y="2194560"/>
            <a:ext cx="0" cy="18288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20040" y="3200400"/>
            <a:ext cx="10332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3236976"/>
            <a:ext cx="10222992" cy="1618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93192" y="3236976"/>
            <a:ext cx="1018641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软件关系：服务职责与运行协议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749039"/>
            <a:ext cx="2011680" cy="7772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3794760"/>
            <a:ext cx="18836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用户界面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4087368"/>
            <a:ext cx="1865376" cy="3931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操作与反馈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3749039"/>
            <a:ext cx="2651760" cy="7772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0168" y="3794760"/>
            <a:ext cx="25237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任务状态服务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4087368"/>
            <a:ext cx="2505456" cy="3931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请求记录与状态查询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3749039"/>
            <a:ext cx="2651760" cy="7772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44968" y="3794760"/>
            <a:ext cx="25237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执行器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4087368"/>
            <a:ext cx="2505456" cy="3931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实际停止与资源释放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606040" y="4142232"/>
            <a:ext cx="9601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217920" y="4142232"/>
            <a:ext cx="146304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20840" y="2194560"/>
            <a:ext cx="0" cy="73152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720840" y="2926080"/>
            <a:ext cx="2286000" cy="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006840" y="2926080"/>
            <a:ext cx="0" cy="822959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372600" y="2194560"/>
            <a:ext cx="1188720" cy="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561320" y="2194560"/>
            <a:ext cx="0" cy="82296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892040" y="3017520"/>
            <a:ext cx="5669280" cy="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892040" y="3017520"/>
            <a:ext cx="0" cy="731519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77240" y="2688336"/>
            <a:ext cx="3931920" cy="2926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756C"/>
                </a:solidFill>
                <a:latin typeface="Noto Sans CJK SC"/>
              </a:defRPr>
            </a:pPr>
            <a:r>
              <a:t>虚线关联：谁维护什么；一项工作可跨多个模块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上下文与经验：选择、使用、提炼与恢复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468880" cy="160020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23408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持久材料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98448"/>
            <a:ext cx="2322576" cy="12161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规范与模块契约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历史判断与证据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未完任务与入口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960120"/>
            <a:ext cx="3017520" cy="160020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005840"/>
            <a:ext cx="28895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当前任务上下文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1298448"/>
            <a:ext cx="2871216" cy="12161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目标＋必要依赖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相关经验＋当前差异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工具结果的局部证据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960120"/>
            <a:ext cx="3200400" cy="160020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005840"/>
            <a:ext cx="30723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执行与核对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298448"/>
            <a:ext cx="3054096" cy="12161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采取行动／观察结果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解释失败／修正假设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完成或交接未完工作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1764792"/>
            <a:ext cx="8229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1764792"/>
            <a:ext cx="8229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611880" y="3337560"/>
            <a:ext cx="3017520" cy="141732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5887" y="3383280"/>
            <a:ext cx="28895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整理后的经验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675887"/>
            <a:ext cx="287121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适用条件／反例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可复用步骤／核对方法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关联原始证据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52560" y="2560320"/>
            <a:ext cx="0" cy="1481328"/>
          </a:xfrm>
          <a:prstGeom prst="line">
            <a:avLst/>
          </a:prstGeom>
          <a:ln w="13970">
            <a:solidFill>
              <a:srgbClr val="267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629400" y="4041648"/>
            <a:ext cx="242316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554480" y="4041648"/>
            <a:ext cx="2057400" cy="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54480" y="2560320"/>
            <a:ext cx="0" cy="1481328"/>
          </a:xfrm>
          <a:prstGeom prst="line">
            <a:avLst/>
          </a:prstGeom>
          <a:ln w="13970">
            <a:solidFill>
              <a:srgbClr val="26756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2788920"/>
            <a:ext cx="260604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按任务检索，避免全部注入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246120"/>
            <a:ext cx="3291840" cy="7772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6" b="0">
                <a:solidFill>
                  <a:srgbClr val="263442"/>
                </a:solidFill>
                <a:latin typeface="Noto Sans CJK SC"/>
              </a:defRPr>
            </a:pPr>
            <a:r>
              <a:t>恢复时保留：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96" b="0">
                <a:solidFill>
                  <a:srgbClr val="263442"/>
                </a:solidFill>
                <a:latin typeface="Noto Sans CJK SC"/>
              </a:defRPr>
            </a:pPr>
            <a:r>
              <a:t>职责、承诺、关键决定、工作入口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并行变化中的小批量交付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11430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3442"/>
                </a:solidFill>
                <a:latin typeface="Noto Sans CJK SC"/>
              </a:defRPr>
            </a:pPr>
            <a:r>
              <a:t>模块 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08760" y="1371600"/>
            <a:ext cx="9144000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2148840"/>
            <a:ext cx="11430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3442"/>
                </a:solidFill>
                <a:latin typeface="Noto Sans CJK SC"/>
              </a:defRPr>
            </a:pPr>
            <a:r>
              <a:t>模块 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08760" y="2423160"/>
            <a:ext cx="9144000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3200400"/>
            <a:ext cx="11430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3442"/>
                </a:solidFill>
                <a:latin typeface="Noto Sans CJK SC"/>
              </a:defRPr>
            </a:pPr>
            <a:r>
              <a:t>发布工具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08760" y="3474720"/>
            <a:ext cx="9144000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251960"/>
            <a:ext cx="1143000" cy="5486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3442"/>
                </a:solidFill>
                <a:latin typeface="Noto Sans CJK SC"/>
              </a:defRPr>
            </a:pPr>
            <a:r>
              <a:t>使用与验证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8760" y="4526280"/>
            <a:ext cx="9144000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691640" y="1051560"/>
            <a:ext cx="2194560" cy="5943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46504" y="1088136"/>
            <a:ext cx="2084831" cy="521207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实现取消请求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051560"/>
            <a:ext cx="2286000" cy="5943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088136"/>
            <a:ext cx="2176272" cy="521207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继续完善输出保留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103120"/>
            <a:ext cx="2148840" cy="5943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8064" y="2139696"/>
            <a:ext cx="2039112" cy="521207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执行器响应与状态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103120"/>
            <a:ext cx="2514600" cy="5943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27264" y="2139696"/>
            <a:ext cx="2404872" cy="521207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下一项独立变化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3063240"/>
            <a:ext cx="1645920" cy="7772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4648" y="3108960"/>
            <a:ext cx="15179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捕获实际内容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401568"/>
            <a:ext cx="1499616" cy="3931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范围＋依赖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3063240"/>
            <a:ext cx="1600200" cy="7772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96328" y="3108960"/>
            <a:ext cx="14721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合成与切换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3401568"/>
            <a:ext cx="1453896" cy="3931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保留并行成果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3063240"/>
            <a:ext cx="1554480" cy="7772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3108960"/>
            <a:ext cx="14264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实际交付记录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3401568"/>
            <a:ext cx="1408176" cy="3931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内容＋结果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86200" y="1344168"/>
            <a:ext cx="548640" cy="0"/>
          </a:xfrm>
          <a:prstGeom prst="line">
            <a:avLst/>
          </a:prstGeom>
          <a:ln w="13970">
            <a:solidFill>
              <a:srgbClr val="27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34840" y="1344168"/>
            <a:ext cx="0" cy="2103120"/>
          </a:xfrm>
          <a:prstGeom prst="line">
            <a:avLst/>
          </a:prstGeom>
          <a:ln w="13970">
            <a:solidFill>
              <a:srgbClr val="27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34840" y="3447288"/>
            <a:ext cx="68580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92040" y="2395728"/>
            <a:ext cx="91440" cy="0"/>
          </a:xfrm>
          <a:prstGeom prst="line">
            <a:avLst/>
          </a:prstGeom>
          <a:ln w="13970">
            <a:solidFill>
              <a:srgbClr val="27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83480" y="2395728"/>
            <a:ext cx="0" cy="1051560"/>
          </a:xfrm>
          <a:prstGeom prst="line">
            <a:avLst/>
          </a:prstGeom>
          <a:ln w="13970">
            <a:solidFill>
              <a:srgbClr val="275D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983480" y="3447288"/>
            <a:ext cx="1371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66560" y="3447288"/>
            <a:ext cx="3657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32520" y="3447288"/>
            <a:ext cx="3657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394960" y="4206240"/>
            <a:ext cx="2377440" cy="68580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9824" y="4242816"/>
            <a:ext cx="2267712" cy="6126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756C"/>
                </a:solidFill>
                <a:latin typeface="Noto Sans CJK SC"/>
              </a:defRPr>
            </a:pPr>
            <a:r>
              <a:t>交付后观察与用户体验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4206240"/>
            <a:ext cx="2331720" cy="685800"/>
          </a:xfrm>
          <a:prstGeom prst="rect">
            <a:avLst/>
          </a:prstGeom>
          <a:solidFill>
            <a:srgbClr val="FAF3E7"/>
          </a:solidFill>
          <a:ln w="12700">
            <a:solidFill>
              <a:srgbClr val="996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5904" y="4242816"/>
            <a:ext cx="2221992" cy="61264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9651B"/>
                </a:solidFill>
                <a:latin typeface="Noto Sans CJK SC"/>
              </a:defRPr>
            </a:pPr>
            <a:r>
              <a:t>故障 → 局部修复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875520" y="3840480"/>
            <a:ext cx="0" cy="228600"/>
          </a:xfrm>
          <a:prstGeom prst="line">
            <a:avLst/>
          </a:prstGeom>
          <a:ln w="13970">
            <a:solidFill>
              <a:srgbClr val="267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583680" y="4069080"/>
            <a:ext cx="3291840" cy="0"/>
          </a:xfrm>
          <a:prstGeom prst="line">
            <a:avLst/>
          </a:prstGeom>
          <a:ln w="13970">
            <a:solidFill>
              <a:srgbClr val="2675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83680" y="4069080"/>
            <a:ext cx="0" cy="13716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772400" y="4544568"/>
            <a:ext cx="54864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691640" y="749808"/>
            <a:ext cx="868680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时间向右；仅示意依赖顺序，未表示真实耗时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验证证据的局部有效性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2103120" cy="548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905256"/>
            <a:ext cx="1993392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检查对象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868680"/>
            <a:ext cx="1874519" cy="548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0904" y="905256"/>
            <a:ext cx="1764792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任务服务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1874519" cy="548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905256"/>
            <a:ext cx="1764792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执行器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868680"/>
            <a:ext cx="1874519" cy="548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75704" y="905256"/>
            <a:ext cx="1764792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当前变化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868680"/>
            <a:ext cx="1874519" cy="548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33104" y="905256"/>
            <a:ext cx="1764792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下一步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45920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" y="1682496"/>
            <a:ext cx="19933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请求幂等性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645920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0904" y="1682496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已验证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645920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1682496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无关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645920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4" y="1682496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未涉及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1645920"/>
            <a:ext cx="1874519" cy="566928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33104" y="1682496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756C"/>
                </a:solidFill>
                <a:latin typeface="Noto Sans CJK SC"/>
              </a:defRPr>
            </a:pPr>
            <a:r>
              <a:t>复用证据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59152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395728"/>
            <a:ext cx="19933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停止确认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2359152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0904" y="2395728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依赖执行器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359152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2395728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已验证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359152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75704" y="2395728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执行器修改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2359152"/>
            <a:ext cx="1874519" cy="566928"/>
          </a:xfrm>
          <a:prstGeom prst="rect">
            <a:avLst/>
          </a:prstGeom>
          <a:solidFill>
            <a:srgbClr val="FAF3E7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33104" y="2395728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重查受影响项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072384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" y="3108960"/>
            <a:ext cx="19933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用户取消旅程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3072384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0904" y="3108960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已验证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072384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18304" y="3108960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已验证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3072384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75704" y="3108960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多模块组合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3072384"/>
            <a:ext cx="1874519" cy="566928"/>
          </a:xfrm>
          <a:prstGeom prst="rect">
            <a:avLst/>
          </a:prstGeom>
          <a:solidFill>
            <a:srgbClr val="FAF3E7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33104" y="3108960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运行定向 TAU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785615"/>
            <a:ext cx="2103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" y="3822191"/>
            <a:ext cx="19933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无关导出任务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3785615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60904" y="3822191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已验证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3785615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8304" y="3822191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无关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3785615"/>
            <a:ext cx="187451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75704" y="3822191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未涉及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78240" y="3785615"/>
            <a:ext cx="1874519" cy="566928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33104" y="3822191"/>
            <a:ext cx="176479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756C"/>
                </a:solidFill>
                <a:latin typeface="Noto Sans CJK SC"/>
              </a:defRPr>
            </a:pPr>
            <a:r>
              <a:t>保留原结论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617720"/>
            <a:ext cx="10195560" cy="3657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263442"/>
                </a:solidFill>
                <a:latin typeface="Noto Sans CJK SC"/>
              </a:defRPr>
            </a:pPr>
            <a:r>
              <a:t>证据 = 任务／契约 + 实际内容与环境 + 观察结果 + 适用条件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自适应验证：决定投入并完成修复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10896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29809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变化与故障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98448"/>
            <a:ext cx="296265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相关模块／契约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已有检查与未覆盖项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960120"/>
            <a:ext cx="310896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005840"/>
            <a:ext cx="29809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判断验证范围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1298448"/>
            <a:ext cx="296265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预期信息价值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运行成本与影响范围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960120"/>
            <a:ext cx="310896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1005840"/>
            <a:ext cx="29809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执行选定检查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1298448"/>
            <a:ext cx="296265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代码测试／任务体验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环境与结果记录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9000" y="1627632"/>
            <a:ext cx="5029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40880" y="1627632"/>
            <a:ext cx="5029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0040" y="3337560"/>
            <a:ext cx="3108960" cy="132588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383280"/>
            <a:ext cx="29809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更新证据与下一步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3675887"/>
            <a:ext cx="296265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保留有效范围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定位剩余未知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3337560"/>
            <a:ext cx="3108960" cy="1325880"/>
          </a:xfrm>
          <a:prstGeom prst="rect">
            <a:avLst/>
          </a:prstGeom>
          <a:solidFill>
            <a:srgbClr val="FAF3E7"/>
          </a:solidFill>
          <a:ln w="12700">
            <a:solidFill>
              <a:srgbClr val="996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95928" y="3383280"/>
            <a:ext cx="29809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99651B"/>
                </a:solidFill>
                <a:latin typeface="Noto Sans CJK SC"/>
              </a:defRPr>
            </a:pPr>
            <a:r>
              <a:t>修复与必要复查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3675887"/>
            <a:ext cx="296265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产品／测试／环境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相关责任成员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3337560"/>
            <a:ext cx="310896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3383280"/>
            <a:ext cx="29809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解释结果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3675887"/>
            <a:ext cx="296265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通过：范围内成立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失败：区分问题来源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98280" y="2286000"/>
            <a:ext cx="0" cy="105156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040880" y="3995928"/>
            <a:ext cx="5029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429000" y="3995928"/>
            <a:ext cx="5029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74519" y="2788920"/>
            <a:ext cx="0" cy="54864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74519" y="2788920"/>
            <a:ext cx="3611881" cy="0"/>
          </a:xfrm>
          <a:prstGeom prst="line">
            <a:avLst/>
          </a:prstGeom>
          <a:ln w="13970">
            <a:solidFill>
              <a:srgbClr val="26756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486400" y="2286000"/>
            <a:ext cx="0" cy="502920"/>
          </a:xfrm>
          <a:prstGeom prst="line">
            <a:avLst/>
          </a:prstGeom>
          <a:ln w="13970">
            <a:solidFill>
              <a:srgbClr val="26756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14800" y="2514600"/>
            <a:ext cx="5989320" cy="274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756C"/>
                </a:solidFill>
                <a:latin typeface="Noto Sans CJK SC"/>
              </a:defRPr>
            </a:pPr>
            <a:r>
              <a:t>按新证据调整；无需为其他无关变化反复重跑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工作投影：真实对象、生成表达与操作回传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43200" cy="35661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51560"/>
            <a:ext cx="26151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工作语义与状态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44168"/>
            <a:ext cx="2596896" cy="31821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目标／模块／协议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任务／依赖／责任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版本／证据／结果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稳定对象标识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各状态的实际来源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005840"/>
            <a:ext cx="2743200" cy="14630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41648" y="1051560"/>
            <a:ext cx="26151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投影生成过程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1344168"/>
            <a:ext cx="2596896" cy="10789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人的当前问题与熟悉程度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选择信息、粒度与媒体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模板与表达经验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005840"/>
            <a:ext cx="3017520" cy="146304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051560"/>
            <a:ext cx="28895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可理解的界面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1344168"/>
            <a:ext cx="2871216" cy="10789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结构／演示／比较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重点＋逐步深入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来源与状态可查看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3246120"/>
            <a:ext cx="274320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3291840"/>
            <a:ext cx="26151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动作解析与结果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3584448"/>
            <a:ext cx="259689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对象＋参数＋预期作用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执行后读取真实状态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3246120"/>
            <a:ext cx="3017520" cy="132588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3291840"/>
            <a:ext cx="288950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人的直接参与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3584448"/>
            <a:ext cx="287121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体验、标注、选择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提出新的约束与问题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" y="1737360"/>
            <a:ext cx="914399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20840" y="1737360"/>
            <a:ext cx="91440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144000" y="2468880"/>
            <a:ext cx="0" cy="77724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720840" y="3904487"/>
            <a:ext cx="91440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063240" y="3904487"/>
            <a:ext cx="914399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349240" y="2468880"/>
            <a:ext cx="0" cy="777240"/>
          </a:xfrm>
          <a:prstGeom prst="line">
            <a:avLst/>
          </a:prstGeom>
          <a:ln w="13970">
            <a:solidFill>
              <a:srgbClr val="26756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架构理解指南：层次展开与协议探索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6309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859536"/>
            <a:ext cx="6199632" cy="3995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93192" y="859536"/>
            <a:ext cx="616305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系统 &gt; 任务服务 &gt; 取消协议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943600" cy="91440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71600"/>
            <a:ext cx="58155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顶层：任务平台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64208"/>
            <a:ext cx="5797296" cy="53035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界面、任务服务、执行器、结果存储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74720" y="2240280"/>
            <a:ext cx="0" cy="27432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02920" y="2560320"/>
            <a:ext cx="1783080" cy="8686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06040"/>
            <a:ext cx="16550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请求处理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898648"/>
            <a:ext cx="1636776" cy="4846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权限／幂等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560320"/>
            <a:ext cx="1783080" cy="8686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24328" y="2606040"/>
            <a:ext cx="16550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状态协调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2898648"/>
            <a:ext cx="1636776" cy="4846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接收／停止确认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560320"/>
            <a:ext cx="1783080" cy="8686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2606040"/>
            <a:ext cx="16550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执行适配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898648"/>
            <a:ext cx="1636776" cy="4846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实际停止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2990088"/>
            <a:ext cx="2743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43400" y="2990088"/>
            <a:ext cx="32004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02920" y="3840480"/>
            <a:ext cx="5943600" cy="731520"/>
          </a:xfrm>
          <a:prstGeom prst="rect">
            <a:avLst/>
          </a:prstGeom>
          <a:solidFill>
            <a:srgbClr val="FAF3E7"/>
          </a:solidFill>
          <a:ln w="12700">
            <a:solidFill>
              <a:srgbClr val="996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" y="3877056"/>
            <a:ext cx="5833872" cy="6583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9651B"/>
                </a:solidFill>
                <a:latin typeface="Noto Sans CJK SC"/>
              </a:defRPr>
            </a:pPr>
            <a:r>
              <a:t>关联改进：请求接收与实际停止分别呈现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822960"/>
            <a:ext cx="3611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859536"/>
            <a:ext cx="3502152" cy="39959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7114032" y="859536"/>
            <a:ext cx="346557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点击协议：用具体过程解释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1371600"/>
            <a:ext cx="1417320" cy="548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624" y="1408176"/>
            <a:ext cx="1307592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任务服务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371600"/>
            <a:ext cx="1417320" cy="548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1704" y="1408176"/>
            <a:ext cx="1307592" cy="4754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执行器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7848" y="2011680"/>
            <a:ext cx="0" cy="251460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10928" y="2011680"/>
            <a:ext cx="0" cy="251460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27848" y="2377440"/>
            <a:ext cx="178308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09560" y="2103120"/>
            <a:ext cx="1874519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停止请求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27848" y="3017520"/>
            <a:ext cx="178308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09560" y="2743200"/>
            <a:ext cx="1874519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请求已接收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927848" y="3886200"/>
            <a:ext cx="178308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09560" y="3611880"/>
            <a:ext cx="1874519" cy="2560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停止已确认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Workbench 示例：体验结果、解释机制、直接反馈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0332720" cy="502920"/>
          </a:xfrm>
          <a:prstGeom prst="rect">
            <a:avLst/>
          </a:prstGeom>
          <a:solidFill>
            <a:srgbClr val="F3F4F5"/>
          </a:solidFill>
          <a:ln w="12700">
            <a:solidFill>
              <a:srgbClr val="26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859536"/>
            <a:ext cx="10222992" cy="4297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63442"/>
                </a:solidFill>
                <a:latin typeface="Noto Sans CJK SC"/>
              </a:defRPr>
            </a:pPr>
            <a:r>
              <a:t>任务平台  /  运行中的任务  /  取消体验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545336"/>
            <a:ext cx="1901952" cy="33101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93192" y="1545336"/>
            <a:ext cx="186537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导航与关注点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645920" cy="237744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功能体验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架构与协议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本次变化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验证范围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508760"/>
            <a:ext cx="4846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1545336"/>
            <a:ext cx="4736592" cy="33101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2633472" y="1545336"/>
            <a:ext cx="470001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任务 A：模拟演示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011680"/>
            <a:ext cx="4389120" cy="7772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2048256"/>
            <a:ext cx="4279392" cy="7040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运行中 → 请求已接收 → 停止已确认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108960"/>
            <a:ext cx="1280160" cy="5029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43784" y="3145536"/>
            <a:ext cx="1170432" cy="4297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启动任务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108960"/>
            <a:ext cx="1280160" cy="5029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8264" y="3145536"/>
            <a:ext cx="1170432" cy="4297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请求取消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3108960"/>
            <a:ext cx="1280160" cy="50292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52744" y="3145536"/>
            <a:ext cx="1170432" cy="4297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重置演示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886200"/>
            <a:ext cx="4389120" cy="6858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0">
                <a:solidFill>
                  <a:srgbClr val="263442"/>
                </a:solidFill>
                <a:latin typeface="Noto Sans CJK SC"/>
              </a:defRPr>
            </a:pPr>
            <a:r>
              <a:t>观察：资源释放完成后确认停止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68" b="0">
                <a:solidFill>
                  <a:srgbClr val="263442"/>
                </a:solidFill>
                <a:latin typeface="Noto Sans CJK SC"/>
              </a:defRPr>
            </a:pPr>
            <a:r>
              <a:t>可保留的输出在结果区继续查看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1508760"/>
            <a:ext cx="3017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545336"/>
            <a:ext cx="2907792" cy="33101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708392" y="1545336"/>
            <a:ext cx="287121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机制与证据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1965960"/>
            <a:ext cx="2651760" cy="141732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协议：取消请求／停止确认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证据：关联的测试与记录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范围：正常／重复／并发取消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3611880"/>
            <a:ext cx="2651760" cy="86868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7" y="3657600"/>
            <a:ext cx="25237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在此步骤反馈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3950208"/>
            <a:ext cx="2505456" cy="4846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“接收请求后应显示等待状态”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六类表达指南：按人的理解任务选择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14400"/>
            <a:ext cx="3200400" cy="1691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60120"/>
            <a:ext cx="30723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系统结构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52728"/>
            <a:ext cx="3054096" cy="1307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全貌 → 模块 → 协议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标注职责／查看影响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914400"/>
            <a:ext cx="3200400" cy="169164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960120"/>
            <a:ext cx="30723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功能体验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2" y="1252728"/>
            <a:ext cx="3054096" cy="1307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任务 → 操作 → 结果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尝试行为／反馈步骤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914400"/>
            <a:ext cx="3200400" cy="1691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960120"/>
            <a:ext cx="30723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运行机制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252728"/>
            <a:ext cx="3054096" cy="1307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状态 → 事件 → 分支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调整条件／暂停观察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17520"/>
            <a:ext cx="3200400" cy="169164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063240"/>
            <a:ext cx="30723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方案比较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3355848"/>
            <a:ext cx="3054096" cy="1307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同一场景 → 候选差异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补充约束／选择方案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3017520"/>
            <a:ext cx="3200400" cy="169164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3063240"/>
            <a:ext cx="30723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阶段进展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3355848"/>
            <a:ext cx="3054096" cy="1307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近期变化 → 成果与阻塞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体验成果／调整关注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3017520"/>
            <a:ext cx="3200400" cy="169164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3063240"/>
            <a:ext cx="307238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未来演化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3355848"/>
            <a:ext cx="3054096" cy="130759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当前系统 → 拟议路径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调整优先级／查看依赖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构造案例：取消请求与完成事件的竞争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828800" cy="5943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859536"/>
            <a:ext cx="1719072" cy="521207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用户界面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1463040"/>
            <a:ext cx="0" cy="338328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063240" y="822960"/>
            <a:ext cx="1828800" cy="5943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859536"/>
            <a:ext cx="1719072" cy="521207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任务状态服务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1463040"/>
            <a:ext cx="0" cy="338328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06440" y="822960"/>
            <a:ext cx="1828800" cy="5943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61304" y="859536"/>
            <a:ext cx="1719072" cy="521207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执行器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20840" y="1463040"/>
            <a:ext cx="0" cy="338328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823960" y="822960"/>
            <a:ext cx="1828800" cy="5943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8824" y="859536"/>
            <a:ext cx="1719072" cy="521207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资源／结果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38360" y="1463040"/>
            <a:ext cx="0" cy="338328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34440" y="1874519"/>
            <a:ext cx="2743199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25880" y="1618488"/>
            <a:ext cx="2560320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提交取消请求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234440" y="2423160"/>
            <a:ext cx="2743199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25880" y="2167128"/>
            <a:ext cx="2560320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请求已接收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77639" y="2971800"/>
            <a:ext cx="2743201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69080" y="2715768"/>
            <a:ext cx="2560320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转发停止意图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20840" y="3520440"/>
            <a:ext cx="30175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12280" y="3264408"/>
            <a:ext cx="2834640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释放资源／保留输出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977639" y="4069080"/>
            <a:ext cx="2743201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69080" y="3813048"/>
            <a:ext cx="2560320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终态确认与版本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234440" y="4617720"/>
            <a:ext cx="2743199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25880" y="4361688"/>
            <a:ext cx="2560320" cy="24688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263442"/>
                </a:solidFill>
                <a:latin typeface="Noto Sans CJK SC"/>
              </a:defRPr>
            </a:pPr>
            <a:r>
              <a:t>显示实际终态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737360"/>
            <a:ext cx="3611880" cy="86868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96" b="0">
                <a:solidFill>
                  <a:srgbClr val="99651B"/>
                </a:solidFill>
                <a:latin typeface="Noto Sans CJK SC"/>
              </a:defRPr>
            </a:pPr>
            <a:r>
              <a:t>并发分支：完成事件可能先到达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96" b="0">
                <a:solidFill>
                  <a:srgbClr val="99651B"/>
                </a:solidFill>
                <a:latin typeface="Noto Sans CJK SC"/>
              </a:defRPr>
            </a:pPr>
            <a:r>
              <a:t>状态服务核对实际终态与版本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96" b="0">
                <a:solidFill>
                  <a:srgbClr val="99651B"/>
                </a:solidFill>
                <a:latin typeface="Noto Sans CJK SC"/>
              </a:defRPr>
            </a:pPr>
            <a:r>
              <a:t>界面据此说明结果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完整工作示例：从目标进入下一轮变化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37744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意图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98448"/>
            <a:ext cx="223113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用户需要确认任务停止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1627632"/>
            <a:ext cx="2743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971800" y="960120"/>
            <a:ext cx="237744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00584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1298448"/>
            <a:ext cx="223113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状态／执行／界面职责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49240" y="1627632"/>
            <a:ext cx="2743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23560" y="960120"/>
            <a:ext cx="237744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100584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1298448"/>
            <a:ext cx="223113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契约＋局部修改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1000" y="1627632"/>
            <a:ext cx="27432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75320" y="960120"/>
            <a:ext cx="2377440" cy="132588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00584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1298448"/>
            <a:ext cx="2231136" cy="94183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实际内容与定向证据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3246120"/>
            <a:ext cx="2377440" cy="1417320"/>
          </a:xfrm>
          <a:prstGeom prst="rect">
            <a:avLst/>
          </a:prstGeom>
          <a:solidFill>
            <a:srgbClr val="FAF3E7"/>
          </a:solidFill>
          <a:ln w="12700">
            <a:solidFill>
              <a:srgbClr val="996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7" y="329184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99651B"/>
                </a:solidFill>
                <a:latin typeface="Noto Sans CJK SC"/>
              </a:defRPr>
            </a:pPr>
            <a:r>
              <a:t>TAU 发现问题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584448"/>
            <a:ext cx="223113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等待状态缺少说明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刷新后才看到终态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3246120"/>
            <a:ext cx="2377440" cy="1417320"/>
          </a:xfrm>
          <a:prstGeom prst="rect">
            <a:avLst/>
          </a:prstGeom>
          <a:solidFill>
            <a:srgbClr val="FAF3E7"/>
          </a:solidFill>
          <a:ln w="12700">
            <a:solidFill>
              <a:srgbClr val="9965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329184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99651B"/>
                </a:solidFill>
                <a:latin typeface="Noto Sans CJK SC"/>
              </a:defRPr>
            </a:pPr>
            <a:r>
              <a:t>回到相关职责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6712" y="3584448"/>
            <a:ext cx="223113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补充等待与状态更新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复查体验路径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246120"/>
            <a:ext cx="2377440" cy="141732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35808" y="329184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展示与反馈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4952" y="3584448"/>
            <a:ext cx="223113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人体验新的状态演示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提出保留中间结果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46120"/>
            <a:ext cx="2377440" cy="141732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291840"/>
            <a:ext cx="224942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下一轮意图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" y="3584448"/>
            <a:ext cx="2231136" cy="1033271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更新输出保留契约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复用有效验证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64040" y="2286000"/>
            <a:ext cx="0" cy="96012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001000" y="3950208"/>
            <a:ext cx="27432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349240" y="3950208"/>
            <a:ext cx="27432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697480" y="3950208"/>
            <a:ext cx="274320" cy="0"/>
          </a:xfrm>
          <a:prstGeom prst="line">
            <a:avLst/>
          </a:prstGeom>
          <a:ln w="13970">
            <a:solidFill>
              <a:srgbClr val="26756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508760" y="2286000"/>
            <a:ext cx="0" cy="960120"/>
          </a:xfrm>
          <a:prstGeom prst="line">
            <a:avLst/>
          </a:prstGeom>
          <a:ln w="13970">
            <a:solidFill>
              <a:srgbClr val="26756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评价设计：多轮变化、对照与独立核对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3108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" y="905256"/>
            <a:ext cx="2999232" cy="39502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93192" y="905256"/>
            <a:ext cx="296265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比较条件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743200" cy="28803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单 Agent 基线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模块组织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组织＋持续经验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组织＋交互投影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相同初始代码与任务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63442"/>
                </a:solidFill>
                <a:latin typeface="Noto Sans CJK SC"/>
              </a:defRPr>
            </a:pPr>
            <a:r>
              <a:t>记录模型、预算、工具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868680"/>
            <a:ext cx="3108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5344" y="905256"/>
            <a:ext cx="2999232" cy="39502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913632" y="905256"/>
            <a:ext cx="296265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连续任务序列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371600"/>
            <a:ext cx="2651760" cy="566928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23944" y="1408176"/>
            <a:ext cx="254203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新增能力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1938528"/>
            <a:ext cx="0" cy="210312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069080" y="2148840"/>
            <a:ext cx="2651760" cy="566928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3944" y="2185416"/>
            <a:ext cx="254203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跨模块需求变化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4960" y="2715768"/>
            <a:ext cx="0" cy="210312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069080" y="2926080"/>
            <a:ext cx="2651760" cy="566928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23944" y="2962656"/>
            <a:ext cx="254203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故障诊断与修复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94960" y="3493008"/>
            <a:ext cx="0" cy="210312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069080" y="3703320"/>
            <a:ext cx="2651760" cy="566928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23944" y="3739896"/>
            <a:ext cx="2542032" cy="493776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75D85"/>
                </a:solidFill>
                <a:latin typeface="Noto Sans CJK SC"/>
              </a:defRPr>
            </a:pPr>
            <a:r>
              <a:t>后续维护与交接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868680"/>
            <a:ext cx="32918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5783" y="905256"/>
            <a:ext cx="3182112" cy="39502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434072" y="905256"/>
            <a:ext cx="314553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共同评价维度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371600"/>
            <a:ext cx="2880360" cy="288036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任务结果与使用质量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修改的传播与返工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交付及修复时间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人类理解与决策时间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模型和工具资源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固定检查＋人类任务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39" b="0">
                <a:solidFill>
                  <a:srgbClr val="263442"/>
                </a:solidFill>
                <a:latin typeface="Noto Sans CJK SC"/>
              </a:defRPr>
            </a:pPr>
            <a:r>
              <a:t>记录失败与未完成项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29000" y="2880360"/>
            <a:ext cx="41148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49440" y="2880360"/>
            <a:ext cx="41148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137160"/>
            <a:ext cx="10460736" cy="33832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275D85"/>
                </a:solidFill>
                <a:latin typeface="Noto Sans CJK SC"/>
              </a:defRPr>
            </a:pPr>
            <a:r>
              <a:t>表达投入的价值：资源分配与可观察收益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6032" y="566928"/>
            <a:ext cx="10460736" cy="0"/>
          </a:xfrm>
          <a:prstGeom prst="line">
            <a:avLst/>
          </a:prstGeom>
          <a:ln w="13970">
            <a:solidFill>
              <a:srgbClr val="91A2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5193792"/>
            <a:ext cx="10424160" cy="20116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36" b="0">
                <a:solidFill>
                  <a:srgbClr val="61717E"/>
                </a:solidFill>
                <a:latin typeface="Noto Sans CJK SC"/>
              </a:defRPr>
            </a:pPr>
            <a:r>
              <a:t>设计示意 · 实线：工作或依赖关系；虚线：反馈或关联；不表示实验测量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80360" cy="15087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05840"/>
            <a:ext cx="27523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资源投入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298448"/>
            <a:ext cx="2734056" cy="11247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代码实现与修复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验证、协调与记忆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面向人的表达与交互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960120"/>
            <a:ext cx="2880360" cy="1508760"/>
          </a:xfrm>
          <a:prstGeom prst="rect">
            <a:avLst/>
          </a:prstGeom>
          <a:solidFill>
            <a:srgbClr val="EDF5F1"/>
          </a:solidFill>
          <a:ln w="12700">
            <a:solidFill>
              <a:srgbClr val="2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87368" y="1005840"/>
            <a:ext cx="275234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6756C"/>
                </a:solidFill>
                <a:latin typeface="Noto Sans CJK SC"/>
              </a:defRPr>
            </a:pPr>
            <a:r>
              <a:t>可能产生的收益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1298448"/>
            <a:ext cx="2734056" cy="11247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更快建立理解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更准确表达偏好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更早发现方向偏差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960120"/>
            <a:ext cx="2926080" cy="1508760"/>
          </a:xfrm>
          <a:prstGeom prst="rect">
            <a:avLst/>
          </a:prstGeom>
          <a:solidFill>
            <a:srgbClr val="EFF4F8"/>
          </a:solidFill>
          <a:ln w="12700">
            <a:solidFill>
              <a:srgbClr val="275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1005840"/>
            <a:ext cx="2798064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需要共同观察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1298448"/>
            <a:ext cx="2779776" cy="1124712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人的时间与任务正确性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后续误解与返工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263442"/>
                </a:solidFill>
                <a:latin typeface="Noto Sans CJK SC"/>
              </a:defRPr>
            </a:pPr>
            <a:r>
              <a:t>总费用与交付时间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1719072"/>
            <a:ext cx="822960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03720" y="1719072"/>
            <a:ext cx="822959" cy="0"/>
          </a:xfrm>
          <a:prstGeom prst="line">
            <a:avLst/>
          </a:prstGeom>
          <a:ln w="13970">
            <a:solidFill>
              <a:srgbClr val="275D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0040" y="3108960"/>
            <a:ext cx="10332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1A2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3145536"/>
            <a:ext cx="10222992" cy="1664208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91A2AE"/>
                </a:solidFill>
                <a:latin typeface="Noto Sans CJK SC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93192" y="3145536"/>
            <a:ext cx="10186416" cy="283464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75D85"/>
                </a:solidFill>
                <a:latin typeface="Noto Sans CJK SC"/>
              </a:defRPr>
            </a:pPr>
            <a:r>
              <a:t>研究假设与判定条件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11880"/>
            <a:ext cx="9784080" cy="914400"/>
          </a:xfrm>
          <a:prstGeom prst="rect">
            <a:avLst/>
          </a:prstGeom>
          <a:noFill/>
        </p:spPr>
        <p:txBody>
          <a:bodyPr wrap="none" lIns="18288" rIns="18288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84" b="0">
                <a:solidFill>
                  <a:srgbClr val="263442"/>
                </a:solidFill>
                <a:latin typeface="Noto Sans CJK SC"/>
              </a:defRPr>
            </a:pPr>
            <a:r>
              <a:t>展示与交互的 token 消耗可能接近代码生成；比例需随任务观察。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84" b="0">
                <a:solidFill>
                  <a:srgbClr val="263442"/>
                </a:solidFill>
                <a:latin typeface="Noto Sans CJK SC"/>
              </a:defRPr>
            </a:pPr>
            <a:r>
              <a:t>投入增加是否值得，取决于人的理解、控制质量与后续工程结果。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84" b="0">
                <a:solidFill>
                  <a:srgbClr val="263442"/>
                </a:solidFill>
                <a:latin typeface="Noto Sans CJK SC"/>
              </a:defRPr>
            </a:pPr>
            <a:r>
              <a:t>复用模板、局部更新与按需生成可改变成本，不设置固定预算比例。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