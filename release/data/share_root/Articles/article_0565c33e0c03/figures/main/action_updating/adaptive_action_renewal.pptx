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66240" cy="155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C8D99B-344A-4C8E-9A98-ED8AAF2A19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66240" cy="155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8960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4288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80D698-65A5-47FA-B0EE-7431BD246B8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4288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7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83320" y="173880"/>
            <a:ext cx="9499680" cy="31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  Further updating is tested from acquired bodies, not stable forms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83320" y="448200"/>
            <a:ext cx="93715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Three origins · stripe histories shown · initial M = 24, E = 14.4 EU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86240" y="694800"/>
            <a:ext cx="11419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Compact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786240" y="951120"/>
            <a:ext cx="1004760" cy="1004760"/>
          </a:xfrm>
          <a:prstGeom prst="rect">
            <a:avLst/>
          </a:prstGeom>
          <a:ln w="0">
            <a:noFill/>
          </a:ln>
        </p:spPr>
      </p:pic>
      <p:pic>
        <p:nvPicPr>
          <p:cNvPr id="11" name="" descr=""/>
          <p:cNvPicPr/>
          <p:nvPr/>
        </p:nvPicPr>
        <p:blipFill>
          <a:blip r:embed="rId2"/>
          <a:stretch/>
        </p:blipFill>
        <p:spPr>
          <a:xfrm>
            <a:off x="786240" y="2030040"/>
            <a:ext cx="1004760" cy="1004760"/>
          </a:xfrm>
          <a:prstGeom prst="rect">
            <a:avLst/>
          </a:prstGeom>
          <a:ln w="0">
            <a:noFill/>
          </a:ln>
        </p:spPr>
      </p:pic>
      <p:sp>
        <p:nvSpPr>
          <p:cNvPr id="12" name=""/>
          <p:cNvSpPr/>
          <p:nvPr/>
        </p:nvSpPr>
        <p:spPr>
          <a:xfrm>
            <a:off x="1956960" y="694800"/>
            <a:ext cx="11419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Bilobed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" descr=""/>
          <p:cNvPicPr/>
          <p:nvPr/>
        </p:nvPicPr>
        <p:blipFill>
          <a:blip r:embed="rId3"/>
          <a:stretch/>
        </p:blipFill>
        <p:spPr>
          <a:xfrm>
            <a:off x="1956960" y="951120"/>
            <a:ext cx="1004760" cy="1004760"/>
          </a:xfrm>
          <a:prstGeom prst="rect">
            <a:avLst/>
          </a:prstGeom>
          <a:ln w="0">
            <a:noFill/>
          </a:ln>
        </p:spPr>
      </p:pic>
      <p:pic>
        <p:nvPicPr>
          <p:cNvPr id="14" name="" descr=""/>
          <p:cNvPicPr/>
          <p:nvPr/>
        </p:nvPicPr>
        <p:blipFill>
          <a:blip r:embed="rId4"/>
          <a:stretch/>
        </p:blipFill>
        <p:spPr>
          <a:xfrm>
            <a:off x="1956960" y="2030040"/>
            <a:ext cx="1004760" cy="1004760"/>
          </a:xfrm>
          <a:prstGeom prst="rect">
            <a:avLst/>
          </a:prstGeom>
          <a:ln w="0">
            <a:noFill/>
          </a:ln>
        </p:spPr>
      </p:pic>
      <p:sp>
        <p:nvSpPr>
          <p:cNvPr id="15" name=""/>
          <p:cNvSpPr/>
          <p:nvPr/>
        </p:nvSpPr>
        <p:spPr>
          <a:xfrm>
            <a:off x="3127320" y="694800"/>
            <a:ext cx="11419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Annular*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5"/>
          <a:stretch/>
        </p:blipFill>
        <p:spPr>
          <a:xfrm>
            <a:off x="3127320" y="951120"/>
            <a:ext cx="1004760" cy="1004760"/>
          </a:xfrm>
          <a:prstGeom prst="rect">
            <a:avLst/>
          </a:prstGeom>
          <a:ln w="0">
            <a:noFill/>
          </a:ln>
        </p:spPr>
      </p:pic>
      <p:pic>
        <p:nvPicPr>
          <p:cNvPr id="17" name="" descr=""/>
          <p:cNvPicPr/>
          <p:nvPr/>
        </p:nvPicPr>
        <p:blipFill>
          <a:blip r:embed="rId6"/>
          <a:stretch/>
        </p:blipFill>
        <p:spPr>
          <a:xfrm>
            <a:off x="3127320" y="2030040"/>
            <a:ext cx="1004760" cy="1004760"/>
          </a:xfrm>
          <a:prstGeom prst="rect">
            <a:avLst/>
          </a:prstGeom>
          <a:ln w="0">
            <a:noFill/>
          </a:ln>
        </p:spPr>
      </p:pic>
      <p:sp>
        <p:nvSpPr>
          <p:cNvPr id="18" name=""/>
          <p:cNvSpPr/>
          <p:nvPr/>
        </p:nvSpPr>
        <p:spPr>
          <a:xfrm>
            <a:off x="228600" y="1197720"/>
            <a:ext cx="5565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55520" y="2331720"/>
            <a:ext cx="60228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585360" y="3035880"/>
            <a:ext cx="37753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Fixed windows; lower row wraps across y = 0.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4572000" y="713160"/>
            <a:ext cx="5073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Complete acquired state at 512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4572000" y="1024200"/>
            <a:ext cx="5073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Body + reserves + carried controller fields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614920" y="1257120"/>
            <a:ext cx="1441800" cy="256320"/>
          </a:xfrm>
          <a:custGeom>
            <a:avLst/>
            <a:gdLst>
              <a:gd name="textAreaLeft" fmla="*/ 0 w 1441800"/>
              <a:gd name="textAreaRight" fmla="*/ 1442880 w 1441800"/>
              <a:gd name="textAreaTop" fmla="*/ 0 h 256320"/>
              <a:gd name="textAreaBottom" fmla="*/ 257400 h 256320"/>
            </a:gdLst>
            <a:ahLst/>
            <a:rect l="textAreaLeft" t="textAreaTop" r="textAreaRight" b="textAreaBottom"/>
            <a:pathLst>
              <a:path fill="none" w="4008" h="715">
                <a:moveTo>
                  <a:pt x="4008" y="0"/>
                </a:moveTo>
                <a:lnTo>
                  <a:pt x="4008" y="397"/>
                </a:lnTo>
                <a:lnTo>
                  <a:pt x="0" y="397"/>
                </a:lnTo>
                <a:lnTo>
                  <a:pt x="0" y="715"/>
                </a:lnTo>
              </a:path>
            </a:pathLst>
          </a:custGeom>
          <a:noFill/>
          <a:ln w="900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>
            <a:off x="7057800" y="1400040"/>
            <a:ext cx="1470600" cy="113400"/>
          </a:xfrm>
          <a:custGeom>
            <a:avLst/>
            <a:gdLst>
              <a:gd name="textAreaLeft" fmla="*/ 0 w 1470600"/>
              <a:gd name="textAreaRight" fmla="*/ 1471680 w 1470600"/>
              <a:gd name="textAreaTop" fmla="*/ 0 h 113400"/>
              <a:gd name="textAreaBottom" fmla="*/ 114480 h 113400"/>
            </a:gdLst>
            <a:ahLst/>
            <a:rect l="textAreaLeft" t="textAreaTop" r="textAreaRight" b="textAreaBottom"/>
            <a:pathLst>
              <a:path fill="none" w="4088" h="318">
                <a:moveTo>
                  <a:pt x="0" y="0"/>
                </a:moveTo>
                <a:lnTo>
                  <a:pt x="4088" y="0"/>
                </a:lnTo>
                <a:lnTo>
                  <a:pt x="4088" y="318"/>
                </a:lnTo>
              </a:path>
            </a:pathLst>
          </a:custGeom>
          <a:noFill/>
          <a:ln w="900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4599360" y="1545480"/>
            <a:ext cx="24768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Unchanged future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7269480" y="1545480"/>
            <a:ext cx="25135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Jointly changed future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599360" y="1810440"/>
            <a:ext cx="24404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Same resource position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Continuous access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7269480" y="1810440"/>
            <a:ext cx="24404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Stock / support: +8 x cells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Open 16/64, then 16/128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No replenishment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4599360" y="2496240"/>
            <a:ext cx="5073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 each future: update θ  vs  no new θ increments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4599360" y="2752200"/>
            <a:ext cx="5073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Critic, recent food and m/z continue in both.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Run / brake, no T controller; brake is not immobility.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283320" y="3273480"/>
            <a:ext cx="93715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*Annular has different fixed physical rules. First stripe phase: bilobed ΔE = −3.672 EU (update − control).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285480" y="3543120"/>
            <a:ext cx="9501480" cy="360"/>
          </a:xfrm>
          <a:prstGeom prst="line">
            <a:avLst/>
          </a:prstGeom>
          <a:ln w="0">
            <a:solidFill>
              <a:srgbClr val="bbbbb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283320" y="3611880"/>
            <a:ext cx="9371520" cy="85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  More tissue remains, while uptake stalls and reserves run down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283320" y="3886200"/>
            <a:ext cx="63997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Compact receiver · shifted stock + pulsed access · actions 513–1024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843600" y="4029120"/>
            <a:ext cx="243000" cy="360"/>
          </a:xfrm>
          <a:prstGeom prst="line">
            <a:avLst/>
          </a:prstGeom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7086600" y="3904560"/>
            <a:ext cx="93168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Update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8286480" y="4029120"/>
            <a:ext cx="243000" cy="360"/>
          </a:xfrm>
          <a:prstGeom prst="line">
            <a:avLst/>
          </a:prstGeom>
          <a:ln w="18360">
            <a:solidFill>
              <a:srgbClr val="be61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8531280" y="3904560"/>
            <a:ext cx="12517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 increment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40080" y="4206240"/>
            <a:ext cx="1077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883520" y="4206240"/>
            <a:ext cx="1077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768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3127320" y="4206240"/>
            <a:ext cx="1077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1024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40080" y="4462200"/>
            <a:ext cx="1077840" cy="107784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883520" y="4462200"/>
            <a:ext cx="1077840" cy="107784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3127320" y="4462200"/>
            <a:ext cx="1077840" cy="107784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21720" y="5504760"/>
            <a:ext cx="37753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Update · fixed x6–29, y26–31 / 0–17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40080" y="5715000"/>
            <a:ext cx="1077840" cy="10778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883520" y="5715000"/>
            <a:ext cx="1077840" cy="107784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2"/>
          <a:stretch/>
        </p:blipFill>
        <p:spPr>
          <a:xfrm>
            <a:off x="3127320" y="5715000"/>
            <a:ext cx="1077840" cy="1077840"/>
          </a:xfrm>
          <a:prstGeom prst="rect">
            <a:avLst/>
          </a:prstGeom>
          <a:ln w="0">
            <a:noFill/>
          </a:ln>
        </p:spPr>
      </p:pic>
      <p:sp>
        <p:nvSpPr>
          <p:cNvPr id="49" name=""/>
          <p:cNvSpPr/>
          <p:nvPr/>
        </p:nvSpPr>
        <p:spPr>
          <a:xfrm>
            <a:off x="621720" y="6647760"/>
            <a:ext cx="37663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No increment · fixed x6–29, y26–31 / 0–17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85360" y="6867000"/>
            <a:ext cx="38484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Green: resource support begins at x22; right edge x30.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3"/>
          <a:stretch/>
        </p:blipFill>
        <p:spPr>
          <a:xfrm>
            <a:off x="676800" y="7123320"/>
            <a:ext cx="968040" cy="63000"/>
          </a:xfrm>
          <a:prstGeom prst="rect">
            <a:avLst/>
          </a:prstGeom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1673280" y="7013520"/>
            <a:ext cx="30531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ρ: 0–1.2 M/cell, √ scale (all fields)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5321880" y="4151520"/>
            <a:ext cx="43149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Tissue M (mass units)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5400720" y="4429080"/>
            <a:ext cx="3956400" cy="884880"/>
          </a:xfrm>
          <a:custGeom>
            <a:avLst/>
            <a:gdLst>
              <a:gd name="textAreaLeft" fmla="*/ 0 w 3956400"/>
              <a:gd name="textAreaRight" fmla="*/ 3957480 w 3956400"/>
              <a:gd name="textAreaTop" fmla="*/ 0 h 884880"/>
              <a:gd name="textAreaBottom" fmla="*/ 885960 h 884880"/>
            </a:gdLst>
            <a:ahLst/>
            <a:rect l="textAreaLeft" t="textAreaTop" r="textAreaRight" b="textAreaBottom"/>
            <a:pathLst>
              <a:path fill="none" w="10993" h="2461">
                <a:moveTo>
                  <a:pt x="0" y="0"/>
                </a:moveTo>
                <a:lnTo>
                  <a:pt x="0" y="2461"/>
                </a:lnTo>
                <a:lnTo>
                  <a:pt x="10993" y="2461"/>
                </a:lnTo>
              </a:path>
            </a:pathLst>
          </a:custGeom>
          <a:noFill/>
          <a:ln w="0">
            <a:solidFill>
              <a:srgbClr val="99999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>
            <a:off x="5038200" y="4361760"/>
            <a:ext cx="3373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111640" y="5230440"/>
            <a:ext cx="2822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5285160" y="534924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7269480" y="534924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768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9244440" y="534924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1024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400720" y="4443480"/>
            <a:ext cx="3956400" cy="427320"/>
          </a:xfrm>
          <a:custGeom>
            <a:avLst/>
            <a:gdLst>
              <a:gd name="textAreaLeft" fmla="*/ 0 w 3956400"/>
              <a:gd name="textAreaRight" fmla="*/ 3957480 w 3956400"/>
              <a:gd name="textAreaTop" fmla="*/ 0 h 427320"/>
              <a:gd name="textAreaBottom" fmla="*/ 428400 h 427320"/>
            </a:gdLst>
            <a:ahLst/>
            <a:rect l="textAreaLeft" t="textAreaTop" r="textAreaRight" b="textAreaBottom"/>
            <a:pathLst>
              <a:path fill="none" w="10993" h="1190">
                <a:moveTo>
                  <a:pt x="0" y="0"/>
                </a:moveTo>
                <a:lnTo>
                  <a:pt x="9247" y="39"/>
                </a:lnTo>
                <a:lnTo>
                  <a:pt x="9644" y="119"/>
                </a:lnTo>
                <a:lnTo>
                  <a:pt x="10001" y="278"/>
                </a:lnTo>
                <a:lnTo>
                  <a:pt x="10279" y="476"/>
                </a:lnTo>
                <a:lnTo>
                  <a:pt x="10993" y="1190"/>
                </a:lnTo>
              </a:path>
            </a:pathLst>
          </a:custGeom>
          <a:noFill/>
          <a:ln w="18360">
            <a:solidFill>
              <a:srgbClr val="be61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" name=""/>
          <p:cNvSpPr/>
          <p:nvPr/>
        </p:nvSpPr>
        <p:spPr>
          <a:xfrm>
            <a:off x="5400720" y="4443480"/>
            <a:ext cx="3957480" cy="360"/>
          </a:xfrm>
          <a:prstGeom prst="line">
            <a:avLst/>
          </a:prstGeom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5321880" y="5541120"/>
            <a:ext cx="43149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Stored E (EU)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400720" y="5815080"/>
            <a:ext cx="3956400" cy="884520"/>
          </a:xfrm>
          <a:custGeom>
            <a:avLst/>
            <a:gdLst>
              <a:gd name="textAreaLeft" fmla="*/ 0 w 3956400"/>
              <a:gd name="textAreaRight" fmla="*/ 3957480 w 3956400"/>
              <a:gd name="textAreaTop" fmla="*/ 0 h 884520"/>
              <a:gd name="textAreaBottom" fmla="*/ 885600 h 884520"/>
            </a:gdLst>
            <a:ahLst/>
            <a:rect l="textAreaLeft" t="textAreaTop" r="textAreaRight" b="textAreaBottom"/>
            <a:pathLst>
              <a:path fill="none" w="10993" h="2460">
                <a:moveTo>
                  <a:pt x="0" y="0"/>
                </a:moveTo>
                <a:lnTo>
                  <a:pt x="0" y="2460"/>
                </a:lnTo>
                <a:lnTo>
                  <a:pt x="10993" y="2460"/>
                </a:lnTo>
              </a:path>
            </a:pathLst>
          </a:custGeom>
          <a:noFill/>
          <a:ln w="0">
            <a:solidFill>
              <a:srgbClr val="99999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"/>
          <p:cNvSpPr/>
          <p:nvPr/>
        </p:nvSpPr>
        <p:spPr>
          <a:xfrm>
            <a:off x="5038200" y="5742360"/>
            <a:ext cx="3373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40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111640" y="6611040"/>
            <a:ext cx="2822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285160" y="673920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269480" y="673920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768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9244440" y="673920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1024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400720" y="5815080"/>
            <a:ext cx="3956400" cy="884520"/>
          </a:xfrm>
          <a:custGeom>
            <a:avLst/>
            <a:gdLst>
              <a:gd name="textAreaLeft" fmla="*/ 0 w 3956400"/>
              <a:gd name="textAreaRight" fmla="*/ 3957480 w 3956400"/>
              <a:gd name="textAreaTop" fmla="*/ 0 h 884520"/>
              <a:gd name="textAreaBottom" fmla="*/ 885600 h 884520"/>
            </a:gdLst>
            <a:ahLst/>
            <a:rect l="textAreaLeft" t="textAreaTop" r="textAreaRight" b="textAreaBottom"/>
            <a:pathLst>
              <a:path fill="none" w="10993" h="2460">
                <a:moveTo>
                  <a:pt x="0" y="79"/>
                </a:moveTo>
                <a:lnTo>
                  <a:pt x="357" y="0"/>
                </a:lnTo>
                <a:lnTo>
                  <a:pt x="1389" y="317"/>
                </a:lnTo>
                <a:lnTo>
                  <a:pt x="1706" y="317"/>
                </a:lnTo>
                <a:lnTo>
                  <a:pt x="2738" y="595"/>
                </a:lnTo>
                <a:lnTo>
                  <a:pt x="3095" y="674"/>
                </a:lnTo>
                <a:lnTo>
                  <a:pt x="6865" y="1587"/>
                </a:lnTo>
                <a:lnTo>
                  <a:pt x="9961" y="2381"/>
                </a:lnTo>
                <a:lnTo>
                  <a:pt x="10437" y="2421"/>
                </a:lnTo>
                <a:lnTo>
                  <a:pt x="10993" y="2460"/>
                </a:lnTo>
              </a:path>
            </a:pathLst>
          </a:custGeom>
          <a:noFill/>
          <a:ln w="18360">
            <a:solidFill>
              <a:srgbClr val="be61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>
            <a:off x="5400720" y="5815080"/>
            <a:ext cx="3956400" cy="798840"/>
          </a:xfrm>
          <a:custGeom>
            <a:avLst/>
            <a:gdLst>
              <a:gd name="textAreaLeft" fmla="*/ 0 w 3956400"/>
              <a:gd name="textAreaRight" fmla="*/ 3957480 w 3956400"/>
              <a:gd name="textAreaTop" fmla="*/ 0 h 798840"/>
              <a:gd name="textAreaBottom" fmla="*/ 799920 h 798840"/>
            </a:gdLst>
            <a:ahLst/>
            <a:rect l="textAreaLeft" t="textAreaTop" r="textAreaRight" b="textAreaBottom"/>
            <a:pathLst>
              <a:path fill="none" w="10993" h="2222">
                <a:moveTo>
                  <a:pt x="0" y="79"/>
                </a:moveTo>
                <a:lnTo>
                  <a:pt x="357" y="0"/>
                </a:lnTo>
                <a:lnTo>
                  <a:pt x="1389" y="317"/>
                </a:lnTo>
                <a:lnTo>
                  <a:pt x="1706" y="317"/>
                </a:lnTo>
                <a:lnTo>
                  <a:pt x="2738" y="555"/>
                </a:lnTo>
                <a:lnTo>
                  <a:pt x="3095" y="595"/>
                </a:lnTo>
                <a:lnTo>
                  <a:pt x="10993" y="2222"/>
                </a:lnTo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5285160" y="6885360"/>
            <a:ext cx="44247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At 1024: M 23.46 / 12.00; E 3.516 / 0.021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40080" y="7306200"/>
            <a:ext cx="39949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Tissue in resource support (M)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14240" y="7572240"/>
            <a:ext cx="3642120" cy="870480"/>
          </a:xfrm>
          <a:custGeom>
            <a:avLst/>
            <a:gdLst>
              <a:gd name="textAreaLeft" fmla="*/ 0 w 3642120"/>
              <a:gd name="textAreaRight" fmla="*/ 3643200 w 3642120"/>
              <a:gd name="textAreaTop" fmla="*/ 0 h 870480"/>
              <a:gd name="textAreaBottom" fmla="*/ 871560 h 870480"/>
            </a:gdLst>
            <a:ahLst/>
            <a:rect l="textAreaLeft" t="textAreaTop" r="textAreaRight" b="textAreaBottom"/>
            <a:pathLst>
              <a:path fill="none" w="10120" h="2421">
                <a:moveTo>
                  <a:pt x="0" y="0"/>
                </a:moveTo>
                <a:lnTo>
                  <a:pt x="0" y="2421"/>
                </a:lnTo>
                <a:lnTo>
                  <a:pt x="10120" y="2421"/>
                </a:lnTo>
              </a:path>
            </a:pathLst>
          </a:custGeom>
          <a:noFill/>
          <a:ln w="0">
            <a:solidFill>
              <a:srgbClr val="99999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"/>
          <p:cNvSpPr/>
          <p:nvPr/>
        </p:nvSpPr>
        <p:spPr>
          <a:xfrm>
            <a:off x="356760" y="7507080"/>
            <a:ext cx="3373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29840" y="8357760"/>
            <a:ext cx="2822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03360" y="84855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2423160" y="84855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768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242960" y="84855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1024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714240" y="7586640"/>
            <a:ext cx="3642120" cy="856080"/>
          </a:xfrm>
          <a:custGeom>
            <a:avLst/>
            <a:gdLst>
              <a:gd name="textAreaLeft" fmla="*/ 0 w 3642120"/>
              <a:gd name="textAreaRight" fmla="*/ 3643200 w 3642120"/>
              <a:gd name="textAreaTop" fmla="*/ 0 h 856080"/>
              <a:gd name="textAreaBottom" fmla="*/ 857160 h 856080"/>
            </a:gdLst>
            <a:ahLst/>
            <a:rect l="textAreaLeft" t="textAreaTop" r="textAreaRight" b="textAreaBottom"/>
            <a:pathLst>
              <a:path fill="none" w="10120" h="2381">
                <a:moveTo>
                  <a:pt x="0" y="0"/>
                </a:moveTo>
                <a:lnTo>
                  <a:pt x="159" y="119"/>
                </a:lnTo>
                <a:lnTo>
                  <a:pt x="318" y="198"/>
                </a:lnTo>
                <a:lnTo>
                  <a:pt x="953" y="794"/>
                </a:lnTo>
                <a:lnTo>
                  <a:pt x="1429" y="1111"/>
                </a:lnTo>
                <a:lnTo>
                  <a:pt x="1548" y="1191"/>
                </a:lnTo>
                <a:lnTo>
                  <a:pt x="1746" y="1349"/>
                </a:lnTo>
                <a:lnTo>
                  <a:pt x="1905" y="1429"/>
                </a:lnTo>
                <a:lnTo>
                  <a:pt x="2064" y="1627"/>
                </a:lnTo>
                <a:lnTo>
                  <a:pt x="2223" y="1667"/>
                </a:lnTo>
                <a:lnTo>
                  <a:pt x="2381" y="1786"/>
                </a:lnTo>
                <a:lnTo>
                  <a:pt x="2699" y="1865"/>
                </a:lnTo>
                <a:lnTo>
                  <a:pt x="3175" y="2143"/>
                </a:lnTo>
                <a:lnTo>
                  <a:pt x="3651" y="2262"/>
                </a:lnTo>
                <a:lnTo>
                  <a:pt x="4128" y="2342"/>
                </a:lnTo>
                <a:lnTo>
                  <a:pt x="4842" y="2381"/>
                </a:lnTo>
                <a:lnTo>
                  <a:pt x="10120" y="2381"/>
                </a:lnTo>
              </a:path>
            </a:pathLst>
          </a:custGeom>
          <a:noFill/>
          <a:ln w="18360">
            <a:solidFill>
              <a:srgbClr val="be61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714240" y="7586640"/>
            <a:ext cx="3642120" cy="856080"/>
          </a:xfrm>
          <a:custGeom>
            <a:avLst/>
            <a:gdLst>
              <a:gd name="textAreaLeft" fmla="*/ 0 w 3642120"/>
              <a:gd name="textAreaRight" fmla="*/ 3643200 w 3642120"/>
              <a:gd name="textAreaTop" fmla="*/ 0 h 856080"/>
              <a:gd name="textAreaBottom" fmla="*/ 857160 h 856080"/>
            </a:gdLst>
            <a:ahLst/>
            <a:rect l="textAreaLeft" t="textAreaTop" r="textAreaRight" b="textAreaBottom"/>
            <a:pathLst>
              <a:path fill="none" w="10120" h="2381">
                <a:moveTo>
                  <a:pt x="0" y="0"/>
                </a:moveTo>
                <a:lnTo>
                  <a:pt x="318" y="198"/>
                </a:lnTo>
                <a:lnTo>
                  <a:pt x="953" y="754"/>
                </a:lnTo>
                <a:lnTo>
                  <a:pt x="1270" y="953"/>
                </a:lnTo>
                <a:lnTo>
                  <a:pt x="1429" y="1032"/>
                </a:lnTo>
                <a:lnTo>
                  <a:pt x="1746" y="1310"/>
                </a:lnTo>
                <a:lnTo>
                  <a:pt x="1905" y="1389"/>
                </a:lnTo>
                <a:lnTo>
                  <a:pt x="2064" y="1548"/>
                </a:lnTo>
                <a:lnTo>
                  <a:pt x="2183" y="1548"/>
                </a:lnTo>
                <a:lnTo>
                  <a:pt x="2381" y="1667"/>
                </a:lnTo>
                <a:lnTo>
                  <a:pt x="2699" y="1746"/>
                </a:lnTo>
                <a:lnTo>
                  <a:pt x="3016" y="1945"/>
                </a:lnTo>
                <a:lnTo>
                  <a:pt x="3731" y="2183"/>
                </a:lnTo>
                <a:lnTo>
                  <a:pt x="4604" y="2302"/>
                </a:lnTo>
                <a:lnTo>
                  <a:pt x="5477" y="2381"/>
                </a:lnTo>
                <a:lnTo>
                  <a:pt x="10120" y="2381"/>
                </a:lnTo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" name=""/>
          <p:cNvSpPr/>
          <p:nvPr/>
        </p:nvSpPr>
        <p:spPr>
          <a:xfrm>
            <a:off x="5321880" y="7306200"/>
            <a:ext cx="43149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Cumulative intake / actual payment (EU)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400720" y="7572240"/>
            <a:ext cx="3956400" cy="870480"/>
          </a:xfrm>
          <a:custGeom>
            <a:avLst/>
            <a:gdLst>
              <a:gd name="textAreaLeft" fmla="*/ 0 w 3956400"/>
              <a:gd name="textAreaRight" fmla="*/ 3957480 w 3956400"/>
              <a:gd name="textAreaTop" fmla="*/ 0 h 870480"/>
              <a:gd name="textAreaBottom" fmla="*/ 871560 h 870480"/>
            </a:gdLst>
            <a:ahLst/>
            <a:rect l="textAreaLeft" t="textAreaTop" r="textAreaRight" b="textAreaBottom"/>
            <a:pathLst>
              <a:path fill="none" w="10993" h="2421">
                <a:moveTo>
                  <a:pt x="0" y="0"/>
                </a:moveTo>
                <a:lnTo>
                  <a:pt x="0" y="2421"/>
                </a:lnTo>
                <a:lnTo>
                  <a:pt x="10993" y="2421"/>
                </a:lnTo>
              </a:path>
            </a:pathLst>
          </a:custGeom>
          <a:noFill/>
          <a:ln w="0">
            <a:solidFill>
              <a:srgbClr val="99999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>
            <a:off x="5038200" y="7507080"/>
            <a:ext cx="3373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111640" y="8357760"/>
            <a:ext cx="2822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285160" y="84855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269480" y="84855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768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9244440" y="84855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1024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400720" y="7615080"/>
            <a:ext cx="3956400" cy="827640"/>
          </a:xfrm>
          <a:custGeom>
            <a:avLst/>
            <a:gdLst>
              <a:gd name="textAreaLeft" fmla="*/ 0 w 3956400"/>
              <a:gd name="textAreaRight" fmla="*/ 3957480 w 3956400"/>
              <a:gd name="textAreaTop" fmla="*/ 0 h 827640"/>
              <a:gd name="textAreaBottom" fmla="*/ 828720 h 827640"/>
            </a:gdLst>
            <a:ahLst/>
            <a:rect l="textAreaLeft" t="textAreaTop" r="textAreaRight" b="textAreaBottom"/>
            <a:pathLst>
              <a:path fill="none" w="10993" h="2302">
                <a:moveTo>
                  <a:pt x="0" y="2302"/>
                </a:moveTo>
                <a:lnTo>
                  <a:pt x="2659" y="1667"/>
                </a:lnTo>
                <a:lnTo>
                  <a:pt x="7223" y="675"/>
                </a:lnTo>
                <a:lnTo>
                  <a:pt x="9286" y="199"/>
                </a:lnTo>
                <a:lnTo>
                  <a:pt x="10199" y="40"/>
                </a:lnTo>
                <a:lnTo>
                  <a:pt x="10993" y="0"/>
                </a:lnTo>
              </a:path>
            </a:pathLst>
          </a:custGeom>
          <a:noFill/>
          <a:ln w="18360">
            <a:solidFill>
              <a:srgbClr val="be61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"/>
          <p:cNvSpPr/>
          <p:nvPr/>
        </p:nvSpPr>
        <p:spPr>
          <a:xfrm>
            <a:off x="5400720" y="8358120"/>
            <a:ext cx="3956400" cy="84600"/>
          </a:xfrm>
          <a:custGeom>
            <a:avLst/>
            <a:gdLst>
              <a:gd name="textAreaLeft" fmla="*/ 0 w 3956400"/>
              <a:gd name="textAreaRight" fmla="*/ 3957480 w 3956400"/>
              <a:gd name="textAreaTop" fmla="*/ 0 h 84600"/>
              <a:gd name="textAreaBottom" fmla="*/ 85680 h 84600"/>
            </a:gdLst>
            <a:ahLst/>
            <a:rect l="textAreaLeft" t="textAreaTop" r="textAreaRight" b="textAreaBottom"/>
            <a:pathLst>
              <a:path fill="none" w="10993" h="238">
                <a:moveTo>
                  <a:pt x="0" y="238"/>
                </a:moveTo>
                <a:lnTo>
                  <a:pt x="357" y="119"/>
                </a:lnTo>
                <a:lnTo>
                  <a:pt x="1389" y="119"/>
                </a:lnTo>
                <a:lnTo>
                  <a:pt x="1706" y="40"/>
                </a:lnTo>
                <a:lnTo>
                  <a:pt x="2738" y="40"/>
                </a:lnTo>
                <a:lnTo>
                  <a:pt x="3095" y="0"/>
                </a:lnTo>
                <a:lnTo>
                  <a:pt x="10993" y="0"/>
                </a:lnTo>
              </a:path>
            </a:pathLst>
          </a:custGeom>
          <a:noFill/>
          <a:ln w="9000">
            <a:solidFill>
              <a:srgbClr val="be61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36360" bIns="363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"/>
          <p:cNvSpPr/>
          <p:nvPr/>
        </p:nvSpPr>
        <p:spPr>
          <a:xfrm>
            <a:off x="5400720" y="7672320"/>
            <a:ext cx="3956400" cy="770400"/>
          </a:xfrm>
          <a:custGeom>
            <a:avLst/>
            <a:gdLst>
              <a:gd name="textAreaLeft" fmla="*/ 0 w 3956400"/>
              <a:gd name="textAreaRight" fmla="*/ 3957480 w 3956400"/>
              <a:gd name="textAreaTop" fmla="*/ 0 h 770400"/>
              <a:gd name="textAreaBottom" fmla="*/ 771480 h 770400"/>
            </a:gdLst>
            <a:ahLst/>
            <a:rect l="textAreaLeft" t="textAreaTop" r="textAreaRight" b="textAreaBottom"/>
            <a:pathLst>
              <a:path fill="none" w="10993" h="2143">
                <a:moveTo>
                  <a:pt x="0" y="2143"/>
                </a:moveTo>
                <a:lnTo>
                  <a:pt x="2262" y="1627"/>
                </a:lnTo>
                <a:lnTo>
                  <a:pt x="4008" y="1270"/>
                </a:lnTo>
                <a:lnTo>
                  <a:pt x="10993" y="0"/>
                </a:lnTo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" name=""/>
          <p:cNvSpPr/>
          <p:nvPr/>
        </p:nvSpPr>
        <p:spPr>
          <a:xfrm>
            <a:off x="5400720" y="8358120"/>
            <a:ext cx="3956400" cy="84600"/>
          </a:xfrm>
          <a:custGeom>
            <a:avLst/>
            <a:gdLst>
              <a:gd name="textAreaLeft" fmla="*/ 0 w 3956400"/>
              <a:gd name="textAreaRight" fmla="*/ 3957480 w 3956400"/>
              <a:gd name="textAreaTop" fmla="*/ 0 h 84600"/>
              <a:gd name="textAreaBottom" fmla="*/ 85680 h 84600"/>
            </a:gdLst>
            <a:ahLst/>
            <a:rect l="textAreaLeft" t="textAreaTop" r="textAreaRight" b="textAreaBottom"/>
            <a:pathLst>
              <a:path fill="none" w="10993" h="238">
                <a:moveTo>
                  <a:pt x="0" y="238"/>
                </a:moveTo>
                <a:lnTo>
                  <a:pt x="357" y="119"/>
                </a:lnTo>
                <a:lnTo>
                  <a:pt x="1389" y="119"/>
                </a:lnTo>
                <a:lnTo>
                  <a:pt x="1706" y="40"/>
                </a:lnTo>
                <a:lnTo>
                  <a:pt x="2738" y="40"/>
                </a:lnTo>
                <a:lnTo>
                  <a:pt x="3095" y="0"/>
                </a:lnTo>
                <a:lnTo>
                  <a:pt x="10993" y="0"/>
                </a:lnTo>
              </a:path>
            </a:pathLst>
          </a:custGeom>
          <a:noFill/>
          <a:ln w="900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36360" bIns="363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" name=""/>
          <p:cNvSpPr/>
          <p:nvPr/>
        </p:nvSpPr>
        <p:spPr>
          <a:xfrm>
            <a:off x="5541120" y="7626240"/>
            <a:ext cx="26971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Paid: motor + basal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7955280" y="7973640"/>
            <a:ext cx="1362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Intake U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29840" y="8686800"/>
            <a:ext cx="93168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Update: U = 4.636 versus 39.959 EU paid; E falls from 38.840 to 3.516 EU.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285480" y="9001080"/>
            <a:ext cx="9501480" cy="360"/>
          </a:xfrm>
          <a:prstGeom prst="line">
            <a:avLst/>
          </a:prstGeom>
          <a:ln w="0">
            <a:solidFill>
              <a:srgbClr val="bbbbb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1371600" y="4471920"/>
            <a:ext cx="360" cy="1057320"/>
          </a:xfrm>
          <a:prstGeom prst="line">
            <a:avLst/>
          </a:prstGeom>
          <a:ln w="9000">
            <a:solidFill>
              <a:srgbClr val="63a5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2614320" y="4471920"/>
            <a:ext cx="360" cy="1057320"/>
          </a:xfrm>
          <a:prstGeom prst="line">
            <a:avLst/>
          </a:prstGeom>
          <a:ln w="9000">
            <a:solidFill>
              <a:srgbClr val="63a5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8" name=""/>
          <p:cNvSpPr/>
          <p:nvPr/>
        </p:nvSpPr>
        <p:spPr>
          <a:xfrm>
            <a:off x="3857400" y="4471920"/>
            <a:ext cx="360" cy="1057320"/>
          </a:xfrm>
          <a:prstGeom prst="line">
            <a:avLst/>
          </a:prstGeom>
          <a:ln w="9000">
            <a:solidFill>
              <a:srgbClr val="63a5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1371600" y="5729400"/>
            <a:ext cx="360" cy="1071360"/>
          </a:xfrm>
          <a:prstGeom prst="line">
            <a:avLst/>
          </a:prstGeom>
          <a:ln w="9000">
            <a:solidFill>
              <a:srgbClr val="63a5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"/>
          <p:cNvSpPr/>
          <p:nvPr/>
        </p:nvSpPr>
        <p:spPr>
          <a:xfrm>
            <a:off x="2614320" y="5729400"/>
            <a:ext cx="360" cy="1071360"/>
          </a:xfrm>
          <a:prstGeom prst="line">
            <a:avLst/>
          </a:prstGeom>
          <a:ln w="9000">
            <a:solidFill>
              <a:srgbClr val="63a5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" name=""/>
          <p:cNvSpPr/>
          <p:nvPr/>
        </p:nvSpPr>
        <p:spPr>
          <a:xfrm>
            <a:off x="3857400" y="5729400"/>
            <a:ext cx="360" cy="1071360"/>
          </a:xfrm>
          <a:prstGeom prst="line">
            <a:avLst/>
          </a:prstGeom>
          <a:ln w="9000">
            <a:solidFill>
              <a:srgbClr val="63a5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2" name=""/>
          <p:cNvSpPr/>
          <p:nvPr/>
        </p:nvSpPr>
        <p:spPr>
          <a:xfrm>
            <a:off x="283320" y="9070920"/>
            <a:ext cx="9371520" cy="85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  Conditional effects vary across three histories and two futures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283320" y="9354240"/>
            <a:ext cx="93715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At 1024: update − no increment. Grey: unchanged; teal: changed. Negative Δmotor: lower payment.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2642760" y="9592200"/>
            <a:ext cx="1653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ΔM (M)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2771640" y="9958320"/>
            <a:ext cx="1300320" cy="360"/>
          </a:xfrm>
          <a:prstGeom prst="line">
            <a:avLst/>
          </a:prstGeom>
          <a:ln w="0">
            <a:solidFill>
              <a:srgbClr val="99999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6" name=""/>
          <p:cNvSpPr/>
          <p:nvPr/>
        </p:nvSpPr>
        <p:spPr>
          <a:xfrm>
            <a:off x="2871720" y="9958320"/>
            <a:ext cx="360" cy="1743120"/>
          </a:xfrm>
          <a:prstGeom prst="line">
            <a:avLst/>
          </a:prstGeom>
          <a:ln w="0">
            <a:solidFill>
              <a:srgbClr val="ccccc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"/>
          <p:cNvSpPr/>
          <p:nvPr/>
        </p:nvSpPr>
        <p:spPr>
          <a:xfrm>
            <a:off x="2670120" y="97473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-1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3813120" y="97473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+12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 flipV="1">
            <a:off x="2871720" y="10086840"/>
            <a:ext cx="360" cy="28800"/>
          </a:xfrm>
          <a:prstGeom prst="line">
            <a:avLst/>
          </a:prstGeom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200" bIns="-25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" name=""/>
          <p:cNvSpPr/>
          <p:nvPr/>
        </p:nvSpPr>
        <p:spPr>
          <a:xfrm>
            <a:off x="4096440" y="1000368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-0.023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871720" y="10387080"/>
            <a:ext cx="1141920" cy="27360"/>
          </a:xfrm>
          <a:custGeom>
            <a:avLst/>
            <a:gdLst>
              <a:gd name="textAreaLeft" fmla="*/ 0 w 1141920"/>
              <a:gd name="textAreaRight" fmla="*/ 1143000 w 1141920"/>
              <a:gd name="textAreaTop" fmla="*/ 0 h 27360"/>
              <a:gd name="textAreaBottom" fmla="*/ 28440 h 27360"/>
            </a:gdLst>
            <a:ahLst/>
            <a:rect l="textAreaLeft" t="textAreaTop" r="textAreaRight" b="textAreaBottom"/>
            <a:pathLst>
              <a:path fill="none" w="3175" h="79">
                <a:moveTo>
                  <a:pt x="0" y="79"/>
                </a:moveTo>
                <a:lnTo>
                  <a:pt x="3175" y="79"/>
                </a:lnTo>
                <a:lnTo>
                  <a:pt x="3175" y="0"/>
                </a:lnTo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560" bIns="-255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2" name=""/>
          <p:cNvSpPr/>
          <p:nvPr/>
        </p:nvSpPr>
        <p:spPr>
          <a:xfrm flipV="1">
            <a:off x="2871720" y="10686960"/>
            <a:ext cx="360" cy="28800"/>
          </a:xfrm>
          <a:prstGeom prst="line">
            <a:avLst/>
          </a:prstGeom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200" bIns="-25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" name=""/>
          <p:cNvSpPr/>
          <p:nvPr/>
        </p:nvSpPr>
        <p:spPr>
          <a:xfrm>
            <a:off x="4096440" y="1059804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+0.017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871720" y="10987200"/>
            <a:ext cx="70200" cy="27360"/>
          </a:xfrm>
          <a:custGeom>
            <a:avLst/>
            <a:gdLst>
              <a:gd name="textAreaLeft" fmla="*/ 0 w 70200"/>
              <a:gd name="textAreaRight" fmla="*/ 71280 w 70200"/>
              <a:gd name="textAreaTop" fmla="*/ 0 h 27360"/>
              <a:gd name="textAreaBottom" fmla="*/ 28440 h 27360"/>
            </a:gdLst>
            <a:ahLst/>
            <a:rect l="textAreaLeft" t="textAreaTop" r="textAreaRight" b="textAreaBottom"/>
            <a:pathLst>
              <a:path fill="none" w="198" h="79">
                <a:moveTo>
                  <a:pt x="0" y="79"/>
                </a:moveTo>
                <a:lnTo>
                  <a:pt x="198" y="79"/>
                </a:lnTo>
                <a:lnTo>
                  <a:pt x="198" y="0"/>
                </a:lnTo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560" bIns="-255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"/>
          <p:cNvSpPr/>
          <p:nvPr/>
        </p:nvSpPr>
        <p:spPr>
          <a:xfrm flipV="1">
            <a:off x="2871720" y="11287080"/>
            <a:ext cx="360" cy="28440"/>
          </a:xfrm>
          <a:prstGeom prst="line">
            <a:avLst/>
          </a:prstGeom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560" bIns="-255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"/>
          <p:cNvSpPr/>
          <p:nvPr/>
        </p:nvSpPr>
        <p:spPr>
          <a:xfrm>
            <a:off x="4096440" y="1120140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-0.029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871720" y="11572920"/>
            <a:ext cx="599040" cy="41760"/>
          </a:xfrm>
          <a:custGeom>
            <a:avLst/>
            <a:gdLst>
              <a:gd name="textAreaLeft" fmla="*/ 0 w 599040"/>
              <a:gd name="textAreaRight" fmla="*/ 600120 w 599040"/>
              <a:gd name="textAreaTop" fmla="*/ 0 h 41760"/>
              <a:gd name="textAreaBottom" fmla="*/ 42840 h 41760"/>
            </a:gdLst>
            <a:ahLst/>
            <a:rect l="textAreaLeft" t="textAreaTop" r="textAreaRight" b="textAreaBottom"/>
            <a:pathLst>
              <a:path fill="none" w="1667" h="119">
                <a:moveTo>
                  <a:pt x="0" y="119"/>
                </a:moveTo>
                <a:lnTo>
                  <a:pt x="1667" y="119"/>
                </a:lnTo>
                <a:lnTo>
                  <a:pt x="1667" y="0"/>
                </a:lnTo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11160" bIns="-111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8" name=""/>
          <p:cNvSpPr/>
          <p:nvPr/>
        </p:nvSpPr>
        <p:spPr>
          <a:xfrm>
            <a:off x="4480560" y="9592200"/>
            <a:ext cx="1653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ΔE (EU)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4614840" y="9958320"/>
            <a:ext cx="1285920" cy="360"/>
          </a:xfrm>
          <a:prstGeom prst="line">
            <a:avLst/>
          </a:prstGeom>
          <a:ln w="0">
            <a:solidFill>
              <a:srgbClr val="99999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" name=""/>
          <p:cNvSpPr/>
          <p:nvPr/>
        </p:nvSpPr>
        <p:spPr>
          <a:xfrm>
            <a:off x="5257800" y="9958320"/>
            <a:ext cx="360" cy="1743120"/>
          </a:xfrm>
          <a:prstGeom prst="line">
            <a:avLst/>
          </a:prstGeom>
          <a:ln w="0">
            <a:solidFill>
              <a:srgbClr val="ccccc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" name=""/>
          <p:cNvSpPr/>
          <p:nvPr/>
        </p:nvSpPr>
        <p:spPr>
          <a:xfrm>
            <a:off x="4498920" y="97473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-4.5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5650920" y="97473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+4.5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5157360" y="9747360"/>
            <a:ext cx="35568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5214960" y="10086840"/>
            <a:ext cx="41760" cy="27720"/>
          </a:xfrm>
          <a:custGeom>
            <a:avLst/>
            <a:gdLst>
              <a:gd name="textAreaLeft" fmla="*/ 0 w 41760"/>
              <a:gd name="textAreaRight" fmla="*/ 42840 w 41760"/>
              <a:gd name="textAreaTop" fmla="*/ 0 h 27720"/>
              <a:gd name="textAreaBottom" fmla="*/ 28800 h 27720"/>
            </a:gdLst>
            <a:ahLst/>
            <a:rect l="textAreaLeft" t="textAreaTop" r="textAreaRight" b="textAreaBottom"/>
            <a:pathLst>
              <a:path w="119" h="80">
                <a:moveTo>
                  <a:pt x="119" y="80"/>
                </a:moveTo>
                <a:lnTo>
                  <a:pt x="0" y="80"/>
                </a:lnTo>
                <a:lnTo>
                  <a:pt x="0" y="0"/>
                </a:lnTo>
                <a:lnTo>
                  <a:pt x="119" y="80"/>
                </a:lnTo>
                <a:close/>
              </a:path>
            </a:pathLst>
          </a:custGeom>
          <a:noFill/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200" bIns="-25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5934600" y="1000368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-0.275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5257800" y="10387080"/>
            <a:ext cx="498960" cy="27360"/>
          </a:xfrm>
          <a:custGeom>
            <a:avLst/>
            <a:gdLst>
              <a:gd name="textAreaLeft" fmla="*/ 0 w 498960"/>
              <a:gd name="textAreaRight" fmla="*/ 500040 w 498960"/>
              <a:gd name="textAreaTop" fmla="*/ 0 h 27360"/>
              <a:gd name="textAreaBottom" fmla="*/ 28440 h 27360"/>
            </a:gdLst>
            <a:ahLst/>
            <a:rect l="textAreaLeft" t="textAreaTop" r="textAreaRight" b="textAreaBottom"/>
            <a:pathLst>
              <a:path fill="none" w="1389" h="79">
                <a:moveTo>
                  <a:pt x="0" y="79"/>
                </a:moveTo>
                <a:lnTo>
                  <a:pt x="1389" y="79"/>
                </a:lnTo>
                <a:lnTo>
                  <a:pt x="1389" y="0"/>
                </a:lnTo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560" bIns="-255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" name=""/>
          <p:cNvSpPr/>
          <p:nvPr/>
        </p:nvSpPr>
        <p:spPr>
          <a:xfrm>
            <a:off x="5257800" y="10686960"/>
            <a:ext cx="427320" cy="27720"/>
          </a:xfrm>
          <a:custGeom>
            <a:avLst/>
            <a:gdLst>
              <a:gd name="textAreaLeft" fmla="*/ 0 w 427320"/>
              <a:gd name="textAreaRight" fmla="*/ 428400 w 427320"/>
              <a:gd name="textAreaTop" fmla="*/ 0 h 27720"/>
              <a:gd name="textAreaBottom" fmla="*/ 28800 h 27720"/>
            </a:gdLst>
            <a:ahLst/>
            <a:rect l="textAreaLeft" t="textAreaTop" r="textAreaRight" b="textAreaBottom"/>
            <a:pathLst>
              <a:path fill="none" w="1190" h="80">
                <a:moveTo>
                  <a:pt x="0" y="80"/>
                </a:moveTo>
                <a:lnTo>
                  <a:pt x="1190" y="80"/>
                </a:lnTo>
                <a:lnTo>
                  <a:pt x="1190" y="0"/>
                </a:lnTo>
              </a:path>
            </a:pathLst>
          </a:custGeom>
          <a:noFill/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200" bIns="-25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" name=""/>
          <p:cNvSpPr/>
          <p:nvPr/>
        </p:nvSpPr>
        <p:spPr>
          <a:xfrm>
            <a:off x="5934600" y="1089972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+0.057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257800" y="11315520"/>
            <a:ext cx="28440" cy="360"/>
          </a:xfrm>
          <a:prstGeom prst="line">
            <a:avLst/>
          </a:prstGeom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" name=""/>
          <p:cNvSpPr/>
          <p:nvPr/>
        </p:nvSpPr>
        <p:spPr>
          <a:xfrm>
            <a:off x="5934600" y="1120140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+0.204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257800" y="11572920"/>
            <a:ext cx="98640" cy="41760"/>
          </a:xfrm>
          <a:custGeom>
            <a:avLst/>
            <a:gdLst>
              <a:gd name="textAreaLeft" fmla="*/ 0 w 98640"/>
              <a:gd name="textAreaRight" fmla="*/ 99720 w 98640"/>
              <a:gd name="textAreaTop" fmla="*/ 0 h 41760"/>
              <a:gd name="textAreaBottom" fmla="*/ 42840 h 41760"/>
            </a:gdLst>
            <a:ahLst/>
            <a:rect l="textAreaLeft" t="textAreaTop" r="textAreaRight" b="textAreaBottom"/>
            <a:pathLst>
              <a:path fill="none" w="277" h="119">
                <a:moveTo>
                  <a:pt x="0" y="119"/>
                </a:moveTo>
                <a:lnTo>
                  <a:pt x="277" y="119"/>
                </a:lnTo>
                <a:lnTo>
                  <a:pt x="277" y="0"/>
                </a:lnTo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11160" bIns="-111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6309360" y="9592200"/>
            <a:ext cx="1653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ΔU (EU)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443640" y="9958320"/>
            <a:ext cx="1299960" cy="360"/>
          </a:xfrm>
          <a:prstGeom prst="line">
            <a:avLst/>
          </a:prstGeom>
          <a:ln w="0">
            <a:solidFill>
              <a:srgbClr val="99999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"/>
          <p:cNvSpPr/>
          <p:nvPr/>
        </p:nvSpPr>
        <p:spPr>
          <a:xfrm>
            <a:off x="7086600" y="9958320"/>
            <a:ext cx="360" cy="1743120"/>
          </a:xfrm>
          <a:prstGeom prst="line">
            <a:avLst/>
          </a:prstGeom>
          <a:ln w="0">
            <a:solidFill>
              <a:srgbClr val="ccccc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"/>
          <p:cNvSpPr/>
          <p:nvPr/>
        </p:nvSpPr>
        <p:spPr>
          <a:xfrm>
            <a:off x="6336720" y="97473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-4.5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7479720" y="97473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+4.5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995160" y="9747360"/>
            <a:ext cx="35568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 flipH="1">
            <a:off x="7057800" y="10115640"/>
            <a:ext cx="28800" cy="360"/>
          </a:xfrm>
          <a:prstGeom prst="line">
            <a:avLst/>
          </a:prstGeom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"/>
          <p:cNvSpPr/>
          <p:nvPr/>
        </p:nvSpPr>
        <p:spPr>
          <a:xfrm>
            <a:off x="7772400" y="1000368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-0.206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7086600" y="10387080"/>
            <a:ext cx="41760" cy="27360"/>
          </a:xfrm>
          <a:custGeom>
            <a:avLst/>
            <a:gdLst>
              <a:gd name="textAreaLeft" fmla="*/ 0 w 41760"/>
              <a:gd name="textAreaRight" fmla="*/ 42840 w 41760"/>
              <a:gd name="textAreaTop" fmla="*/ 0 h 27360"/>
              <a:gd name="textAreaBottom" fmla="*/ 28440 h 27360"/>
            </a:gdLst>
            <a:ahLst/>
            <a:rect l="textAreaLeft" t="textAreaTop" r="textAreaRight" b="textAreaBottom"/>
            <a:pathLst>
              <a:path w="119" h="79">
                <a:moveTo>
                  <a:pt x="0" y="79"/>
                </a:moveTo>
                <a:lnTo>
                  <a:pt x="119" y="79"/>
                </a:lnTo>
                <a:lnTo>
                  <a:pt x="119" y="0"/>
                </a:lnTo>
                <a:lnTo>
                  <a:pt x="0" y="79"/>
                </a:lnTo>
                <a:close/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560" bIns="-255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" name=""/>
          <p:cNvSpPr/>
          <p:nvPr/>
        </p:nvSpPr>
        <p:spPr>
          <a:xfrm>
            <a:off x="7772400" y="1030536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+0.283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7086600" y="10686960"/>
            <a:ext cx="127440" cy="27720"/>
          </a:xfrm>
          <a:custGeom>
            <a:avLst/>
            <a:gdLst>
              <a:gd name="textAreaLeft" fmla="*/ 0 w 127440"/>
              <a:gd name="textAreaRight" fmla="*/ 128520 w 127440"/>
              <a:gd name="textAreaTop" fmla="*/ 0 h 27720"/>
              <a:gd name="textAreaBottom" fmla="*/ 28800 h 27720"/>
            </a:gdLst>
            <a:ahLst/>
            <a:rect l="textAreaLeft" t="textAreaTop" r="textAreaRight" b="textAreaBottom"/>
            <a:pathLst>
              <a:path fill="none" w="357" h="80">
                <a:moveTo>
                  <a:pt x="0" y="80"/>
                </a:moveTo>
                <a:lnTo>
                  <a:pt x="357" y="80"/>
                </a:lnTo>
                <a:lnTo>
                  <a:pt x="357" y="0"/>
                </a:lnTo>
              </a:path>
            </a:pathLst>
          </a:custGeom>
          <a:noFill/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200" bIns="-25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" name=""/>
          <p:cNvSpPr/>
          <p:nvPr/>
        </p:nvSpPr>
        <p:spPr>
          <a:xfrm flipV="1">
            <a:off x="7086600" y="10987200"/>
            <a:ext cx="14040" cy="28440"/>
          </a:xfrm>
          <a:prstGeom prst="line">
            <a:avLst/>
          </a:prstGeom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560" bIns="-255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" name=""/>
          <p:cNvSpPr/>
          <p:nvPr/>
        </p:nvSpPr>
        <p:spPr>
          <a:xfrm>
            <a:off x="7772400" y="1089972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+0.020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 flipH="1">
            <a:off x="7072200" y="11315520"/>
            <a:ext cx="14400" cy="360"/>
          </a:xfrm>
          <a:prstGeom prst="line">
            <a:avLst/>
          </a:prstGeom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" name=""/>
          <p:cNvSpPr/>
          <p:nvPr/>
        </p:nvSpPr>
        <p:spPr>
          <a:xfrm>
            <a:off x="7772400" y="1120140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-0.172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086600" y="11572920"/>
            <a:ext cx="12960" cy="41760"/>
          </a:xfrm>
          <a:custGeom>
            <a:avLst/>
            <a:gdLst>
              <a:gd name="textAreaLeft" fmla="*/ 0 w 12960"/>
              <a:gd name="textAreaRight" fmla="*/ 14040 w 12960"/>
              <a:gd name="textAreaTop" fmla="*/ 0 h 41760"/>
              <a:gd name="textAreaBottom" fmla="*/ 42840 h 41760"/>
            </a:gdLst>
            <a:ahLst/>
            <a:rect l="textAreaLeft" t="textAreaTop" r="textAreaRight" b="textAreaBottom"/>
            <a:pathLst>
              <a:path w="39" h="119">
                <a:moveTo>
                  <a:pt x="0" y="119"/>
                </a:moveTo>
                <a:lnTo>
                  <a:pt x="39" y="119"/>
                </a:lnTo>
                <a:lnTo>
                  <a:pt x="39" y="0"/>
                </a:lnTo>
                <a:lnTo>
                  <a:pt x="0" y="119"/>
                </a:lnTo>
                <a:close/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11160" bIns="-111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8" name=""/>
          <p:cNvSpPr/>
          <p:nvPr/>
        </p:nvSpPr>
        <p:spPr>
          <a:xfrm>
            <a:off x="7772400" y="1149408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+0.066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8147160" y="9592200"/>
            <a:ext cx="1653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Δmotor (EU)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8286480" y="9958320"/>
            <a:ext cx="1285920" cy="360"/>
          </a:xfrm>
          <a:prstGeom prst="line">
            <a:avLst/>
          </a:prstGeom>
          <a:ln w="0">
            <a:solidFill>
              <a:srgbClr val="99999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" name=""/>
          <p:cNvSpPr/>
          <p:nvPr/>
        </p:nvSpPr>
        <p:spPr>
          <a:xfrm>
            <a:off x="8929440" y="9958320"/>
            <a:ext cx="360" cy="1743120"/>
          </a:xfrm>
          <a:prstGeom prst="line">
            <a:avLst/>
          </a:prstGeom>
          <a:ln w="0">
            <a:solidFill>
              <a:srgbClr val="ccccc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" name=""/>
          <p:cNvSpPr/>
          <p:nvPr/>
        </p:nvSpPr>
        <p:spPr>
          <a:xfrm>
            <a:off x="8174880" y="97473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-4.5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9317880" y="974736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+4.5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8832960" y="9747360"/>
            <a:ext cx="35568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8929440" y="10115640"/>
            <a:ext cx="14400" cy="360"/>
          </a:xfrm>
          <a:prstGeom prst="line">
            <a:avLst/>
          </a:prstGeom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"/>
          <p:cNvSpPr/>
          <p:nvPr/>
        </p:nvSpPr>
        <p:spPr>
          <a:xfrm>
            <a:off x="9390960" y="10003680"/>
            <a:ext cx="65736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+0.078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8329320" y="10387080"/>
            <a:ext cx="599040" cy="27360"/>
          </a:xfrm>
          <a:custGeom>
            <a:avLst/>
            <a:gdLst>
              <a:gd name="textAreaLeft" fmla="*/ 0 w 599040"/>
              <a:gd name="textAreaRight" fmla="*/ 600120 w 599040"/>
              <a:gd name="textAreaTop" fmla="*/ 0 h 27360"/>
              <a:gd name="textAreaBottom" fmla="*/ 28440 h 27360"/>
            </a:gdLst>
            <a:ahLst/>
            <a:rect l="textAreaLeft" t="textAreaTop" r="textAreaRight" b="textAreaBottom"/>
            <a:pathLst>
              <a:path fill="none" w="1667" h="79">
                <a:moveTo>
                  <a:pt x="1667" y="79"/>
                </a:moveTo>
                <a:lnTo>
                  <a:pt x="0" y="79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560" bIns="-255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8" name=""/>
          <p:cNvSpPr/>
          <p:nvPr/>
        </p:nvSpPr>
        <p:spPr>
          <a:xfrm>
            <a:off x="8629560" y="10686960"/>
            <a:ext cx="298800" cy="27720"/>
          </a:xfrm>
          <a:custGeom>
            <a:avLst/>
            <a:gdLst>
              <a:gd name="textAreaLeft" fmla="*/ 0 w 298800"/>
              <a:gd name="textAreaRight" fmla="*/ 299880 w 298800"/>
              <a:gd name="textAreaTop" fmla="*/ 0 h 27720"/>
              <a:gd name="textAreaBottom" fmla="*/ 28800 h 27720"/>
            </a:gdLst>
            <a:ahLst/>
            <a:rect l="textAreaLeft" t="textAreaTop" r="textAreaRight" b="textAreaBottom"/>
            <a:pathLst>
              <a:path fill="none" w="833" h="80">
                <a:moveTo>
                  <a:pt x="833" y="80"/>
                </a:moveTo>
                <a:lnTo>
                  <a:pt x="0" y="80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200" bIns="-25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9" name=""/>
          <p:cNvSpPr/>
          <p:nvPr/>
        </p:nvSpPr>
        <p:spPr>
          <a:xfrm>
            <a:off x="8872560" y="10987200"/>
            <a:ext cx="55800" cy="27360"/>
          </a:xfrm>
          <a:custGeom>
            <a:avLst/>
            <a:gdLst>
              <a:gd name="textAreaLeft" fmla="*/ 0 w 55800"/>
              <a:gd name="textAreaRight" fmla="*/ 56880 w 55800"/>
              <a:gd name="textAreaTop" fmla="*/ 0 h 27360"/>
              <a:gd name="textAreaBottom" fmla="*/ 28440 h 27360"/>
            </a:gdLst>
            <a:ahLst/>
            <a:rect l="textAreaLeft" t="textAreaTop" r="textAreaRight" b="textAreaBottom"/>
            <a:pathLst>
              <a:path w="158" h="79">
                <a:moveTo>
                  <a:pt x="158" y="79"/>
                </a:moveTo>
                <a:lnTo>
                  <a:pt x="0" y="79"/>
                </a:lnTo>
                <a:lnTo>
                  <a:pt x="0" y="0"/>
                </a:lnTo>
                <a:lnTo>
                  <a:pt x="158" y="79"/>
                </a:lnTo>
                <a:close/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560" bIns="-255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0" name=""/>
          <p:cNvSpPr/>
          <p:nvPr/>
        </p:nvSpPr>
        <p:spPr>
          <a:xfrm>
            <a:off x="8872560" y="11287080"/>
            <a:ext cx="55800" cy="27360"/>
          </a:xfrm>
          <a:custGeom>
            <a:avLst/>
            <a:gdLst>
              <a:gd name="textAreaLeft" fmla="*/ 0 w 55800"/>
              <a:gd name="textAreaRight" fmla="*/ 56880 w 55800"/>
              <a:gd name="textAreaTop" fmla="*/ 0 h 27360"/>
              <a:gd name="textAreaBottom" fmla="*/ 28440 h 27360"/>
            </a:gdLst>
            <a:ahLst/>
            <a:rect l="textAreaLeft" t="textAreaTop" r="textAreaRight" b="textAreaBottom"/>
            <a:pathLst>
              <a:path w="158" h="79">
                <a:moveTo>
                  <a:pt x="158" y="79"/>
                </a:moveTo>
                <a:lnTo>
                  <a:pt x="0" y="79"/>
                </a:lnTo>
                <a:lnTo>
                  <a:pt x="0" y="0"/>
                </a:lnTo>
                <a:lnTo>
                  <a:pt x="158" y="79"/>
                </a:lnTo>
                <a:close/>
              </a:path>
            </a:pathLst>
          </a:custGeom>
          <a:noFill/>
          <a:ln w="1836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5560" bIns="-255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1" name=""/>
          <p:cNvSpPr/>
          <p:nvPr/>
        </p:nvSpPr>
        <p:spPr>
          <a:xfrm>
            <a:off x="8715240" y="11572920"/>
            <a:ext cx="213120" cy="41760"/>
          </a:xfrm>
          <a:custGeom>
            <a:avLst/>
            <a:gdLst>
              <a:gd name="textAreaLeft" fmla="*/ 0 w 213120"/>
              <a:gd name="textAreaRight" fmla="*/ 214200 w 213120"/>
              <a:gd name="textAreaTop" fmla="*/ 0 h 41760"/>
              <a:gd name="textAreaBottom" fmla="*/ 42840 h 41760"/>
            </a:gdLst>
            <a:ahLst/>
            <a:rect l="textAreaLeft" t="textAreaTop" r="textAreaRight" b="textAreaBottom"/>
            <a:pathLst>
              <a:path fill="none" w="595" h="119">
                <a:moveTo>
                  <a:pt x="595" y="119"/>
                </a:moveTo>
                <a:lnTo>
                  <a:pt x="0" y="119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11160" bIns="-111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2" name=""/>
          <p:cNvSpPr/>
          <p:nvPr/>
        </p:nvSpPr>
        <p:spPr>
          <a:xfrm>
            <a:off x="320040" y="10012680"/>
            <a:ext cx="23306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Compact / unchanged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320040" y="10305360"/>
            <a:ext cx="23306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Compact / changed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320040" y="10607040"/>
            <a:ext cx="23306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Bilobed / unchanged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320040" y="10908720"/>
            <a:ext cx="23306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Bilobed / changed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320040" y="11201400"/>
            <a:ext cx="23306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Annular / unchanged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320040" y="11503080"/>
            <a:ext cx="23306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Annular / changed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283320" y="11768400"/>
            <a:ext cx="93715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Changed bilobed: ΔM +0.686, ΔE +0.057 EU. Energy-valued effects share one scale.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283320" y="11997000"/>
            <a:ext cx="937152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Three acquired receiver histories, not 12 independent histories; not an acquired-versus-naive test.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5257800" y="10972800"/>
            <a:ext cx="0" cy="64080"/>
          </a:xfrm>
          <a:prstGeom prst="line">
            <a:avLst/>
          </a:prstGeom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10080" bIns="10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2026-10-17T19:04:44Z</cp:lastPrinted>
  <dcterms:modified xsi:type="dcterms:W3CDTF">2026-10-17T19:07:54Z</dcterms:modified>
  <cp:revision>107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