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_rels/presentation.xml.rels" ContentType="application/vnd.openxmlformats-package.relationships+xml"/>
  <Override PartName="/ppt/media/image13.png" ContentType="image/png"/>
  <Override PartName="/ppt/media/image4.png" ContentType="image/png"/>
  <Override PartName="/ppt/media/image9.png" ContentType="image/png"/>
  <Override PartName="/ppt/media/image18.png" ContentType="image/png"/>
  <Override PartName="/ppt/media/image20.png" ContentType="image/png"/>
  <Override PartName="/ppt/media/image12.png" ContentType="image/png"/>
  <Override PartName="/ppt/media/image3.png" ContentType="image/png"/>
  <Override PartName="/ppt/media/image8.png" ContentType="image/png"/>
  <Override PartName="/ppt/media/image17.png" ContentType="image/png"/>
  <Override PartName="/ppt/media/image23.png" ContentType="image/png"/>
  <Override PartName="/ppt/media/image22.png" ContentType="image/png"/>
  <Override PartName="/ppt/media/image21.png" ContentType="image/png"/>
  <Override PartName="/ppt/media/image19.png" ContentType="image/png"/>
  <Override PartName="/ppt/media/image11.png" ContentType="image/png"/>
  <Override PartName="/ppt/media/image2.png" ContentType="image/png"/>
  <Override PartName="/ppt/media/image5.png" ContentType="image/png"/>
  <Override PartName="/ppt/media/image14.png" ContentType="image/png"/>
  <Override PartName="/ppt/media/image6.png" ContentType="image/png"/>
  <Override PartName="/ppt/media/image15.png" ContentType="image/png"/>
  <Override PartName="/ppt/media/image10.png" ContentType="image/png"/>
  <Override PartName="/ppt/media/image1.png" ContentType="image/png"/>
  <Override PartName="/ppt/media/image7.png" ContentType="image/png"/>
  <Override PartName="/ppt/media/image16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1223962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372960"/>
            <a:ext cx="9059040" cy="1549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2863800"/>
            <a:ext cx="9072000" cy="709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56E8A1A-5E55-4C73-A5E5-A47EB6D1135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372960"/>
            <a:ext cx="9059040" cy="1549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447360" y="8526600"/>
            <a:ext cx="3182400" cy="63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7227360" y="8526600"/>
            <a:ext cx="2335680" cy="63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A7FC829-A178-4468-8CCF-812D06BA884A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504000" y="8526600"/>
            <a:ext cx="2335680" cy="63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504000" y="2863800"/>
            <a:ext cx="9072000" cy="709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3.png"/><Relationship Id="rId8" Type="http://schemas.openxmlformats.org/officeDocument/2006/relationships/image" Target="../media/image3.png"/><Relationship Id="rId9" Type="http://schemas.openxmlformats.org/officeDocument/2006/relationships/image" Target="../media/image6.png"/><Relationship Id="rId10" Type="http://schemas.openxmlformats.org/officeDocument/2006/relationships/image" Target="../media/image7.png"/><Relationship Id="rId11" Type="http://schemas.openxmlformats.org/officeDocument/2006/relationships/image" Target="../media/image8.png"/><Relationship Id="rId12" Type="http://schemas.openxmlformats.org/officeDocument/2006/relationships/image" Target="../media/image9.png"/><Relationship Id="rId13" Type="http://schemas.openxmlformats.org/officeDocument/2006/relationships/image" Target="../media/image10.png"/><Relationship Id="rId14" Type="http://schemas.openxmlformats.org/officeDocument/2006/relationships/image" Target="../media/image11.png"/><Relationship Id="rId15" Type="http://schemas.openxmlformats.org/officeDocument/2006/relationships/image" Target="../media/image12.png"/><Relationship Id="rId16" Type="http://schemas.openxmlformats.org/officeDocument/2006/relationships/image" Target="../media/image13.png"/><Relationship Id="rId17" Type="http://schemas.openxmlformats.org/officeDocument/2006/relationships/image" Target="../media/image14.png"/><Relationship Id="rId18" Type="http://schemas.openxmlformats.org/officeDocument/2006/relationships/image" Target="../media/image15.png"/><Relationship Id="rId19" Type="http://schemas.openxmlformats.org/officeDocument/2006/relationships/image" Target="../media/image16.png"/><Relationship Id="rId20" Type="http://schemas.openxmlformats.org/officeDocument/2006/relationships/image" Target="../media/image17.png"/><Relationship Id="rId21" Type="http://schemas.openxmlformats.org/officeDocument/2006/relationships/image" Target="../media/image18.png"/><Relationship Id="rId22" Type="http://schemas.openxmlformats.org/officeDocument/2006/relationships/image" Target="../media/image19.png"/><Relationship Id="rId23" Type="http://schemas.openxmlformats.org/officeDocument/2006/relationships/image" Target="../media/image20.png"/><Relationship Id="rId24" Type="http://schemas.openxmlformats.org/officeDocument/2006/relationships/image" Target="../media/image21.png"/><Relationship Id="rId25" Type="http://schemas.openxmlformats.org/officeDocument/2006/relationships/image" Target="../media/image22.png"/><Relationship Id="rId26" Type="http://schemas.openxmlformats.org/officeDocument/2006/relationships/image" Target="../media/image23.png"/><Relationship Id="rId27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/>
          <p:nvPr/>
        </p:nvSpPr>
        <p:spPr>
          <a:xfrm>
            <a:off x="356760" y="173880"/>
            <a:ext cx="9352800" cy="85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Inherited tolerance and injury experience have different consequences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"/>
          <p:cNvSpPr/>
          <p:nvPr/>
        </p:nvSpPr>
        <p:spPr>
          <a:xfrm>
            <a:off x="356760" y="521280"/>
            <a:ext cx="9352800" cy="78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Formation 0–128 (T00)  →  Histories 129–160  →  Test 161–224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"/>
          <p:cNvSpPr/>
          <p:nvPr/>
        </p:nvSpPr>
        <p:spPr>
          <a:xfrm>
            <a:off x="356760" y="768240"/>
            <a:ext cx="9352800" cy="78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N: no prior cut; C: 10% +x cuts before 129 / 145. N and C use paid P/F transport (T11).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"/>
          <p:cNvSpPr/>
          <p:nvPr/>
        </p:nvSpPr>
        <p:spPr>
          <a:xfrm>
            <a:off x="356760" y="1005840"/>
            <a:ext cx="9352800" cy="78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Test: none or 20% +x cut before 161. T00: no prior cut, no transport capability or transport charge.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"/>
          <p:cNvSpPr/>
          <p:nvPr/>
        </p:nvSpPr>
        <p:spPr>
          <a:xfrm>
            <a:off x="357120" y="1314360"/>
            <a:ext cx="9358200" cy="360"/>
          </a:xfrm>
          <a:prstGeom prst="line">
            <a:avLst/>
          </a:prstGeom>
          <a:ln w="9000">
            <a:solidFill>
              <a:srgbClr val="bfc5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-49320" bIns="-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" name=""/>
          <p:cNvSpPr/>
          <p:nvPr/>
        </p:nvSpPr>
        <p:spPr>
          <a:xfrm>
            <a:off x="356760" y="1417320"/>
            <a:ext cx="9352800" cy="78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A  Compact offspring survives cuts that kill its parent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"/>
          <p:cNvSpPr/>
          <p:nvPr/>
        </p:nvSpPr>
        <p:spPr>
          <a:xfrm>
            <a:off x="1179720" y="1719000"/>
            <a:ext cx="1178280" cy="78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160: before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"/>
          <p:cNvSpPr/>
          <p:nvPr/>
        </p:nvSpPr>
        <p:spPr>
          <a:xfrm>
            <a:off x="2368440" y="1719000"/>
            <a:ext cx="1178280" cy="78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after cut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"/>
          <p:cNvSpPr/>
          <p:nvPr/>
        </p:nvSpPr>
        <p:spPr>
          <a:xfrm>
            <a:off x="3557160" y="1719000"/>
            <a:ext cx="1178280" cy="78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184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"/>
          <p:cNvSpPr/>
          <p:nvPr/>
        </p:nvSpPr>
        <p:spPr>
          <a:xfrm>
            <a:off x="4745880" y="1719000"/>
            <a:ext cx="1178280" cy="78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224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"/>
          <p:cNvSpPr/>
          <p:nvPr/>
        </p:nvSpPr>
        <p:spPr>
          <a:xfrm>
            <a:off x="283320" y="2267640"/>
            <a:ext cx="894600" cy="78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Parent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" name="" descr=""/>
          <p:cNvPicPr/>
          <p:nvPr/>
        </p:nvPicPr>
        <p:blipFill>
          <a:blip r:embed="rId1"/>
          <a:stretch/>
        </p:blipFill>
        <p:spPr>
          <a:xfrm>
            <a:off x="1179720" y="2011680"/>
            <a:ext cx="1077480" cy="967680"/>
          </a:xfrm>
          <a:prstGeom prst="rect">
            <a:avLst/>
          </a:prstGeom>
          <a:ln w="0">
            <a:noFill/>
          </a:ln>
        </p:spPr>
      </p:pic>
      <p:pic>
        <p:nvPicPr>
          <p:cNvPr id="19" name="" descr=""/>
          <p:cNvPicPr/>
          <p:nvPr/>
        </p:nvPicPr>
        <p:blipFill>
          <a:blip r:embed="rId2"/>
          <a:stretch/>
        </p:blipFill>
        <p:spPr>
          <a:xfrm>
            <a:off x="2368440" y="2011680"/>
            <a:ext cx="1077480" cy="967680"/>
          </a:xfrm>
          <a:prstGeom prst="rect">
            <a:avLst/>
          </a:prstGeom>
          <a:ln w="0">
            <a:noFill/>
          </a:ln>
        </p:spPr>
      </p:pic>
      <p:pic>
        <p:nvPicPr>
          <p:cNvPr id="20" name="" descr=""/>
          <p:cNvPicPr/>
          <p:nvPr/>
        </p:nvPicPr>
        <p:blipFill>
          <a:blip r:embed="rId3"/>
          <a:stretch/>
        </p:blipFill>
        <p:spPr>
          <a:xfrm>
            <a:off x="3557160" y="2011680"/>
            <a:ext cx="1077480" cy="967680"/>
          </a:xfrm>
          <a:prstGeom prst="rect">
            <a:avLst/>
          </a:prstGeom>
          <a:ln w="0">
            <a:noFill/>
          </a:ln>
        </p:spPr>
      </p:pic>
      <p:sp>
        <p:nvSpPr>
          <p:cNvPr id="21" name=""/>
          <p:cNvSpPr/>
          <p:nvPr/>
        </p:nvSpPr>
        <p:spPr>
          <a:xfrm>
            <a:off x="3904560" y="2331720"/>
            <a:ext cx="711720" cy="78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" name="" descr=""/>
          <p:cNvPicPr/>
          <p:nvPr/>
        </p:nvPicPr>
        <p:blipFill>
          <a:blip r:embed="rId4"/>
          <a:stretch/>
        </p:blipFill>
        <p:spPr>
          <a:xfrm>
            <a:off x="4745880" y="2011680"/>
            <a:ext cx="1077480" cy="967680"/>
          </a:xfrm>
          <a:prstGeom prst="rect">
            <a:avLst/>
          </a:prstGeom>
          <a:ln w="0">
            <a:noFill/>
          </a:ln>
        </p:spPr>
      </p:pic>
      <p:sp>
        <p:nvSpPr>
          <p:cNvPr id="23" name=""/>
          <p:cNvSpPr/>
          <p:nvPr/>
        </p:nvSpPr>
        <p:spPr>
          <a:xfrm>
            <a:off x="5093280" y="2331720"/>
            <a:ext cx="711720" cy="78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"/>
          <p:cNvSpPr/>
          <p:nvPr/>
        </p:nvSpPr>
        <p:spPr>
          <a:xfrm>
            <a:off x="283320" y="3282840"/>
            <a:ext cx="894600" cy="78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Parent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" name="" descr=""/>
          <p:cNvPicPr/>
          <p:nvPr/>
        </p:nvPicPr>
        <p:blipFill>
          <a:blip r:embed="rId5"/>
          <a:stretch/>
        </p:blipFill>
        <p:spPr>
          <a:xfrm>
            <a:off x="1179720" y="3026520"/>
            <a:ext cx="1077480" cy="967680"/>
          </a:xfrm>
          <a:prstGeom prst="rect">
            <a:avLst/>
          </a:prstGeom>
          <a:ln w="0">
            <a:noFill/>
          </a:ln>
        </p:spPr>
      </p:pic>
      <p:pic>
        <p:nvPicPr>
          <p:cNvPr id="26" name="" descr=""/>
          <p:cNvPicPr/>
          <p:nvPr/>
        </p:nvPicPr>
        <p:blipFill>
          <a:blip r:embed="rId6"/>
          <a:stretch/>
        </p:blipFill>
        <p:spPr>
          <a:xfrm>
            <a:off x="2368440" y="3026520"/>
            <a:ext cx="1077480" cy="967680"/>
          </a:xfrm>
          <a:prstGeom prst="rect">
            <a:avLst/>
          </a:prstGeom>
          <a:ln w="0">
            <a:noFill/>
          </a:ln>
        </p:spPr>
      </p:pic>
      <p:pic>
        <p:nvPicPr>
          <p:cNvPr id="27" name="" descr=""/>
          <p:cNvPicPr/>
          <p:nvPr/>
        </p:nvPicPr>
        <p:blipFill>
          <a:blip r:embed="rId7"/>
          <a:stretch/>
        </p:blipFill>
        <p:spPr>
          <a:xfrm>
            <a:off x="3557160" y="3026520"/>
            <a:ext cx="1077480" cy="967680"/>
          </a:xfrm>
          <a:prstGeom prst="rect">
            <a:avLst/>
          </a:prstGeom>
          <a:ln w="0">
            <a:noFill/>
          </a:ln>
        </p:spPr>
      </p:pic>
      <p:sp>
        <p:nvSpPr>
          <p:cNvPr id="28" name=""/>
          <p:cNvSpPr/>
          <p:nvPr/>
        </p:nvSpPr>
        <p:spPr>
          <a:xfrm>
            <a:off x="3904560" y="3346560"/>
            <a:ext cx="711720" cy="78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9" name="" descr=""/>
          <p:cNvPicPr/>
          <p:nvPr/>
        </p:nvPicPr>
        <p:blipFill>
          <a:blip r:embed="rId8"/>
          <a:stretch/>
        </p:blipFill>
        <p:spPr>
          <a:xfrm>
            <a:off x="4745880" y="3026520"/>
            <a:ext cx="1077480" cy="967680"/>
          </a:xfrm>
          <a:prstGeom prst="rect">
            <a:avLst/>
          </a:prstGeom>
          <a:ln w="0">
            <a:noFill/>
          </a:ln>
        </p:spPr>
      </p:pic>
      <p:sp>
        <p:nvSpPr>
          <p:cNvPr id="30" name=""/>
          <p:cNvSpPr/>
          <p:nvPr/>
        </p:nvSpPr>
        <p:spPr>
          <a:xfrm>
            <a:off x="5093280" y="3346560"/>
            <a:ext cx="711720" cy="78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"/>
          <p:cNvSpPr/>
          <p:nvPr/>
        </p:nvSpPr>
        <p:spPr>
          <a:xfrm>
            <a:off x="283320" y="4297680"/>
            <a:ext cx="894600" cy="78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Offspring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2" name="" descr=""/>
          <p:cNvPicPr/>
          <p:nvPr/>
        </p:nvPicPr>
        <p:blipFill>
          <a:blip r:embed="rId9"/>
          <a:stretch/>
        </p:blipFill>
        <p:spPr>
          <a:xfrm>
            <a:off x="1179720" y="4041720"/>
            <a:ext cx="1077480" cy="967680"/>
          </a:xfrm>
          <a:prstGeom prst="rect">
            <a:avLst/>
          </a:prstGeom>
          <a:ln w="0">
            <a:noFill/>
          </a:ln>
        </p:spPr>
      </p:pic>
      <p:pic>
        <p:nvPicPr>
          <p:cNvPr id="33" name="" descr=""/>
          <p:cNvPicPr/>
          <p:nvPr/>
        </p:nvPicPr>
        <p:blipFill>
          <a:blip r:embed="rId10"/>
          <a:stretch/>
        </p:blipFill>
        <p:spPr>
          <a:xfrm>
            <a:off x="2368440" y="4041720"/>
            <a:ext cx="1077480" cy="967680"/>
          </a:xfrm>
          <a:prstGeom prst="rect">
            <a:avLst/>
          </a:prstGeom>
          <a:ln w="0">
            <a:noFill/>
          </a:ln>
        </p:spPr>
      </p:pic>
      <p:pic>
        <p:nvPicPr>
          <p:cNvPr id="34" name="" descr=""/>
          <p:cNvPicPr/>
          <p:nvPr/>
        </p:nvPicPr>
        <p:blipFill>
          <a:blip r:embed="rId11"/>
          <a:stretch/>
        </p:blipFill>
        <p:spPr>
          <a:xfrm>
            <a:off x="3557160" y="4041720"/>
            <a:ext cx="1077480" cy="967680"/>
          </a:xfrm>
          <a:prstGeom prst="rect">
            <a:avLst/>
          </a:prstGeom>
          <a:ln w="0">
            <a:noFill/>
          </a:ln>
        </p:spPr>
      </p:pic>
      <p:pic>
        <p:nvPicPr>
          <p:cNvPr id="35" name="" descr=""/>
          <p:cNvPicPr/>
          <p:nvPr/>
        </p:nvPicPr>
        <p:blipFill>
          <a:blip r:embed="rId12"/>
          <a:stretch/>
        </p:blipFill>
        <p:spPr>
          <a:xfrm>
            <a:off x="4745880" y="4041720"/>
            <a:ext cx="1077480" cy="967680"/>
          </a:xfrm>
          <a:prstGeom prst="rect">
            <a:avLst/>
          </a:prstGeom>
          <a:ln w="0">
            <a:noFill/>
          </a:ln>
        </p:spPr>
      </p:pic>
      <p:sp>
        <p:nvSpPr>
          <p:cNvPr id="36" name=""/>
          <p:cNvSpPr/>
          <p:nvPr/>
        </p:nvSpPr>
        <p:spPr>
          <a:xfrm>
            <a:off x="283320" y="5312520"/>
            <a:ext cx="894600" cy="78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Offspring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7" name="" descr=""/>
          <p:cNvPicPr/>
          <p:nvPr/>
        </p:nvPicPr>
        <p:blipFill>
          <a:blip r:embed="rId13"/>
          <a:stretch/>
        </p:blipFill>
        <p:spPr>
          <a:xfrm>
            <a:off x="1179720" y="5056560"/>
            <a:ext cx="1077480" cy="967680"/>
          </a:xfrm>
          <a:prstGeom prst="rect">
            <a:avLst/>
          </a:prstGeom>
          <a:ln w="0">
            <a:noFill/>
          </a:ln>
        </p:spPr>
      </p:pic>
      <p:pic>
        <p:nvPicPr>
          <p:cNvPr id="38" name="" descr=""/>
          <p:cNvPicPr/>
          <p:nvPr/>
        </p:nvPicPr>
        <p:blipFill>
          <a:blip r:embed="rId14"/>
          <a:stretch/>
        </p:blipFill>
        <p:spPr>
          <a:xfrm>
            <a:off x="2368440" y="5056560"/>
            <a:ext cx="1077480" cy="967680"/>
          </a:xfrm>
          <a:prstGeom prst="rect">
            <a:avLst/>
          </a:prstGeom>
          <a:ln w="0">
            <a:noFill/>
          </a:ln>
        </p:spPr>
      </p:pic>
      <p:pic>
        <p:nvPicPr>
          <p:cNvPr id="39" name="" descr=""/>
          <p:cNvPicPr/>
          <p:nvPr/>
        </p:nvPicPr>
        <p:blipFill>
          <a:blip r:embed="rId15"/>
          <a:stretch/>
        </p:blipFill>
        <p:spPr>
          <a:xfrm>
            <a:off x="3557160" y="5056560"/>
            <a:ext cx="1077480" cy="967680"/>
          </a:xfrm>
          <a:prstGeom prst="rect">
            <a:avLst/>
          </a:prstGeom>
          <a:ln w="0">
            <a:noFill/>
          </a:ln>
        </p:spPr>
      </p:pic>
      <p:pic>
        <p:nvPicPr>
          <p:cNvPr id="40" name="" descr=""/>
          <p:cNvPicPr/>
          <p:nvPr/>
        </p:nvPicPr>
        <p:blipFill>
          <a:blip r:embed="rId16"/>
          <a:stretch/>
        </p:blipFill>
        <p:spPr>
          <a:xfrm>
            <a:off x="4745880" y="5056560"/>
            <a:ext cx="1077480" cy="967680"/>
          </a:xfrm>
          <a:prstGeom prst="rect">
            <a:avLst/>
          </a:prstGeom>
          <a:ln w="0">
            <a:noFill/>
          </a:ln>
        </p:spPr>
      </p:pic>
      <p:sp>
        <p:nvSpPr>
          <p:cNvPr id="41" name=""/>
          <p:cNvSpPr/>
          <p:nvPr/>
        </p:nvSpPr>
        <p:spPr>
          <a:xfrm>
            <a:off x="356760" y="6117480"/>
            <a:ext cx="5750280" cy="78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Density ρ: white 0 → teal 1 M/cell. Same x28–67, y28–63 crop; y up.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"/>
          <p:cNvSpPr/>
          <p:nvPr/>
        </p:nvSpPr>
        <p:spPr>
          <a:xfrm>
            <a:off x="6473880" y="1883520"/>
            <a:ext cx="3235680" cy="78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All six cut paths · body mass (M)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"/>
          <p:cNvSpPr/>
          <p:nvPr/>
        </p:nvSpPr>
        <p:spPr>
          <a:xfrm>
            <a:off x="6486480" y="2286000"/>
            <a:ext cx="360" cy="2157480"/>
          </a:xfrm>
          <a:prstGeom prst="line">
            <a:avLst/>
          </a:prstGeom>
          <a:ln w="9000">
            <a:solidFill>
              <a:srgbClr val="9da4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4" name=""/>
          <p:cNvSpPr/>
          <p:nvPr/>
        </p:nvSpPr>
        <p:spPr>
          <a:xfrm>
            <a:off x="6486480" y="4443480"/>
            <a:ext cx="3057480" cy="360"/>
          </a:xfrm>
          <a:prstGeom prst="line">
            <a:avLst/>
          </a:prstGeom>
          <a:ln w="9000">
            <a:solidFill>
              <a:srgbClr val="9da4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-49320" bIns="-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5" name=""/>
          <p:cNvSpPr/>
          <p:nvPr/>
        </p:nvSpPr>
        <p:spPr>
          <a:xfrm>
            <a:off x="6044040" y="4352400"/>
            <a:ext cx="464760" cy="78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0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"/>
          <p:cNvSpPr/>
          <p:nvPr/>
        </p:nvSpPr>
        <p:spPr>
          <a:xfrm>
            <a:off x="6044040" y="3273480"/>
            <a:ext cx="464760" cy="78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40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"/>
          <p:cNvSpPr/>
          <p:nvPr/>
        </p:nvSpPr>
        <p:spPr>
          <a:xfrm>
            <a:off x="6044040" y="2194560"/>
            <a:ext cx="464760" cy="78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80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"/>
          <p:cNvSpPr/>
          <p:nvPr/>
        </p:nvSpPr>
        <p:spPr>
          <a:xfrm>
            <a:off x="6364080" y="4517280"/>
            <a:ext cx="711720" cy="78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0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"/>
          <p:cNvSpPr/>
          <p:nvPr/>
        </p:nvSpPr>
        <p:spPr>
          <a:xfrm>
            <a:off x="8119800" y="4517280"/>
            <a:ext cx="711720" cy="78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128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"/>
          <p:cNvSpPr/>
          <p:nvPr/>
        </p:nvSpPr>
        <p:spPr>
          <a:xfrm>
            <a:off x="9427320" y="4517280"/>
            <a:ext cx="711720" cy="78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224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"/>
          <p:cNvSpPr/>
          <p:nvPr/>
        </p:nvSpPr>
        <p:spPr>
          <a:xfrm>
            <a:off x="8229600" y="2286000"/>
            <a:ext cx="360" cy="2157480"/>
          </a:xfrm>
          <a:prstGeom prst="line">
            <a:avLst/>
          </a:prstGeom>
          <a:ln w="9000">
            <a:solidFill>
              <a:srgbClr val="d9dd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2" name=""/>
          <p:cNvSpPr/>
          <p:nvPr/>
        </p:nvSpPr>
        <p:spPr>
          <a:xfrm>
            <a:off x="8686800" y="2286000"/>
            <a:ext cx="360" cy="2157480"/>
          </a:xfrm>
          <a:prstGeom prst="line">
            <a:avLst/>
          </a:prstGeom>
          <a:ln w="9000">
            <a:solidFill>
              <a:srgbClr val="d9dd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3" name=""/>
          <p:cNvSpPr/>
          <p:nvPr/>
        </p:nvSpPr>
        <p:spPr>
          <a:xfrm>
            <a:off x="6486480" y="2529000"/>
            <a:ext cx="3056040" cy="1913040"/>
          </a:xfrm>
          <a:custGeom>
            <a:avLst/>
            <a:gdLst>
              <a:gd name="textAreaLeft" fmla="*/ 0 w 3056040"/>
              <a:gd name="textAreaRight" fmla="*/ 3057480 w 3056040"/>
              <a:gd name="textAreaTop" fmla="*/ 0 h 1913040"/>
              <a:gd name="textAreaBottom" fmla="*/ 1914480 h 1913040"/>
            </a:gdLst>
            <a:ahLst/>
            <a:rect l="textAreaLeft" t="textAreaTop" r="textAreaRight" b="textAreaBottom"/>
            <a:pathLst>
              <a:path fill="none" w="8493" h="5318">
                <a:moveTo>
                  <a:pt x="0" y="0"/>
                </a:moveTo>
                <a:lnTo>
                  <a:pt x="79" y="1627"/>
                </a:lnTo>
                <a:lnTo>
                  <a:pt x="119" y="1984"/>
                </a:lnTo>
                <a:lnTo>
                  <a:pt x="159" y="2182"/>
                </a:lnTo>
                <a:lnTo>
                  <a:pt x="198" y="2302"/>
                </a:lnTo>
                <a:lnTo>
                  <a:pt x="278" y="2381"/>
                </a:lnTo>
                <a:lnTo>
                  <a:pt x="357" y="2381"/>
                </a:lnTo>
                <a:lnTo>
                  <a:pt x="436" y="2381"/>
                </a:lnTo>
                <a:lnTo>
                  <a:pt x="476" y="2341"/>
                </a:lnTo>
                <a:lnTo>
                  <a:pt x="555" y="2262"/>
                </a:lnTo>
                <a:lnTo>
                  <a:pt x="794" y="1944"/>
                </a:lnTo>
                <a:lnTo>
                  <a:pt x="913" y="1825"/>
                </a:lnTo>
                <a:lnTo>
                  <a:pt x="1032" y="1786"/>
                </a:lnTo>
                <a:lnTo>
                  <a:pt x="1190" y="1786"/>
                </a:lnTo>
                <a:lnTo>
                  <a:pt x="1667" y="1944"/>
                </a:lnTo>
                <a:lnTo>
                  <a:pt x="1825" y="1944"/>
                </a:lnTo>
                <a:lnTo>
                  <a:pt x="2103" y="1984"/>
                </a:lnTo>
                <a:lnTo>
                  <a:pt x="2381" y="2024"/>
                </a:lnTo>
                <a:lnTo>
                  <a:pt x="2659" y="2024"/>
                </a:lnTo>
                <a:lnTo>
                  <a:pt x="2937" y="1984"/>
                </a:lnTo>
                <a:lnTo>
                  <a:pt x="3413" y="1944"/>
                </a:lnTo>
                <a:lnTo>
                  <a:pt x="3929" y="1984"/>
                </a:lnTo>
                <a:lnTo>
                  <a:pt x="4246" y="1944"/>
                </a:lnTo>
                <a:lnTo>
                  <a:pt x="4604" y="1984"/>
                </a:lnTo>
                <a:lnTo>
                  <a:pt x="5080" y="1905"/>
                </a:lnTo>
                <a:lnTo>
                  <a:pt x="5397" y="1944"/>
                </a:lnTo>
                <a:lnTo>
                  <a:pt x="5675" y="1944"/>
                </a:lnTo>
                <a:lnTo>
                  <a:pt x="6072" y="2024"/>
                </a:lnTo>
                <a:lnTo>
                  <a:pt x="6112" y="2778"/>
                </a:lnTo>
                <a:lnTo>
                  <a:pt x="6151" y="2976"/>
                </a:lnTo>
                <a:lnTo>
                  <a:pt x="6231" y="3294"/>
                </a:lnTo>
                <a:lnTo>
                  <a:pt x="6389" y="4365"/>
                </a:lnTo>
                <a:lnTo>
                  <a:pt x="6469" y="4762"/>
                </a:lnTo>
                <a:lnTo>
                  <a:pt x="6588" y="5159"/>
                </a:lnTo>
                <a:lnTo>
                  <a:pt x="6667" y="5318"/>
                </a:lnTo>
                <a:lnTo>
                  <a:pt x="6747" y="5318"/>
                </a:lnTo>
                <a:lnTo>
                  <a:pt x="8493" y="5318"/>
                </a:lnTo>
              </a:path>
            </a:pathLst>
          </a:custGeom>
          <a:noFill/>
          <a:ln w="9000">
            <a:solidFill>
              <a:srgbClr val="9abfd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4" name=""/>
          <p:cNvSpPr/>
          <p:nvPr/>
        </p:nvSpPr>
        <p:spPr>
          <a:xfrm>
            <a:off x="6486480" y="2529000"/>
            <a:ext cx="3056040" cy="1913040"/>
          </a:xfrm>
          <a:custGeom>
            <a:avLst/>
            <a:gdLst>
              <a:gd name="textAreaLeft" fmla="*/ 0 w 3056040"/>
              <a:gd name="textAreaRight" fmla="*/ 3057480 w 3056040"/>
              <a:gd name="textAreaTop" fmla="*/ 0 h 1913040"/>
              <a:gd name="textAreaBottom" fmla="*/ 1914480 h 1913040"/>
            </a:gdLst>
            <a:ahLst/>
            <a:rect l="textAreaLeft" t="textAreaTop" r="textAreaRight" b="textAreaBottom"/>
            <a:pathLst>
              <a:path fill="none" w="8493" h="5318">
                <a:moveTo>
                  <a:pt x="0" y="0"/>
                </a:moveTo>
                <a:lnTo>
                  <a:pt x="79" y="1627"/>
                </a:lnTo>
                <a:lnTo>
                  <a:pt x="119" y="1984"/>
                </a:lnTo>
                <a:lnTo>
                  <a:pt x="159" y="2182"/>
                </a:lnTo>
                <a:lnTo>
                  <a:pt x="198" y="2302"/>
                </a:lnTo>
                <a:lnTo>
                  <a:pt x="278" y="2381"/>
                </a:lnTo>
                <a:lnTo>
                  <a:pt x="357" y="2381"/>
                </a:lnTo>
                <a:lnTo>
                  <a:pt x="436" y="2381"/>
                </a:lnTo>
                <a:lnTo>
                  <a:pt x="476" y="2341"/>
                </a:lnTo>
                <a:lnTo>
                  <a:pt x="555" y="2262"/>
                </a:lnTo>
                <a:lnTo>
                  <a:pt x="794" y="1944"/>
                </a:lnTo>
                <a:lnTo>
                  <a:pt x="913" y="1825"/>
                </a:lnTo>
                <a:lnTo>
                  <a:pt x="1032" y="1786"/>
                </a:lnTo>
                <a:lnTo>
                  <a:pt x="1190" y="1786"/>
                </a:lnTo>
                <a:lnTo>
                  <a:pt x="1667" y="1944"/>
                </a:lnTo>
                <a:lnTo>
                  <a:pt x="1825" y="1944"/>
                </a:lnTo>
                <a:lnTo>
                  <a:pt x="2064" y="1984"/>
                </a:lnTo>
                <a:lnTo>
                  <a:pt x="2302" y="2024"/>
                </a:lnTo>
                <a:lnTo>
                  <a:pt x="2500" y="2024"/>
                </a:lnTo>
                <a:lnTo>
                  <a:pt x="2937" y="1984"/>
                </a:lnTo>
                <a:lnTo>
                  <a:pt x="3413" y="1944"/>
                </a:lnTo>
                <a:lnTo>
                  <a:pt x="3969" y="1984"/>
                </a:lnTo>
                <a:lnTo>
                  <a:pt x="4246" y="1944"/>
                </a:lnTo>
                <a:lnTo>
                  <a:pt x="4604" y="1984"/>
                </a:lnTo>
                <a:lnTo>
                  <a:pt x="4842" y="1944"/>
                </a:lnTo>
                <a:lnTo>
                  <a:pt x="4881" y="2302"/>
                </a:lnTo>
                <a:lnTo>
                  <a:pt x="5040" y="2302"/>
                </a:lnTo>
                <a:lnTo>
                  <a:pt x="5199" y="2262"/>
                </a:lnTo>
                <a:lnTo>
                  <a:pt x="5278" y="2222"/>
                </a:lnTo>
                <a:lnTo>
                  <a:pt x="5437" y="2063"/>
                </a:lnTo>
                <a:lnTo>
                  <a:pt x="5477" y="2381"/>
                </a:lnTo>
                <a:lnTo>
                  <a:pt x="5596" y="2302"/>
                </a:lnTo>
                <a:lnTo>
                  <a:pt x="5794" y="2063"/>
                </a:lnTo>
                <a:lnTo>
                  <a:pt x="5874" y="1984"/>
                </a:lnTo>
                <a:lnTo>
                  <a:pt x="5953" y="1944"/>
                </a:lnTo>
                <a:lnTo>
                  <a:pt x="6072" y="1944"/>
                </a:lnTo>
                <a:lnTo>
                  <a:pt x="6112" y="2659"/>
                </a:lnTo>
                <a:lnTo>
                  <a:pt x="6270" y="2778"/>
                </a:lnTo>
                <a:lnTo>
                  <a:pt x="6350" y="2817"/>
                </a:lnTo>
                <a:lnTo>
                  <a:pt x="6429" y="2937"/>
                </a:lnTo>
                <a:lnTo>
                  <a:pt x="6469" y="3095"/>
                </a:lnTo>
                <a:lnTo>
                  <a:pt x="6548" y="3532"/>
                </a:lnTo>
                <a:lnTo>
                  <a:pt x="6628" y="4207"/>
                </a:lnTo>
                <a:lnTo>
                  <a:pt x="6747" y="5000"/>
                </a:lnTo>
                <a:lnTo>
                  <a:pt x="6786" y="5159"/>
                </a:lnTo>
                <a:lnTo>
                  <a:pt x="6866" y="5278"/>
                </a:lnTo>
                <a:lnTo>
                  <a:pt x="6905" y="5318"/>
                </a:lnTo>
                <a:lnTo>
                  <a:pt x="8493" y="5318"/>
                </a:lnTo>
              </a:path>
            </a:pathLst>
          </a:custGeom>
          <a:noFill/>
          <a:ln w="9000">
            <a:solidFill>
              <a:srgbClr val="dbb89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5" name=""/>
          <p:cNvSpPr/>
          <p:nvPr/>
        </p:nvSpPr>
        <p:spPr>
          <a:xfrm>
            <a:off x="6486480" y="2529000"/>
            <a:ext cx="3056040" cy="1913040"/>
          </a:xfrm>
          <a:custGeom>
            <a:avLst/>
            <a:gdLst>
              <a:gd name="textAreaLeft" fmla="*/ 0 w 3056040"/>
              <a:gd name="textAreaRight" fmla="*/ 3057480 w 3056040"/>
              <a:gd name="textAreaTop" fmla="*/ 0 h 1913040"/>
              <a:gd name="textAreaBottom" fmla="*/ 1914480 h 1913040"/>
            </a:gdLst>
            <a:ahLst/>
            <a:rect l="textAreaLeft" t="textAreaTop" r="textAreaRight" b="textAreaBottom"/>
            <a:pathLst>
              <a:path fill="none" w="8493" h="5318">
                <a:moveTo>
                  <a:pt x="0" y="0"/>
                </a:moveTo>
                <a:lnTo>
                  <a:pt x="79" y="1627"/>
                </a:lnTo>
                <a:lnTo>
                  <a:pt x="119" y="1984"/>
                </a:lnTo>
                <a:lnTo>
                  <a:pt x="159" y="2182"/>
                </a:lnTo>
                <a:lnTo>
                  <a:pt x="198" y="2302"/>
                </a:lnTo>
                <a:lnTo>
                  <a:pt x="278" y="2381"/>
                </a:lnTo>
                <a:lnTo>
                  <a:pt x="357" y="2381"/>
                </a:lnTo>
                <a:lnTo>
                  <a:pt x="436" y="2381"/>
                </a:lnTo>
                <a:lnTo>
                  <a:pt x="476" y="2341"/>
                </a:lnTo>
                <a:lnTo>
                  <a:pt x="555" y="2262"/>
                </a:lnTo>
                <a:lnTo>
                  <a:pt x="794" y="1944"/>
                </a:lnTo>
                <a:lnTo>
                  <a:pt x="913" y="1825"/>
                </a:lnTo>
                <a:lnTo>
                  <a:pt x="1032" y="1786"/>
                </a:lnTo>
                <a:lnTo>
                  <a:pt x="1190" y="1786"/>
                </a:lnTo>
                <a:lnTo>
                  <a:pt x="1667" y="1944"/>
                </a:lnTo>
                <a:lnTo>
                  <a:pt x="1825" y="1944"/>
                </a:lnTo>
                <a:lnTo>
                  <a:pt x="2103" y="1984"/>
                </a:lnTo>
                <a:lnTo>
                  <a:pt x="2381" y="2024"/>
                </a:lnTo>
                <a:lnTo>
                  <a:pt x="2659" y="2024"/>
                </a:lnTo>
                <a:lnTo>
                  <a:pt x="2937" y="1984"/>
                </a:lnTo>
                <a:lnTo>
                  <a:pt x="3413" y="1944"/>
                </a:lnTo>
                <a:lnTo>
                  <a:pt x="3929" y="1984"/>
                </a:lnTo>
                <a:lnTo>
                  <a:pt x="4246" y="1944"/>
                </a:lnTo>
                <a:lnTo>
                  <a:pt x="4604" y="1984"/>
                </a:lnTo>
                <a:lnTo>
                  <a:pt x="5040" y="1905"/>
                </a:lnTo>
                <a:lnTo>
                  <a:pt x="5358" y="1984"/>
                </a:lnTo>
                <a:lnTo>
                  <a:pt x="5635" y="1984"/>
                </a:lnTo>
                <a:lnTo>
                  <a:pt x="5794" y="2024"/>
                </a:lnTo>
                <a:lnTo>
                  <a:pt x="6072" y="2103"/>
                </a:lnTo>
                <a:lnTo>
                  <a:pt x="6112" y="2857"/>
                </a:lnTo>
                <a:lnTo>
                  <a:pt x="6151" y="3056"/>
                </a:lnTo>
                <a:lnTo>
                  <a:pt x="6191" y="3214"/>
                </a:lnTo>
                <a:lnTo>
                  <a:pt x="6350" y="4286"/>
                </a:lnTo>
                <a:lnTo>
                  <a:pt x="6429" y="4683"/>
                </a:lnTo>
                <a:lnTo>
                  <a:pt x="6548" y="5159"/>
                </a:lnTo>
                <a:lnTo>
                  <a:pt x="6628" y="5318"/>
                </a:lnTo>
                <a:lnTo>
                  <a:pt x="6707" y="5318"/>
                </a:lnTo>
                <a:lnTo>
                  <a:pt x="8493" y="5318"/>
                </a:lnTo>
              </a:path>
            </a:pathLst>
          </a:custGeom>
          <a:noFill/>
          <a:ln w="9000">
            <a:solidFill>
              <a:srgbClr val="b4adc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6" name=""/>
          <p:cNvSpPr/>
          <p:nvPr/>
        </p:nvSpPr>
        <p:spPr>
          <a:xfrm>
            <a:off x="6486480" y="2529000"/>
            <a:ext cx="3056040" cy="812880"/>
          </a:xfrm>
          <a:custGeom>
            <a:avLst/>
            <a:gdLst>
              <a:gd name="textAreaLeft" fmla="*/ 0 w 3056040"/>
              <a:gd name="textAreaRight" fmla="*/ 3057480 w 3056040"/>
              <a:gd name="textAreaTop" fmla="*/ 0 h 812880"/>
              <a:gd name="textAreaBottom" fmla="*/ 814320 h 812880"/>
            </a:gdLst>
            <a:ahLst/>
            <a:rect l="textAreaLeft" t="textAreaTop" r="textAreaRight" b="textAreaBottom"/>
            <a:pathLst>
              <a:path fill="none" w="8493" h="2262">
                <a:moveTo>
                  <a:pt x="0" y="0"/>
                </a:moveTo>
                <a:lnTo>
                  <a:pt x="79" y="1071"/>
                </a:lnTo>
                <a:lnTo>
                  <a:pt x="119" y="1905"/>
                </a:lnTo>
                <a:lnTo>
                  <a:pt x="159" y="2063"/>
                </a:lnTo>
                <a:lnTo>
                  <a:pt x="198" y="2182"/>
                </a:lnTo>
                <a:lnTo>
                  <a:pt x="278" y="2262"/>
                </a:lnTo>
                <a:lnTo>
                  <a:pt x="317" y="2262"/>
                </a:lnTo>
                <a:lnTo>
                  <a:pt x="397" y="2262"/>
                </a:lnTo>
                <a:lnTo>
                  <a:pt x="436" y="2222"/>
                </a:lnTo>
                <a:lnTo>
                  <a:pt x="714" y="1825"/>
                </a:lnTo>
                <a:lnTo>
                  <a:pt x="794" y="1746"/>
                </a:lnTo>
                <a:lnTo>
                  <a:pt x="913" y="1706"/>
                </a:lnTo>
                <a:lnTo>
                  <a:pt x="1032" y="1667"/>
                </a:lnTo>
                <a:lnTo>
                  <a:pt x="1429" y="1786"/>
                </a:lnTo>
                <a:lnTo>
                  <a:pt x="1865" y="1865"/>
                </a:lnTo>
                <a:lnTo>
                  <a:pt x="2262" y="1865"/>
                </a:lnTo>
                <a:lnTo>
                  <a:pt x="2818" y="1667"/>
                </a:lnTo>
                <a:lnTo>
                  <a:pt x="3095" y="1627"/>
                </a:lnTo>
                <a:lnTo>
                  <a:pt x="3532" y="1508"/>
                </a:lnTo>
                <a:lnTo>
                  <a:pt x="3691" y="1428"/>
                </a:lnTo>
                <a:lnTo>
                  <a:pt x="3969" y="1309"/>
                </a:lnTo>
                <a:lnTo>
                  <a:pt x="4326" y="1190"/>
                </a:lnTo>
                <a:lnTo>
                  <a:pt x="4643" y="992"/>
                </a:lnTo>
                <a:lnTo>
                  <a:pt x="4842" y="952"/>
                </a:lnTo>
                <a:lnTo>
                  <a:pt x="5000" y="833"/>
                </a:lnTo>
                <a:lnTo>
                  <a:pt x="5159" y="754"/>
                </a:lnTo>
                <a:lnTo>
                  <a:pt x="5556" y="674"/>
                </a:lnTo>
                <a:lnTo>
                  <a:pt x="5834" y="714"/>
                </a:lnTo>
                <a:lnTo>
                  <a:pt x="6072" y="754"/>
                </a:lnTo>
                <a:lnTo>
                  <a:pt x="6112" y="1667"/>
                </a:lnTo>
                <a:lnTo>
                  <a:pt x="6231" y="1547"/>
                </a:lnTo>
                <a:lnTo>
                  <a:pt x="6588" y="1230"/>
                </a:lnTo>
                <a:lnTo>
                  <a:pt x="6786" y="1111"/>
                </a:lnTo>
                <a:lnTo>
                  <a:pt x="7024" y="992"/>
                </a:lnTo>
                <a:lnTo>
                  <a:pt x="7302" y="952"/>
                </a:lnTo>
                <a:lnTo>
                  <a:pt x="7461" y="992"/>
                </a:lnTo>
                <a:lnTo>
                  <a:pt x="7620" y="1032"/>
                </a:lnTo>
                <a:lnTo>
                  <a:pt x="8175" y="1508"/>
                </a:lnTo>
                <a:lnTo>
                  <a:pt x="8493" y="1706"/>
                </a:lnTo>
              </a:path>
            </a:pathLst>
          </a:custGeom>
          <a:noFill/>
          <a:ln w="18360">
            <a:solidFill>
              <a:srgbClr val="2177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7" name=""/>
          <p:cNvSpPr/>
          <p:nvPr/>
        </p:nvSpPr>
        <p:spPr>
          <a:xfrm>
            <a:off x="6486480" y="2529000"/>
            <a:ext cx="3056040" cy="812880"/>
          </a:xfrm>
          <a:custGeom>
            <a:avLst/>
            <a:gdLst>
              <a:gd name="textAreaLeft" fmla="*/ 0 w 3056040"/>
              <a:gd name="textAreaRight" fmla="*/ 3057480 w 3056040"/>
              <a:gd name="textAreaTop" fmla="*/ 0 h 812880"/>
              <a:gd name="textAreaBottom" fmla="*/ 814320 h 812880"/>
            </a:gdLst>
            <a:ahLst/>
            <a:rect l="textAreaLeft" t="textAreaTop" r="textAreaRight" b="textAreaBottom"/>
            <a:pathLst>
              <a:path fill="none" w="8493" h="2262">
                <a:moveTo>
                  <a:pt x="0" y="0"/>
                </a:moveTo>
                <a:lnTo>
                  <a:pt x="79" y="1071"/>
                </a:lnTo>
                <a:lnTo>
                  <a:pt x="119" y="1905"/>
                </a:lnTo>
                <a:lnTo>
                  <a:pt x="159" y="2063"/>
                </a:lnTo>
                <a:lnTo>
                  <a:pt x="198" y="2182"/>
                </a:lnTo>
                <a:lnTo>
                  <a:pt x="278" y="2262"/>
                </a:lnTo>
                <a:lnTo>
                  <a:pt x="317" y="2262"/>
                </a:lnTo>
                <a:lnTo>
                  <a:pt x="397" y="2262"/>
                </a:lnTo>
                <a:lnTo>
                  <a:pt x="436" y="2222"/>
                </a:lnTo>
                <a:lnTo>
                  <a:pt x="714" y="1825"/>
                </a:lnTo>
                <a:lnTo>
                  <a:pt x="794" y="1746"/>
                </a:lnTo>
                <a:lnTo>
                  <a:pt x="913" y="1706"/>
                </a:lnTo>
                <a:lnTo>
                  <a:pt x="1032" y="1667"/>
                </a:lnTo>
                <a:lnTo>
                  <a:pt x="1429" y="1786"/>
                </a:lnTo>
                <a:lnTo>
                  <a:pt x="1905" y="1865"/>
                </a:lnTo>
                <a:lnTo>
                  <a:pt x="2222" y="1865"/>
                </a:lnTo>
                <a:lnTo>
                  <a:pt x="2818" y="1667"/>
                </a:lnTo>
                <a:lnTo>
                  <a:pt x="3095" y="1627"/>
                </a:lnTo>
                <a:lnTo>
                  <a:pt x="3532" y="1508"/>
                </a:lnTo>
                <a:lnTo>
                  <a:pt x="3691" y="1428"/>
                </a:lnTo>
                <a:lnTo>
                  <a:pt x="3969" y="1309"/>
                </a:lnTo>
                <a:lnTo>
                  <a:pt x="4326" y="1190"/>
                </a:lnTo>
                <a:lnTo>
                  <a:pt x="4643" y="992"/>
                </a:lnTo>
                <a:lnTo>
                  <a:pt x="4842" y="952"/>
                </a:lnTo>
                <a:lnTo>
                  <a:pt x="4881" y="1349"/>
                </a:lnTo>
                <a:lnTo>
                  <a:pt x="5159" y="1151"/>
                </a:lnTo>
                <a:lnTo>
                  <a:pt x="5437" y="1032"/>
                </a:lnTo>
                <a:lnTo>
                  <a:pt x="5477" y="1468"/>
                </a:lnTo>
                <a:lnTo>
                  <a:pt x="5715" y="1389"/>
                </a:lnTo>
                <a:lnTo>
                  <a:pt x="6072" y="1190"/>
                </a:lnTo>
                <a:lnTo>
                  <a:pt x="6112" y="2063"/>
                </a:lnTo>
                <a:lnTo>
                  <a:pt x="6389" y="2222"/>
                </a:lnTo>
                <a:lnTo>
                  <a:pt x="6469" y="2222"/>
                </a:lnTo>
                <a:lnTo>
                  <a:pt x="6548" y="2222"/>
                </a:lnTo>
                <a:lnTo>
                  <a:pt x="6826" y="2024"/>
                </a:lnTo>
                <a:lnTo>
                  <a:pt x="6945" y="1984"/>
                </a:lnTo>
                <a:lnTo>
                  <a:pt x="7024" y="1944"/>
                </a:lnTo>
                <a:lnTo>
                  <a:pt x="7064" y="1984"/>
                </a:lnTo>
                <a:lnTo>
                  <a:pt x="7382" y="2063"/>
                </a:lnTo>
                <a:lnTo>
                  <a:pt x="8255" y="2103"/>
                </a:lnTo>
                <a:lnTo>
                  <a:pt x="8493" y="2143"/>
                </a:lnTo>
              </a:path>
            </a:pathLst>
          </a:custGeom>
          <a:noFill/>
          <a:ln w="18360">
            <a:solidFill>
              <a:srgbClr val="c471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8" name=""/>
          <p:cNvSpPr/>
          <p:nvPr/>
        </p:nvSpPr>
        <p:spPr>
          <a:xfrm>
            <a:off x="6486480" y="2529000"/>
            <a:ext cx="3056040" cy="812880"/>
          </a:xfrm>
          <a:custGeom>
            <a:avLst/>
            <a:gdLst>
              <a:gd name="textAreaLeft" fmla="*/ 0 w 3056040"/>
              <a:gd name="textAreaRight" fmla="*/ 3057480 w 3056040"/>
              <a:gd name="textAreaTop" fmla="*/ 0 h 812880"/>
              <a:gd name="textAreaBottom" fmla="*/ 814320 h 812880"/>
            </a:gdLst>
            <a:ahLst/>
            <a:rect l="textAreaLeft" t="textAreaTop" r="textAreaRight" b="textAreaBottom"/>
            <a:pathLst>
              <a:path fill="none" w="8493" h="2262">
                <a:moveTo>
                  <a:pt x="0" y="0"/>
                </a:moveTo>
                <a:lnTo>
                  <a:pt x="79" y="1071"/>
                </a:lnTo>
                <a:lnTo>
                  <a:pt x="119" y="1905"/>
                </a:lnTo>
                <a:lnTo>
                  <a:pt x="159" y="2063"/>
                </a:lnTo>
                <a:lnTo>
                  <a:pt x="198" y="2182"/>
                </a:lnTo>
                <a:lnTo>
                  <a:pt x="278" y="2262"/>
                </a:lnTo>
                <a:lnTo>
                  <a:pt x="317" y="2262"/>
                </a:lnTo>
                <a:lnTo>
                  <a:pt x="397" y="2262"/>
                </a:lnTo>
                <a:lnTo>
                  <a:pt x="436" y="2222"/>
                </a:lnTo>
                <a:lnTo>
                  <a:pt x="714" y="1825"/>
                </a:lnTo>
                <a:lnTo>
                  <a:pt x="794" y="1746"/>
                </a:lnTo>
                <a:lnTo>
                  <a:pt x="913" y="1706"/>
                </a:lnTo>
                <a:lnTo>
                  <a:pt x="1032" y="1667"/>
                </a:lnTo>
                <a:lnTo>
                  <a:pt x="1429" y="1786"/>
                </a:lnTo>
                <a:lnTo>
                  <a:pt x="1905" y="1865"/>
                </a:lnTo>
                <a:lnTo>
                  <a:pt x="2222" y="1865"/>
                </a:lnTo>
                <a:lnTo>
                  <a:pt x="2818" y="1667"/>
                </a:lnTo>
                <a:lnTo>
                  <a:pt x="3095" y="1627"/>
                </a:lnTo>
                <a:lnTo>
                  <a:pt x="3532" y="1508"/>
                </a:lnTo>
                <a:lnTo>
                  <a:pt x="3691" y="1428"/>
                </a:lnTo>
                <a:lnTo>
                  <a:pt x="3969" y="1309"/>
                </a:lnTo>
                <a:lnTo>
                  <a:pt x="4326" y="1190"/>
                </a:lnTo>
                <a:lnTo>
                  <a:pt x="4604" y="1032"/>
                </a:lnTo>
                <a:lnTo>
                  <a:pt x="4723" y="992"/>
                </a:lnTo>
                <a:lnTo>
                  <a:pt x="5239" y="833"/>
                </a:lnTo>
                <a:lnTo>
                  <a:pt x="5794" y="793"/>
                </a:lnTo>
                <a:lnTo>
                  <a:pt x="6072" y="793"/>
                </a:lnTo>
                <a:lnTo>
                  <a:pt x="6112" y="1706"/>
                </a:lnTo>
                <a:lnTo>
                  <a:pt x="6469" y="1786"/>
                </a:lnTo>
                <a:lnTo>
                  <a:pt x="7064" y="2024"/>
                </a:lnTo>
                <a:lnTo>
                  <a:pt x="7183" y="2063"/>
                </a:lnTo>
                <a:lnTo>
                  <a:pt x="7540" y="2063"/>
                </a:lnTo>
                <a:lnTo>
                  <a:pt x="7977" y="2063"/>
                </a:lnTo>
                <a:lnTo>
                  <a:pt x="8136" y="2103"/>
                </a:lnTo>
                <a:lnTo>
                  <a:pt x="8374" y="2103"/>
                </a:lnTo>
                <a:lnTo>
                  <a:pt x="8493" y="2103"/>
                </a:lnTo>
              </a:path>
            </a:pathLst>
          </a:custGeom>
          <a:noFill/>
          <a:ln w="18360">
            <a:solidFill>
              <a:srgbClr val="6055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9" name=""/>
          <p:cNvSpPr/>
          <p:nvPr/>
        </p:nvSpPr>
        <p:spPr>
          <a:xfrm>
            <a:off x="6486480" y="4843440"/>
            <a:ext cx="228600" cy="360"/>
          </a:xfrm>
          <a:prstGeom prst="line">
            <a:avLst/>
          </a:prstGeom>
          <a:ln w="27360">
            <a:solidFill>
              <a:srgbClr val="2177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3680" rIns="103680" tIns="-58680" bIns="-5868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0" name=""/>
          <p:cNvSpPr/>
          <p:nvPr/>
        </p:nvSpPr>
        <p:spPr>
          <a:xfrm>
            <a:off x="6766560" y="4745880"/>
            <a:ext cx="711720" cy="78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"/>
          <p:cNvSpPr/>
          <p:nvPr/>
        </p:nvSpPr>
        <p:spPr>
          <a:xfrm>
            <a:off x="7557840" y="4843440"/>
            <a:ext cx="243000" cy="360"/>
          </a:xfrm>
          <a:prstGeom prst="line">
            <a:avLst/>
          </a:prstGeom>
          <a:ln w="27360">
            <a:solidFill>
              <a:srgbClr val="c471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3680" rIns="103680" tIns="-58680" bIns="-5868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2" name=""/>
          <p:cNvSpPr/>
          <p:nvPr/>
        </p:nvSpPr>
        <p:spPr>
          <a:xfrm>
            <a:off x="7845480" y="4745880"/>
            <a:ext cx="711720" cy="78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C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"/>
          <p:cNvSpPr/>
          <p:nvPr/>
        </p:nvSpPr>
        <p:spPr>
          <a:xfrm>
            <a:off x="8643960" y="4843440"/>
            <a:ext cx="228600" cy="360"/>
          </a:xfrm>
          <a:prstGeom prst="line">
            <a:avLst/>
          </a:prstGeom>
          <a:ln w="27360">
            <a:solidFill>
              <a:srgbClr val="6055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3680" rIns="103680" tIns="-58680" bIns="-5868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4" name=""/>
          <p:cNvSpPr/>
          <p:nvPr/>
        </p:nvSpPr>
        <p:spPr>
          <a:xfrm>
            <a:off x="8924400" y="4745880"/>
            <a:ext cx="711720" cy="78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T00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"/>
          <p:cNvSpPr/>
          <p:nvPr/>
        </p:nvSpPr>
        <p:spPr>
          <a:xfrm>
            <a:off x="6473880" y="5001840"/>
            <a:ext cx="3235680" cy="78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Light: parent; dark: offspring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357120" y="6429240"/>
            <a:ext cx="9358200" cy="360"/>
          </a:xfrm>
          <a:prstGeom prst="line">
            <a:avLst/>
          </a:prstGeom>
          <a:ln w="9000">
            <a:solidFill>
              <a:srgbClr val="bfc5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-49320" bIns="-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7" name=""/>
          <p:cNvSpPr/>
          <p:nvPr/>
        </p:nvSpPr>
        <p:spPr>
          <a:xfrm>
            <a:off x="356760" y="6510600"/>
            <a:ext cx="9352800" cy="85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B  Positive interaction does not make injury experience beneficial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"/>
          <p:cNvSpPr/>
          <p:nvPr/>
        </p:nvSpPr>
        <p:spPr>
          <a:xfrm>
            <a:off x="1252800" y="6784920"/>
            <a:ext cx="711720" cy="78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160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2157840" y="6784920"/>
            <a:ext cx="711720" cy="78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224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"/>
          <p:cNvSpPr/>
          <p:nvPr/>
        </p:nvSpPr>
        <p:spPr>
          <a:xfrm>
            <a:off x="320040" y="7159680"/>
            <a:ext cx="931320" cy="78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Parent 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1" name="" descr=""/>
          <p:cNvPicPr/>
          <p:nvPr/>
        </p:nvPicPr>
        <p:blipFill>
          <a:blip r:embed="rId17"/>
          <a:stretch/>
        </p:blipFill>
        <p:spPr>
          <a:xfrm>
            <a:off x="1252800" y="6995160"/>
            <a:ext cx="684360" cy="638640"/>
          </a:xfrm>
          <a:prstGeom prst="rect">
            <a:avLst/>
          </a:prstGeom>
          <a:ln w="0">
            <a:noFill/>
          </a:ln>
        </p:spPr>
      </p:pic>
      <p:pic>
        <p:nvPicPr>
          <p:cNvPr id="72" name="" descr=""/>
          <p:cNvPicPr/>
          <p:nvPr/>
        </p:nvPicPr>
        <p:blipFill>
          <a:blip r:embed="rId18"/>
          <a:stretch/>
        </p:blipFill>
        <p:spPr>
          <a:xfrm>
            <a:off x="2157840" y="6995160"/>
            <a:ext cx="684360" cy="638640"/>
          </a:xfrm>
          <a:prstGeom prst="rect">
            <a:avLst/>
          </a:prstGeom>
          <a:ln w="0">
            <a:noFill/>
          </a:ln>
        </p:spPr>
      </p:pic>
      <p:sp>
        <p:nvSpPr>
          <p:cNvPr id="73" name=""/>
          <p:cNvSpPr/>
          <p:nvPr/>
        </p:nvSpPr>
        <p:spPr>
          <a:xfrm>
            <a:off x="320040" y="7845480"/>
            <a:ext cx="931320" cy="78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Parent C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4" name="" descr=""/>
          <p:cNvPicPr/>
          <p:nvPr/>
        </p:nvPicPr>
        <p:blipFill>
          <a:blip r:embed="rId19"/>
          <a:stretch/>
        </p:blipFill>
        <p:spPr>
          <a:xfrm>
            <a:off x="1252800" y="7680960"/>
            <a:ext cx="684360" cy="638640"/>
          </a:xfrm>
          <a:prstGeom prst="rect">
            <a:avLst/>
          </a:prstGeom>
          <a:ln w="0">
            <a:noFill/>
          </a:ln>
        </p:spPr>
      </p:pic>
      <p:pic>
        <p:nvPicPr>
          <p:cNvPr id="75" name="" descr=""/>
          <p:cNvPicPr/>
          <p:nvPr/>
        </p:nvPicPr>
        <p:blipFill>
          <a:blip r:embed="rId20"/>
          <a:stretch/>
        </p:blipFill>
        <p:spPr>
          <a:xfrm>
            <a:off x="2157840" y="7680960"/>
            <a:ext cx="684360" cy="638640"/>
          </a:xfrm>
          <a:prstGeom prst="rect">
            <a:avLst/>
          </a:prstGeom>
          <a:ln w="0">
            <a:noFill/>
          </a:ln>
        </p:spPr>
      </p:pic>
      <p:sp>
        <p:nvSpPr>
          <p:cNvPr id="76" name=""/>
          <p:cNvSpPr/>
          <p:nvPr/>
        </p:nvSpPr>
        <p:spPr>
          <a:xfrm>
            <a:off x="320040" y="8531280"/>
            <a:ext cx="931320" cy="78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Child 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7" name="" descr=""/>
          <p:cNvPicPr/>
          <p:nvPr/>
        </p:nvPicPr>
        <p:blipFill>
          <a:blip r:embed="rId21"/>
          <a:stretch/>
        </p:blipFill>
        <p:spPr>
          <a:xfrm>
            <a:off x="1252800" y="8366760"/>
            <a:ext cx="684360" cy="638640"/>
          </a:xfrm>
          <a:prstGeom prst="rect">
            <a:avLst/>
          </a:prstGeom>
          <a:ln w="0">
            <a:noFill/>
          </a:ln>
        </p:spPr>
      </p:pic>
      <p:pic>
        <p:nvPicPr>
          <p:cNvPr id="78" name="" descr=""/>
          <p:cNvPicPr/>
          <p:nvPr/>
        </p:nvPicPr>
        <p:blipFill>
          <a:blip r:embed="rId22"/>
          <a:stretch/>
        </p:blipFill>
        <p:spPr>
          <a:xfrm>
            <a:off x="2157840" y="8366760"/>
            <a:ext cx="684360" cy="638640"/>
          </a:xfrm>
          <a:prstGeom prst="rect">
            <a:avLst/>
          </a:prstGeom>
          <a:ln w="0">
            <a:noFill/>
          </a:ln>
        </p:spPr>
      </p:pic>
      <p:sp>
        <p:nvSpPr>
          <p:cNvPr id="79" name=""/>
          <p:cNvSpPr/>
          <p:nvPr/>
        </p:nvSpPr>
        <p:spPr>
          <a:xfrm>
            <a:off x="320040" y="9208080"/>
            <a:ext cx="931320" cy="78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Child C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0" name="" descr=""/>
          <p:cNvPicPr/>
          <p:nvPr/>
        </p:nvPicPr>
        <p:blipFill>
          <a:blip r:embed="rId23"/>
          <a:stretch/>
        </p:blipFill>
        <p:spPr>
          <a:xfrm>
            <a:off x="1252800" y="9052560"/>
            <a:ext cx="684360" cy="638640"/>
          </a:xfrm>
          <a:prstGeom prst="rect">
            <a:avLst/>
          </a:prstGeom>
          <a:ln w="0">
            <a:noFill/>
          </a:ln>
        </p:spPr>
      </p:pic>
      <p:pic>
        <p:nvPicPr>
          <p:cNvPr id="81" name="" descr=""/>
          <p:cNvPicPr/>
          <p:nvPr/>
        </p:nvPicPr>
        <p:blipFill>
          <a:blip r:embed="rId24"/>
          <a:stretch/>
        </p:blipFill>
        <p:spPr>
          <a:xfrm>
            <a:off x="2157840" y="9052560"/>
            <a:ext cx="684360" cy="638640"/>
          </a:xfrm>
          <a:prstGeom prst="rect">
            <a:avLst/>
          </a:prstGeom>
          <a:ln w="0">
            <a:noFill/>
          </a:ln>
        </p:spPr>
      </p:pic>
      <p:sp>
        <p:nvSpPr>
          <p:cNvPr id="82" name=""/>
          <p:cNvSpPr/>
          <p:nvPr/>
        </p:nvSpPr>
        <p:spPr>
          <a:xfrm>
            <a:off x="3054240" y="7049880"/>
            <a:ext cx="1827360" cy="78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Multiring: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all six matched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child − parent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M / E / body-time &lt; 0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"/>
          <p:cNvSpPr/>
          <p:nvPr/>
        </p:nvSpPr>
        <p:spPr>
          <a:xfrm>
            <a:off x="5175360" y="6839640"/>
            <a:ext cx="4497480" cy="78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Complete 0–224: C − N body-time (M × time)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"/>
          <p:cNvSpPr/>
          <p:nvPr/>
        </p:nvSpPr>
        <p:spPr>
          <a:xfrm>
            <a:off x="5214960" y="7200720"/>
            <a:ext cx="4257360" cy="360"/>
          </a:xfrm>
          <a:prstGeom prst="line">
            <a:avLst/>
          </a:prstGeom>
          <a:ln w="9000">
            <a:solidFill>
              <a:srgbClr val="9da4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-49320" bIns="-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5" name=""/>
          <p:cNvSpPr/>
          <p:nvPr/>
        </p:nvSpPr>
        <p:spPr>
          <a:xfrm>
            <a:off x="5214960" y="7200720"/>
            <a:ext cx="360" cy="1614600"/>
          </a:xfrm>
          <a:prstGeom prst="line">
            <a:avLst/>
          </a:prstGeom>
          <a:ln w="9000">
            <a:solidFill>
              <a:srgbClr val="9da4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6" name=""/>
          <p:cNvSpPr/>
          <p:nvPr/>
        </p:nvSpPr>
        <p:spPr>
          <a:xfrm>
            <a:off x="4672440" y="7113960"/>
            <a:ext cx="538200" cy="78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0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4672440" y="7863840"/>
            <a:ext cx="538200" cy="78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-30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"/>
          <p:cNvSpPr/>
          <p:nvPr/>
        </p:nvSpPr>
        <p:spPr>
          <a:xfrm>
            <a:off x="4672440" y="8604360"/>
            <a:ext cx="538200" cy="78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-60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"/>
          <p:cNvSpPr/>
          <p:nvPr/>
        </p:nvSpPr>
        <p:spPr>
          <a:xfrm>
            <a:off x="5111640" y="8851320"/>
            <a:ext cx="711720" cy="78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0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"/>
          <p:cNvSpPr/>
          <p:nvPr/>
        </p:nvSpPr>
        <p:spPr>
          <a:xfrm>
            <a:off x="7534800" y="8851320"/>
            <a:ext cx="711720" cy="78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128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"/>
          <p:cNvSpPr/>
          <p:nvPr/>
        </p:nvSpPr>
        <p:spPr>
          <a:xfrm>
            <a:off x="9354240" y="8851320"/>
            <a:ext cx="711720" cy="78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224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"/>
          <p:cNvSpPr/>
          <p:nvPr/>
        </p:nvSpPr>
        <p:spPr>
          <a:xfrm>
            <a:off x="7643520" y="7200720"/>
            <a:ext cx="360" cy="1614600"/>
          </a:xfrm>
          <a:prstGeom prst="line">
            <a:avLst/>
          </a:prstGeom>
          <a:ln w="9000">
            <a:solidFill>
              <a:srgbClr val="d9dd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3" name=""/>
          <p:cNvSpPr/>
          <p:nvPr/>
        </p:nvSpPr>
        <p:spPr>
          <a:xfrm>
            <a:off x="5214960" y="7200720"/>
            <a:ext cx="4255920" cy="598680"/>
          </a:xfrm>
          <a:custGeom>
            <a:avLst/>
            <a:gdLst>
              <a:gd name="textAreaLeft" fmla="*/ 0 w 4255920"/>
              <a:gd name="textAreaRight" fmla="*/ 4257360 w 4255920"/>
              <a:gd name="textAreaTop" fmla="*/ 0 h 598680"/>
              <a:gd name="textAreaBottom" fmla="*/ 600120 h 598680"/>
            </a:gdLst>
            <a:ahLst/>
            <a:rect l="textAreaLeft" t="textAreaTop" r="textAreaRight" b="textAreaBottom"/>
            <a:pathLst>
              <a:path fill="none" w="11826" h="1667">
                <a:moveTo>
                  <a:pt x="0" y="0"/>
                </a:moveTo>
                <a:lnTo>
                  <a:pt x="6746" y="0"/>
                </a:lnTo>
                <a:lnTo>
                  <a:pt x="7223" y="159"/>
                </a:lnTo>
                <a:lnTo>
                  <a:pt x="7620" y="318"/>
                </a:lnTo>
                <a:lnTo>
                  <a:pt x="7977" y="556"/>
                </a:lnTo>
                <a:lnTo>
                  <a:pt x="8215" y="675"/>
                </a:lnTo>
                <a:lnTo>
                  <a:pt x="8493" y="794"/>
                </a:lnTo>
                <a:lnTo>
                  <a:pt x="8810" y="913"/>
                </a:lnTo>
                <a:lnTo>
                  <a:pt x="9088" y="953"/>
                </a:lnTo>
                <a:lnTo>
                  <a:pt x="9326" y="993"/>
                </a:lnTo>
                <a:lnTo>
                  <a:pt x="9802" y="1032"/>
                </a:lnTo>
                <a:lnTo>
                  <a:pt x="10556" y="1032"/>
                </a:lnTo>
                <a:lnTo>
                  <a:pt x="10755" y="1072"/>
                </a:lnTo>
                <a:lnTo>
                  <a:pt x="10993" y="1112"/>
                </a:lnTo>
                <a:lnTo>
                  <a:pt x="11152" y="1191"/>
                </a:lnTo>
                <a:lnTo>
                  <a:pt x="11350" y="1310"/>
                </a:lnTo>
                <a:lnTo>
                  <a:pt x="11549" y="1469"/>
                </a:lnTo>
                <a:lnTo>
                  <a:pt x="11826" y="1667"/>
                </a:lnTo>
              </a:path>
            </a:pathLst>
          </a:custGeom>
          <a:noFill/>
          <a:ln w="18360">
            <a:solidFill>
              <a:srgbClr val="2177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4" name=""/>
          <p:cNvSpPr/>
          <p:nvPr/>
        </p:nvSpPr>
        <p:spPr>
          <a:xfrm>
            <a:off x="5214960" y="7200720"/>
            <a:ext cx="4255920" cy="1155960"/>
          </a:xfrm>
          <a:custGeom>
            <a:avLst/>
            <a:gdLst>
              <a:gd name="textAreaLeft" fmla="*/ 0 w 4255920"/>
              <a:gd name="textAreaRight" fmla="*/ 4257360 w 4255920"/>
              <a:gd name="textAreaTop" fmla="*/ 0 h 1155960"/>
              <a:gd name="textAreaBottom" fmla="*/ 1157400 h 1155960"/>
            </a:gdLst>
            <a:ahLst/>
            <a:rect l="textAreaLeft" t="textAreaTop" r="textAreaRight" b="textAreaBottom"/>
            <a:pathLst>
              <a:path fill="none" w="11826" h="3215">
                <a:moveTo>
                  <a:pt x="0" y="0"/>
                </a:moveTo>
                <a:lnTo>
                  <a:pt x="6746" y="0"/>
                </a:lnTo>
                <a:lnTo>
                  <a:pt x="7223" y="159"/>
                </a:lnTo>
                <a:lnTo>
                  <a:pt x="7620" y="318"/>
                </a:lnTo>
                <a:lnTo>
                  <a:pt x="7937" y="516"/>
                </a:lnTo>
                <a:lnTo>
                  <a:pt x="8175" y="675"/>
                </a:lnTo>
                <a:lnTo>
                  <a:pt x="8374" y="755"/>
                </a:lnTo>
                <a:lnTo>
                  <a:pt x="8651" y="874"/>
                </a:lnTo>
                <a:lnTo>
                  <a:pt x="8850" y="993"/>
                </a:lnTo>
                <a:lnTo>
                  <a:pt x="9088" y="1151"/>
                </a:lnTo>
                <a:lnTo>
                  <a:pt x="9882" y="1786"/>
                </a:lnTo>
                <a:lnTo>
                  <a:pt x="10596" y="2461"/>
                </a:lnTo>
                <a:lnTo>
                  <a:pt x="10914" y="2739"/>
                </a:lnTo>
                <a:lnTo>
                  <a:pt x="11152" y="2898"/>
                </a:lnTo>
                <a:lnTo>
                  <a:pt x="11350" y="3017"/>
                </a:lnTo>
                <a:lnTo>
                  <a:pt x="11549" y="3136"/>
                </a:lnTo>
                <a:lnTo>
                  <a:pt x="11826" y="3215"/>
                </a:lnTo>
              </a:path>
            </a:pathLst>
          </a:custGeom>
          <a:noFill/>
          <a:ln w="18360">
            <a:solidFill>
              <a:srgbClr val="c471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5" name=""/>
          <p:cNvSpPr/>
          <p:nvPr/>
        </p:nvSpPr>
        <p:spPr>
          <a:xfrm>
            <a:off x="5214960" y="7200720"/>
            <a:ext cx="4255920" cy="1413360"/>
          </a:xfrm>
          <a:custGeom>
            <a:avLst/>
            <a:gdLst>
              <a:gd name="textAreaLeft" fmla="*/ 0 w 4255920"/>
              <a:gd name="textAreaRight" fmla="*/ 4257360 w 4255920"/>
              <a:gd name="textAreaTop" fmla="*/ 0 h 1413360"/>
              <a:gd name="textAreaBottom" fmla="*/ 1414800 h 1413360"/>
            </a:gdLst>
            <a:ahLst/>
            <a:rect l="textAreaLeft" t="textAreaTop" r="textAreaRight" b="textAreaBottom"/>
            <a:pathLst>
              <a:path fill="none" w="11826" h="3930">
                <a:moveTo>
                  <a:pt x="0" y="0"/>
                </a:moveTo>
                <a:lnTo>
                  <a:pt x="6746" y="0"/>
                </a:lnTo>
                <a:lnTo>
                  <a:pt x="6985" y="278"/>
                </a:lnTo>
                <a:lnTo>
                  <a:pt x="7143" y="437"/>
                </a:lnTo>
                <a:lnTo>
                  <a:pt x="7342" y="556"/>
                </a:lnTo>
                <a:lnTo>
                  <a:pt x="7620" y="675"/>
                </a:lnTo>
                <a:lnTo>
                  <a:pt x="7778" y="953"/>
                </a:lnTo>
                <a:lnTo>
                  <a:pt x="7858" y="1112"/>
                </a:lnTo>
                <a:lnTo>
                  <a:pt x="7977" y="1231"/>
                </a:lnTo>
                <a:lnTo>
                  <a:pt x="8136" y="1390"/>
                </a:lnTo>
                <a:lnTo>
                  <a:pt x="8334" y="1509"/>
                </a:lnTo>
                <a:lnTo>
                  <a:pt x="8969" y="1866"/>
                </a:lnTo>
                <a:lnTo>
                  <a:pt x="9286" y="2064"/>
                </a:lnTo>
                <a:lnTo>
                  <a:pt x="11390" y="3572"/>
                </a:lnTo>
                <a:lnTo>
                  <a:pt x="11826" y="3930"/>
                </a:lnTo>
              </a:path>
            </a:pathLst>
          </a:custGeom>
          <a:noFill/>
          <a:ln w="18360">
            <a:solidFill>
              <a:srgbClr val="6055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6" name=""/>
          <p:cNvSpPr/>
          <p:nvPr/>
        </p:nvSpPr>
        <p:spPr>
          <a:xfrm>
            <a:off x="5214960" y="7200720"/>
            <a:ext cx="4255920" cy="1256040"/>
          </a:xfrm>
          <a:custGeom>
            <a:avLst/>
            <a:gdLst>
              <a:gd name="textAreaLeft" fmla="*/ 0 w 4255920"/>
              <a:gd name="textAreaRight" fmla="*/ 4257360 w 4255920"/>
              <a:gd name="textAreaTop" fmla="*/ 0 h 1256040"/>
              <a:gd name="textAreaBottom" fmla="*/ 1257480 h 1256040"/>
            </a:gdLst>
            <a:ahLst/>
            <a:rect l="textAreaLeft" t="textAreaTop" r="textAreaRight" b="textAreaBottom"/>
            <a:pathLst>
              <a:path fill="none" w="11826" h="3493">
                <a:moveTo>
                  <a:pt x="0" y="0"/>
                </a:moveTo>
                <a:lnTo>
                  <a:pt x="6746" y="0"/>
                </a:lnTo>
                <a:lnTo>
                  <a:pt x="6985" y="278"/>
                </a:lnTo>
                <a:lnTo>
                  <a:pt x="7143" y="437"/>
                </a:lnTo>
                <a:lnTo>
                  <a:pt x="7342" y="556"/>
                </a:lnTo>
                <a:lnTo>
                  <a:pt x="7620" y="675"/>
                </a:lnTo>
                <a:lnTo>
                  <a:pt x="7818" y="1032"/>
                </a:lnTo>
                <a:lnTo>
                  <a:pt x="7937" y="1191"/>
                </a:lnTo>
                <a:lnTo>
                  <a:pt x="8016" y="1270"/>
                </a:lnTo>
                <a:lnTo>
                  <a:pt x="8215" y="1429"/>
                </a:lnTo>
                <a:lnTo>
                  <a:pt x="8532" y="1628"/>
                </a:lnTo>
                <a:lnTo>
                  <a:pt x="8651" y="1707"/>
                </a:lnTo>
                <a:lnTo>
                  <a:pt x="9088" y="2104"/>
                </a:lnTo>
                <a:lnTo>
                  <a:pt x="9247" y="2223"/>
                </a:lnTo>
                <a:lnTo>
                  <a:pt x="9406" y="2342"/>
                </a:lnTo>
                <a:lnTo>
                  <a:pt x="9564" y="2421"/>
                </a:lnTo>
                <a:lnTo>
                  <a:pt x="10239" y="2660"/>
                </a:lnTo>
                <a:lnTo>
                  <a:pt x="10596" y="2818"/>
                </a:lnTo>
                <a:lnTo>
                  <a:pt x="11033" y="3017"/>
                </a:lnTo>
                <a:lnTo>
                  <a:pt x="11826" y="3493"/>
                </a:lnTo>
              </a:path>
            </a:pathLst>
          </a:custGeom>
          <a:noFill/>
          <a:ln w="18360">
            <a:solidFill>
              <a:srgbClr val="0789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7" name=""/>
          <p:cNvSpPr/>
          <p:nvPr/>
        </p:nvSpPr>
        <p:spPr>
          <a:xfrm>
            <a:off x="5214960" y="9129600"/>
            <a:ext cx="199800" cy="360"/>
          </a:xfrm>
          <a:prstGeom prst="line">
            <a:avLst/>
          </a:prstGeom>
          <a:ln w="18360">
            <a:solidFill>
              <a:srgbClr val="2177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-54000" bIns="-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8" name=""/>
          <p:cNvSpPr/>
          <p:nvPr/>
        </p:nvSpPr>
        <p:spPr>
          <a:xfrm>
            <a:off x="5468040" y="9043560"/>
            <a:ext cx="2156400" cy="78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Compact none −24.085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7557840" y="9129600"/>
            <a:ext cx="200160" cy="360"/>
          </a:xfrm>
          <a:prstGeom prst="line">
            <a:avLst/>
          </a:prstGeom>
          <a:ln w="18360">
            <a:solidFill>
              <a:srgbClr val="c471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-54000" bIns="-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0" name=""/>
          <p:cNvSpPr/>
          <p:nvPr/>
        </p:nvSpPr>
        <p:spPr>
          <a:xfrm>
            <a:off x="7809120" y="9043560"/>
            <a:ext cx="2156400" cy="78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Compact x −46.596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"/>
          <p:cNvSpPr/>
          <p:nvPr/>
        </p:nvSpPr>
        <p:spPr>
          <a:xfrm>
            <a:off x="5214960" y="9401040"/>
            <a:ext cx="199800" cy="360"/>
          </a:xfrm>
          <a:prstGeom prst="line">
            <a:avLst/>
          </a:prstGeom>
          <a:ln w="18360">
            <a:solidFill>
              <a:srgbClr val="6055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-54000" bIns="-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2" name=""/>
          <p:cNvSpPr/>
          <p:nvPr/>
        </p:nvSpPr>
        <p:spPr>
          <a:xfrm>
            <a:off x="5468040" y="9308520"/>
            <a:ext cx="2156400" cy="78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Multiring none −56.516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"/>
          <p:cNvSpPr/>
          <p:nvPr/>
        </p:nvSpPr>
        <p:spPr>
          <a:xfrm>
            <a:off x="7557840" y="9401040"/>
            <a:ext cx="200160" cy="360"/>
          </a:xfrm>
          <a:prstGeom prst="line">
            <a:avLst/>
          </a:prstGeom>
          <a:ln w="18360">
            <a:solidFill>
              <a:srgbClr val="0789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-54000" bIns="-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4" name=""/>
          <p:cNvSpPr/>
          <p:nvPr/>
        </p:nvSpPr>
        <p:spPr>
          <a:xfrm>
            <a:off x="7809120" y="9308520"/>
            <a:ext cx="2156400" cy="78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Multiring x −50.218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"/>
          <p:cNvSpPr/>
          <p:nvPr/>
        </p:nvSpPr>
        <p:spPr>
          <a:xfrm>
            <a:off x="357120" y="10029960"/>
            <a:ext cx="9358200" cy="360"/>
          </a:xfrm>
          <a:prstGeom prst="line">
            <a:avLst/>
          </a:prstGeom>
          <a:ln w="9000">
            <a:solidFill>
              <a:srgbClr val="bfc5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-49320" bIns="-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6" name=""/>
          <p:cNvSpPr/>
          <p:nvPr/>
        </p:nvSpPr>
        <p:spPr>
          <a:xfrm>
            <a:off x="356760" y="10113120"/>
            <a:ext cx="9352800" cy="81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700" spc="-1" strike="noStrike">
                <a:solidFill>
                  <a:srgbClr val="000000"/>
                </a:solidFill>
                <a:latin typeface="Arial"/>
                <a:ea typeface="DejaVu Sans"/>
              </a:rPr>
              <a:t>C  Regaining total mass is not restoration of the missing structure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"/>
          <p:cNvSpPr/>
          <p:nvPr/>
        </p:nvSpPr>
        <p:spPr>
          <a:xfrm>
            <a:off x="356760" y="10396800"/>
            <a:ext cx="1141560" cy="78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Cut · 384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"/>
          <p:cNvSpPr/>
          <p:nvPr/>
        </p:nvSpPr>
        <p:spPr>
          <a:xfrm>
            <a:off x="1508760" y="10396800"/>
            <a:ext cx="1287720" cy="78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Uninjured · 384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9" name="" descr=""/>
          <p:cNvPicPr/>
          <p:nvPr/>
        </p:nvPicPr>
        <p:blipFill>
          <a:blip r:embed="rId25"/>
          <a:stretch/>
        </p:blipFill>
        <p:spPr>
          <a:xfrm>
            <a:off x="356760" y="10616040"/>
            <a:ext cx="967680" cy="967680"/>
          </a:xfrm>
          <a:prstGeom prst="rect">
            <a:avLst/>
          </a:prstGeom>
          <a:ln w="0">
            <a:noFill/>
          </a:ln>
        </p:spPr>
      </p:pic>
      <p:pic>
        <p:nvPicPr>
          <p:cNvPr id="110" name="" descr=""/>
          <p:cNvPicPr/>
          <p:nvPr/>
        </p:nvPicPr>
        <p:blipFill>
          <a:blip r:embed="rId26"/>
          <a:stretch/>
        </p:blipFill>
        <p:spPr>
          <a:xfrm>
            <a:off x="1508760" y="10616040"/>
            <a:ext cx="967680" cy="967680"/>
          </a:xfrm>
          <a:prstGeom prst="rect">
            <a:avLst/>
          </a:prstGeom>
          <a:ln w="0">
            <a:noFill/>
          </a:ln>
        </p:spPr>
      </p:pic>
      <p:sp>
        <p:nvSpPr>
          <p:cNvPr id="111" name=""/>
          <p:cNvSpPr/>
          <p:nvPr/>
        </p:nvSpPr>
        <p:spPr>
          <a:xfrm>
            <a:off x="3857400" y="10444320"/>
            <a:ext cx="360" cy="1071360"/>
          </a:xfrm>
          <a:prstGeom prst="line">
            <a:avLst/>
          </a:prstGeom>
          <a:ln w="9000">
            <a:solidFill>
              <a:srgbClr val="9da4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2" name=""/>
          <p:cNvSpPr/>
          <p:nvPr/>
        </p:nvSpPr>
        <p:spPr>
          <a:xfrm>
            <a:off x="3857400" y="11515680"/>
            <a:ext cx="2443320" cy="360"/>
          </a:xfrm>
          <a:prstGeom prst="line">
            <a:avLst/>
          </a:prstGeom>
          <a:ln w="9000">
            <a:solidFill>
              <a:srgbClr val="9da4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-49320" bIns="-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3" name=""/>
          <p:cNvSpPr/>
          <p:nvPr/>
        </p:nvSpPr>
        <p:spPr>
          <a:xfrm>
            <a:off x="3273480" y="11439000"/>
            <a:ext cx="538200" cy="78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0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"/>
          <p:cNvSpPr/>
          <p:nvPr/>
        </p:nvSpPr>
        <p:spPr>
          <a:xfrm>
            <a:off x="3273480" y="10899720"/>
            <a:ext cx="538200" cy="78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80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"/>
          <p:cNvSpPr/>
          <p:nvPr/>
        </p:nvSpPr>
        <p:spPr>
          <a:xfrm>
            <a:off x="3273480" y="10360080"/>
            <a:ext cx="538200" cy="78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160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"/>
          <p:cNvSpPr/>
          <p:nvPr/>
        </p:nvSpPr>
        <p:spPr>
          <a:xfrm>
            <a:off x="3740040" y="11548800"/>
            <a:ext cx="711720" cy="78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256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6190560" y="11548800"/>
            <a:ext cx="711720" cy="78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384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"/>
          <p:cNvSpPr/>
          <p:nvPr/>
        </p:nvSpPr>
        <p:spPr>
          <a:xfrm>
            <a:off x="3857400" y="11272680"/>
            <a:ext cx="2441880" cy="227160"/>
          </a:xfrm>
          <a:custGeom>
            <a:avLst/>
            <a:gdLst>
              <a:gd name="textAreaLeft" fmla="*/ 0 w 2441880"/>
              <a:gd name="textAreaRight" fmla="*/ 2443320 w 2441880"/>
              <a:gd name="textAreaTop" fmla="*/ 0 h 227160"/>
              <a:gd name="textAreaBottom" fmla="*/ 228600 h 227160"/>
            </a:gdLst>
            <a:ahLst/>
            <a:rect l="textAreaLeft" t="textAreaTop" r="textAreaRight" b="textAreaBottom"/>
            <a:pathLst>
              <a:path fill="none" w="6787" h="635">
                <a:moveTo>
                  <a:pt x="0" y="635"/>
                </a:moveTo>
                <a:lnTo>
                  <a:pt x="159" y="596"/>
                </a:lnTo>
                <a:lnTo>
                  <a:pt x="516" y="278"/>
                </a:lnTo>
                <a:lnTo>
                  <a:pt x="715" y="199"/>
                </a:lnTo>
                <a:lnTo>
                  <a:pt x="1032" y="119"/>
                </a:lnTo>
                <a:lnTo>
                  <a:pt x="1508" y="40"/>
                </a:lnTo>
                <a:lnTo>
                  <a:pt x="2342" y="0"/>
                </a:lnTo>
                <a:lnTo>
                  <a:pt x="3810" y="0"/>
                </a:lnTo>
                <a:lnTo>
                  <a:pt x="4763" y="0"/>
                </a:lnTo>
                <a:lnTo>
                  <a:pt x="6787" y="80"/>
                </a:lnTo>
              </a:path>
            </a:pathLst>
          </a:custGeom>
          <a:noFill/>
          <a:ln w="18360">
            <a:solidFill>
              <a:srgbClr val="c471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9" name=""/>
          <p:cNvSpPr/>
          <p:nvPr/>
        </p:nvSpPr>
        <p:spPr>
          <a:xfrm>
            <a:off x="3857400" y="10472760"/>
            <a:ext cx="2441880" cy="55800"/>
          </a:xfrm>
          <a:custGeom>
            <a:avLst/>
            <a:gdLst>
              <a:gd name="textAreaLeft" fmla="*/ 0 w 2441880"/>
              <a:gd name="textAreaRight" fmla="*/ 2443320 w 2441880"/>
              <a:gd name="textAreaTop" fmla="*/ 0 h 55800"/>
              <a:gd name="textAreaBottom" fmla="*/ 57240 h 55800"/>
            </a:gdLst>
            <a:ahLst/>
            <a:rect l="textAreaLeft" t="textAreaTop" r="textAreaRight" b="textAreaBottom"/>
            <a:pathLst>
              <a:path fill="none" w="6787" h="159">
                <a:moveTo>
                  <a:pt x="0" y="159"/>
                </a:moveTo>
                <a:lnTo>
                  <a:pt x="1032" y="40"/>
                </a:lnTo>
                <a:lnTo>
                  <a:pt x="1747" y="0"/>
                </a:lnTo>
                <a:lnTo>
                  <a:pt x="2342" y="0"/>
                </a:lnTo>
                <a:lnTo>
                  <a:pt x="4763" y="79"/>
                </a:lnTo>
                <a:lnTo>
                  <a:pt x="6787" y="159"/>
                </a:lnTo>
              </a:path>
            </a:pathLst>
          </a:custGeom>
          <a:noFill/>
          <a:ln w="18360">
            <a:solidFill>
              <a:srgbClr val="8993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3240" bIns="324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0" name=""/>
          <p:cNvSpPr/>
          <p:nvPr/>
        </p:nvSpPr>
        <p:spPr>
          <a:xfrm>
            <a:off x="3849480" y="11768400"/>
            <a:ext cx="5859720" cy="78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Grey: uninjured region; orange: cut region. This is a different receiver and clock from A/B.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"/>
          <p:cNvSpPr/>
          <p:nvPr/>
        </p:nvSpPr>
        <p:spPr>
          <a:xfrm>
            <a:off x="356760" y="11987640"/>
            <a:ext cx="9352800" cy="78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One compound mutation per parent; one tape / +x scenario. Learning off; no stable-recovery or general-adaptation claim.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"/>
          <p:cNvSpPr/>
          <p:nvPr/>
        </p:nvSpPr>
        <p:spPr>
          <a:xfrm>
            <a:off x="356760" y="9729360"/>
            <a:ext cx="4387680" cy="78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Fixed 68 × 64 crop; same ρ scale; smaller than A.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"/>
          <p:cNvSpPr/>
          <p:nvPr/>
        </p:nvSpPr>
        <p:spPr>
          <a:xfrm>
            <a:off x="356760" y="11603880"/>
            <a:ext cx="3016080" cy="78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Separate state 256 excision.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Fixed x10–85, y10–85 crop.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"/>
          <p:cNvSpPr/>
          <p:nvPr/>
        </p:nvSpPr>
        <p:spPr>
          <a:xfrm>
            <a:off x="6620400" y="10433160"/>
            <a:ext cx="3016080" cy="78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Compact: extinct 273.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Multiring: old total M regained at 312;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cut region ends at 22.78% of control.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"/>
          <p:cNvSpPr/>
          <p:nvPr/>
        </p:nvSpPr>
        <p:spPr>
          <a:xfrm>
            <a:off x="6620400" y="10991160"/>
            <a:ext cx="3016080" cy="78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Cut region peaks at 325, then falls.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Shape L1 = 373.060 after registration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(displacement 0): not restored.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"/>
          <p:cNvSpPr/>
          <p:nvPr/>
        </p:nvSpPr>
        <p:spPr>
          <a:xfrm>
            <a:off x="5175360" y="9683640"/>
            <a:ext cx="4570560" cy="78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Multiring: interaction +6.298, but both C − N totals &lt; 0.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"/>
          <p:cNvSpPr/>
          <p:nvPr/>
        </p:nvSpPr>
        <p:spPr>
          <a:xfrm>
            <a:off x="4572000" y="11548800"/>
            <a:ext cx="1653840" cy="78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Step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"/>
          <p:cNvSpPr/>
          <p:nvPr/>
        </p:nvSpPr>
        <p:spPr>
          <a:xfrm>
            <a:off x="2551320" y="10744200"/>
            <a:ext cx="639000" cy="78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Cut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region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M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"/>
          <p:cNvSpPr/>
          <p:nvPr/>
        </p:nvSpPr>
        <p:spPr>
          <a:xfrm>
            <a:off x="7342560" y="5376600"/>
            <a:ext cx="71244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I0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"/>
          <p:cNvSpPr/>
          <p:nvPr/>
        </p:nvSpPr>
        <p:spPr>
          <a:xfrm>
            <a:off x="8741520" y="5376600"/>
            <a:ext cx="71244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I1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"/>
          <p:cNvSpPr/>
          <p:nvPr/>
        </p:nvSpPr>
        <p:spPr>
          <a:xfrm>
            <a:off x="6492240" y="5760720"/>
            <a:ext cx="42912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R1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"/>
          <p:cNvSpPr/>
          <p:nvPr/>
        </p:nvSpPr>
        <p:spPr>
          <a:xfrm>
            <a:off x="7031880" y="5559480"/>
            <a:ext cx="121536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178 / 183: zero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"/>
          <p:cNvSpPr/>
          <p:nvPr/>
        </p:nvSpPr>
        <p:spPr>
          <a:xfrm>
            <a:off x="6976800" y="5760720"/>
            <a:ext cx="136188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both &gt;0 at 224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"/>
          <p:cNvSpPr/>
          <p:nvPr/>
        </p:nvSpPr>
        <p:spPr>
          <a:xfrm>
            <a:off x="6473880" y="5989320"/>
            <a:ext cx="323640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R1I0 C − N, x: ΔM +.687; ΔE −6.279;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"/>
          <p:cNvSpPr/>
          <p:nvPr/>
        </p:nvSpPr>
        <p:spPr>
          <a:xfrm>
            <a:off x="6473880" y="6163200"/>
            <a:ext cx="323640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ΔT −40.633 (T = full-cycle body-time).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"/>
          <p:cNvSpPr/>
          <p:nvPr/>
        </p:nvSpPr>
        <p:spPr>
          <a:xfrm>
            <a:off x="3054240" y="7955280"/>
            <a:ext cx="190116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R/I follow-up: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At each I, R1 − R0: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M / E / T &lt; 0 in all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four matched paths.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R × I is nonzero.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"/>
          <p:cNvSpPr/>
          <p:nvPr/>
        </p:nvSpPr>
        <p:spPr>
          <a:xfrm>
            <a:off x="3054240" y="8997840"/>
            <a:ext cx="190116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Parent and child: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all six original futures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grow at every final-32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DejaVu Sans"/>
              </a:rPr>
              <a:t>update.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"/>
          <p:cNvSpPr/>
          <p:nvPr/>
        </p:nvSpPr>
        <p:spPr>
          <a:xfrm>
            <a:off x="6486480" y="5586480"/>
            <a:ext cx="3228840" cy="0"/>
          </a:xfrm>
          <a:prstGeom prst="line">
            <a:avLst/>
          </a:prstGeom>
          <a:ln w="9000">
            <a:solidFill>
              <a:srgbClr val="bfc5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-49320" bIns="-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"/>
          <p:cNvSpPr/>
          <p:nvPr/>
        </p:nvSpPr>
        <p:spPr>
          <a:xfrm>
            <a:off x="6486480" y="5786280"/>
            <a:ext cx="3228840" cy="0"/>
          </a:xfrm>
          <a:prstGeom prst="line">
            <a:avLst/>
          </a:prstGeom>
          <a:ln w="9000">
            <a:solidFill>
              <a:srgbClr val="bfc5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-49320" bIns="-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"/>
          <p:cNvSpPr/>
          <p:nvPr/>
        </p:nvSpPr>
        <p:spPr>
          <a:xfrm>
            <a:off x="6486480" y="5986440"/>
            <a:ext cx="3228840" cy="0"/>
          </a:xfrm>
          <a:prstGeom prst="line">
            <a:avLst/>
          </a:prstGeom>
          <a:ln w="9000">
            <a:solidFill>
              <a:srgbClr val="bfc5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-49320" bIns="-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"/>
          <p:cNvSpPr/>
          <p:nvPr/>
        </p:nvSpPr>
        <p:spPr>
          <a:xfrm>
            <a:off x="6929280" y="5586480"/>
            <a:ext cx="0" cy="399960"/>
          </a:xfrm>
          <a:prstGeom prst="line">
            <a:avLst/>
          </a:prstGeom>
          <a:ln w="9000">
            <a:solidFill>
              <a:srgbClr val="bfc5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"/>
          <p:cNvSpPr/>
          <p:nvPr/>
        </p:nvSpPr>
        <p:spPr>
          <a:xfrm>
            <a:off x="8315280" y="5586480"/>
            <a:ext cx="0" cy="399960"/>
          </a:xfrm>
          <a:prstGeom prst="line">
            <a:avLst/>
          </a:prstGeom>
          <a:ln w="9000">
            <a:solidFill>
              <a:srgbClr val="bfc5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"/>
          <p:cNvSpPr txBox="1"/>
          <p:nvPr/>
        </p:nvSpPr>
        <p:spPr>
          <a:xfrm>
            <a:off x="6473880" y="5212080"/>
            <a:ext cx="323712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Compact R × I follow-up (N/x, C/x)</a:t>
            </a:r>
            <a:endParaRPr b="1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"/>
          <p:cNvSpPr txBox="1"/>
          <p:nvPr/>
        </p:nvSpPr>
        <p:spPr>
          <a:xfrm>
            <a:off x="6492240" y="5559480"/>
            <a:ext cx="42984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R0</a:t>
            </a:r>
            <a:endParaRPr b="1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"/>
          <p:cNvSpPr txBox="1"/>
          <p:nvPr/>
        </p:nvSpPr>
        <p:spPr>
          <a:xfrm>
            <a:off x="8421480" y="5559480"/>
            <a:ext cx="125280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178 / 184: zero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"/>
          <p:cNvSpPr txBox="1"/>
          <p:nvPr/>
        </p:nvSpPr>
        <p:spPr>
          <a:xfrm>
            <a:off x="8366760" y="5760720"/>
            <a:ext cx="136260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both &gt;0 at 224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981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2026-10-16T20:49:47Z</dcterms:created>
  <dc:creator/>
  <dc:description/>
  <dc:language>zh-CN</dc:language>
  <cp:lastModifiedBy/>
  <cp:lastPrinted>2026-10-18T10:18:38Z</cp:lastPrinted>
  <dcterms:modified xsi:type="dcterms:W3CDTF">2026-10-18T10:20:50Z</dcterms:modified>
  <cp:revision>186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