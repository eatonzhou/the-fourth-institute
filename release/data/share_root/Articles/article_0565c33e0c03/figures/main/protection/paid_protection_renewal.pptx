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1223962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72960"/>
            <a:ext cx="9064440" cy="155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2863800"/>
            <a:ext cx="9072000" cy="709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A489EE1-1A9A-4B6E-AC63-72A868C485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72960"/>
            <a:ext cx="9064440" cy="155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8526600"/>
            <a:ext cx="3187800" cy="63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8526600"/>
            <a:ext cx="2341080" cy="63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136BBA4-0800-4BF4-A54A-7001FBBC2F1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1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8526600"/>
            <a:ext cx="2341080" cy="63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2863800"/>
            <a:ext cx="9072000" cy="709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283320" y="155520"/>
            <a:ext cx="93726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A  Protection persists after its cutoff cohort disappears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283320" y="448200"/>
            <a:ext cx="93726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Unequal-peaks receiver · retain + paid copy · further induction off from 128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1792080" y="713160"/>
            <a:ext cx="175572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Arial"/>
              </a:rPr>
              <a:t>128</a:t>
            </a:r>
            <a:endParaRPr b="1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1792080" y="951120"/>
            <a:ext cx="18288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x8–19; y3–14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" name="" descr=""/>
          <p:cNvPicPr/>
          <p:nvPr/>
        </p:nvPicPr>
        <p:blipFill>
          <a:blip r:embed="rId1"/>
          <a:stretch/>
        </p:blipFill>
        <p:spPr>
          <a:xfrm>
            <a:off x="1792080" y="1161360"/>
            <a:ext cx="1398960" cy="1398960"/>
          </a:xfrm>
          <a:prstGeom prst="rect">
            <a:avLst/>
          </a:prstGeom>
          <a:ln w="0">
            <a:noFill/>
          </a:ln>
        </p:spPr>
      </p:pic>
      <p:pic>
        <p:nvPicPr>
          <p:cNvPr id="12" name="" descr=""/>
          <p:cNvPicPr/>
          <p:nvPr/>
        </p:nvPicPr>
        <p:blipFill>
          <a:blip r:embed="rId2"/>
          <a:stretch/>
        </p:blipFill>
        <p:spPr>
          <a:xfrm>
            <a:off x="1792080" y="2679120"/>
            <a:ext cx="1398960" cy="1398960"/>
          </a:xfrm>
          <a:prstGeom prst="rect">
            <a:avLst/>
          </a:prstGeom>
          <a:ln w="0">
            <a:noFill/>
          </a:ln>
        </p:spPr>
      </p:pic>
      <p:sp>
        <p:nvSpPr>
          <p:cNvPr id="13" name=""/>
          <p:cNvSpPr txBox="1"/>
          <p:nvPr/>
        </p:nvSpPr>
        <p:spPr>
          <a:xfrm>
            <a:off x="1755720" y="4114800"/>
            <a:ext cx="190188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L = 0.689433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3776400" y="713160"/>
            <a:ext cx="175572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Arial"/>
              </a:rPr>
              <a:t>205</a:t>
            </a:r>
            <a:endParaRPr b="1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3776400" y="951120"/>
            <a:ext cx="18288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x8–19; y1–12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" name="" descr=""/>
          <p:cNvPicPr/>
          <p:nvPr/>
        </p:nvPicPr>
        <p:blipFill>
          <a:blip r:embed="rId3"/>
          <a:stretch/>
        </p:blipFill>
        <p:spPr>
          <a:xfrm>
            <a:off x="3776400" y="1161360"/>
            <a:ext cx="1398960" cy="1398960"/>
          </a:xfrm>
          <a:prstGeom prst="rect">
            <a:avLst/>
          </a:prstGeom>
          <a:ln w="0">
            <a:noFill/>
          </a:ln>
        </p:spPr>
      </p:pic>
      <p:pic>
        <p:nvPicPr>
          <p:cNvPr id="17" name="" descr=""/>
          <p:cNvPicPr/>
          <p:nvPr/>
        </p:nvPicPr>
        <p:blipFill>
          <a:blip r:embed="rId4"/>
          <a:stretch/>
        </p:blipFill>
        <p:spPr>
          <a:xfrm>
            <a:off x="3776400" y="2679120"/>
            <a:ext cx="1398960" cy="1398960"/>
          </a:xfrm>
          <a:prstGeom prst="rect">
            <a:avLst/>
          </a:prstGeom>
          <a:ln w="0">
            <a:noFill/>
          </a:ln>
        </p:spPr>
      </p:pic>
      <p:sp>
        <p:nvSpPr>
          <p:cNvPr id="18" name=""/>
          <p:cNvSpPr txBox="1"/>
          <p:nvPr/>
        </p:nvSpPr>
        <p:spPr>
          <a:xfrm>
            <a:off x="3740040" y="4114800"/>
            <a:ext cx="190188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L = 0.159287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5751720" y="713160"/>
            <a:ext cx="175572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Arial"/>
              </a:rPr>
              <a:t>256</a:t>
            </a:r>
            <a:endParaRPr b="1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5751720" y="951120"/>
            <a:ext cx="18288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x8–19; y1–12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" name="" descr=""/>
          <p:cNvPicPr/>
          <p:nvPr/>
        </p:nvPicPr>
        <p:blipFill>
          <a:blip r:embed="rId5"/>
          <a:stretch/>
        </p:blipFill>
        <p:spPr>
          <a:xfrm>
            <a:off x="5751720" y="1161360"/>
            <a:ext cx="1398960" cy="1398960"/>
          </a:xfrm>
          <a:prstGeom prst="rect">
            <a:avLst/>
          </a:prstGeom>
          <a:ln w="0">
            <a:noFill/>
          </a:ln>
        </p:spPr>
      </p:pic>
      <p:pic>
        <p:nvPicPr>
          <p:cNvPr id="22" name="" descr=""/>
          <p:cNvPicPr/>
          <p:nvPr/>
        </p:nvPicPr>
        <p:blipFill>
          <a:blip r:embed="rId6"/>
          <a:stretch/>
        </p:blipFill>
        <p:spPr>
          <a:xfrm>
            <a:off x="5751720" y="2679120"/>
            <a:ext cx="1398960" cy="1398960"/>
          </a:xfrm>
          <a:prstGeom prst="rect">
            <a:avLst/>
          </a:prstGeom>
          <a:ln w="0">
            <a:noFill/>
          </a:ln>
        </p:spPr>
      </p:pic>
      <p:sp>
        <p:nvSpPr>
          <p:cNvPr id="23" name=""/>
          <p:cNvSpPr txBox="1"/>
          <p:nvPr/>
        </p:nvSpPr>
        <p:spPr>
          <a:xfrm>
            <a:off x="5715000" y="4114800"/>
            <a:ext cx="190188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L = 0.064481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7735680" y="713160"/>
            <a:ext cx="175572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Arial"/>
              </a:rPr>
              <a:t>384</a:t>
            </a:r>
            <a:endParaRPr b="1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7735680" y="951120"/>
            <a:ext cx="18288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x15–26; y1–12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" name="" descr=""/>
          <p:cNvPicPr/>
          <p:nvPr/>
        </p:nvPicPr>
        <p:blipFill>
          <a:blip r:embed="rId7"/>
          <a:stretch/>
        </p:blipFill>
        <p:spPr>
          <a:xfrm>
            <a:off x="7735680" y="1161360"/>
            <a:ext cx="1398960" cy="1398960"/>
          </a:xfrm>
          <a:prstGeom prst="rect">
            <a:avLst/>
          </a:prstGeom>
          <a:ln w="0">
            <a:noFill/>
          </a:ln>
        </p:spPr>
      </p:pic>
      <p:pic>
        <p:nvPicPr>
          <p:cNvPr id="27" name="" descr=""/>
          <p:cNvPicPr/>
          <p:nvPr/>
        </p:nvPicPr>
        <p:blipFill>
          <a:blip r:embed="rId8"/>
          <a:stretch/>
        </p:blipFill>
        <p:spPr>
          <a:xfrm>
            <a:off x="7735680" y="2679120"/>
            <a:ext cx="1398960" cy="1398960"/>
          </a:xfrm>
          <a:prstGeom prst="rect">
            <a:avLst/>
          </a:prstGeom>
          <a:ln w="0">
            <a:noFill/>
          </a:ln>
        </p:spPr>
      </p:pic>
      <p:sp>
        <p:nvSpPr>
          <p:cNvPr id="28" name=""/>
          <p:cNvSpPr txBox="1"/>
          <p:nvPr/>
        </p:nvSpPr>
        <p:spPr>
          <a:xfrm>
            <a:off x="7699320" y="4114800"/>
            <a:ext cx="190188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L = 0.001579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283320" y="1435680"/>
            <a:ext cx="143568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500" spc="-1" strike="noStrike">
                <a:solidFill>
                  <a:srgbClr val="000000"/>
                </a:solidFill>
                <a:latin typeface="Arial"/>
              </a:rPr>
              <a:t>Body</a:t>
            </a:r>
            <a:endParaRPr b="1" lang="en-US" sz="15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500" spc="-1" strike="noStrike">
                <a:solidFill>
                  <a:srgbClr val="000000"/>
                </a:solidFill>
                <a:latin typeface="Arial"/>
              </a:rPr>
              <a:t>density ρ</a:t>
            </a:r>
            <a:endParaRPr b="1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" name="" descr=""/>
          <p:cNvPicPr/>
          <p:nvPr/>
        </p:nvPicPr>
        <p:blipFill>
          <a:blip r:embed="rId9"/>
          <a:stretch/>
        </p:blipFill>
        <p:spPr>
          <a:xfrm>
            <a:off x="338400" y="2030040"/>
            <a:ext cx="896040" cy="64080"/>
          </a:xfrm>
          <a:prstGeom prst="rect">
            <a:avLst/>
          </a:prstGeom>
          <a:ln w="0">
            <a:noFill/>
          </a:ln>
        </p:spPr>
      </p:pic>
      <p:sp>
        <p:nvSpPr>
          <p:cNvPr id="31" name=""/>
          <p:cNvSpPr txBox="1"/>
          <p:nvPr/>
        </p:nvSpPr>
        <p:spPr>
          <a:xfrm>
            <a:off x="283320" y="2157840"/>
            <a:ext cx="139896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0–1 M/cell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linear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283320" y="2871360"/>
            <a:ext cx="143568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500" spc="-1" strike="noStrike">
                <a:solidFill>
                  <a:srgbClr val="000000"/>
                </a:solidFill>
                <a:latin typeface="Arial"/>
              </a:rPr>
              <a:t>Protection</a:t>
            </a:r>
            <a:endParaRPr b="1" lang="en-US" sz="15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500" spc="-1" strike="noStrike">
                <a:solidFill>
                  <a:srgbClr val="000000"/>
                </a:solidFill>
                <a:latin typeface="Arial"/>
              </a:rPr>
              <a:t>a</a:t>
            </a:r>
            <a:endParaRPr b="1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" name="" descr=""/>
          <p:cNvPicPr/>
          <p:nvPr/>
        </p:nvPicPr>
        <p:blipFill>
          <a:blip r:embed="rId10"/>
          <a:stretch/>
        </p:blipFill>
        <p:spPr>
          <a:xfrm>
            <a:off x="338400" y="3465720"/>
            <a:ext cx="896040" cy="64080"/>
          </a:xfrm>
          <a:prstGeom prst="rect">
            <a:avLst/>
          </a:prstGeom>
          <a:ln w="0">
            <a:noFill/>
          </a:ln>
        </p:spPr>
      </p:pic>
      <p:sp>
        <p:nvSpPr>
          <p:cNvPr id="34" name=""/>
          <p:cNvSpPr txBox="1"/>
          <p:nvPr/>
        </p:nvSpPr>
        <p:spPr>
          <a:xfrm>
            <a:off x="283320" y="3593520"/>
            <a:ext cx="143568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0–1, linear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Grey: ρ = 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283320" y="4334400"/>
            <a:ext cx="93726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Cohort = all tissue at 128; exactly zero from 205.  L = Σρa over the full domain; faint a is not zero.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285480" y="4629240"/>
            <a:ext cx="9501480" cy="0"/>
          </a:xfrm>
          <a:prstGeom prst="line">
            <a:avLst/>
          </a:prstGeom>
          <a:ln w="0">
            <a:solidFill>
              <a:srgbClr val="bbbbbb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283320" y="4709160"/>
            <a:ext cx="93726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B  Early and late erasure test different reached bodies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283320" y="5001840"/>
            <a:ext cx="93726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128: all three arms reset x.  256: erase a only from retained-copy state; no refund.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357120" y="5400720"/>
            <a:ext cx="257040" cy="0"/>
          </a:xfrm>
          <a:prstGeom prst="line">
            <a:avLst/>
          </a:prstGeom>
          <a:ln w="18360">
            <a:solidFill>
              <a:srgbClr val="008e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676800" y="5266800"/>
            <a:ext cx="223128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Retain + paid copy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2886120" y="5400720"/>
            <a:ext cx="242640" cy="0"/>
          </a:xfrm>
          <a:prstGeom prst="line">
            <a:avLst/>
          </a:prstGeom>
          <a:ln w="18360">
            <a:solidFill>
              <a:srgbClr val="d66a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3200400" y="5266800"/>
            <a:ext cx="179208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Erase at 128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5143320" y="5400720"/>
            <a:ext cx="257400" cy="0"/>
          </a:xfrm>
          <a:prstGeom prst="line">
            <a:avLst/>
          </a:prstGeom>
          <a:ln w="18360">
            <a:solidFill>
              <a:srgbClr val="8453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5468040" y="5266800"/>
            <a:ext cx="20484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Newborn a = 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7672320" y="5400720"/>
            <a:ext cx="243000" cy="0"/>
          </a:xfrm>
          <a:prstGeom prst="line">
            <a:avLst/>
          </a:prstGeom>
          <a:ln w="9000">
            <a:solidFill>
              <a:srgbClr val="4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7992000" y="5266800"/>
            <a:ext cx="186552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Erase at 256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567000" y="5577840"/>
            <a:ext cx="413316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Unequal peaks  ·  M (mass units)</a:t>
            </a:r>
            <a:endParaRPr b="1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571320" y="6043680"/>
            <a:ext cx="3886200" cy="1357200"/>
          </a:xfrm>
          <a:custGeom>
            <a:avLst/>
            <a:gdLst/>
            <a:ahLst/>
            <a:rect l="0" t="0" r="r" b="b"/>
            <a:pathLst>
              <a:path fill="none" w="10795" h="3770">
                <a:moveTo>
                  <a:pt x="0" y="0"/>
                </a:moveTo>
                <a:lnTo>
                  <a:pt x="0" y="3770"/>
                </a:lnTo>
                <a:lnTo>
                  <a:pt x="10795" y="3770"/>
                </a:lnTo>
              </a:path>
            </a:pathLst>
          </a:custGeom>
          <a:ln w="0">
            <a:solidFill>
              <a:srgbClr val="888888"/>
            </a:solidFill>
          </a:ln>
        </p:spPr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320040" y="7324200"/>
            <a:ext cx="2286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320040" y="6720840"/>
            <a:ext cx="2286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320040" y="6126480"/>
            <a:ext cx="2286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448200" y="7425000"/>
            <a:ext cx="64008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128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2386440" y="7425000"/>
            <a:ext cx="64008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256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2514600" y="6043680"/>
            <a:ext cx="0" cy="1357200"/>
          </a:xfrm>
          <a:prstGeom prst="line">
            <a:avLst/>
          </a:prstGeom>
          <a:ln w="0">
            <a:solidFill>
              <a:srgbClr val="ccccc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2121480" y="5806440"/>
            <a:ext cx="107892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late fork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4334400" y="7425000"/>
            <a:ext cx="64008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384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571320" y="6129360"/>
            <a:ext cx="3886200" cy="1271520"/>
          </a:xfrm>
          <a:custGeom>
            <a:avLst/>
            <a:gdLst/>
            <a:ahLst/>
            <a:rect l="0" t="0" r="r" b="b"/>
            <a:pathLst>
              <a:path fill="none" w="10795" h="3532">
                <a:moveTo>
                  <a:pt x="0" y="476"/>
                </a:moveTo>
                <a:lnTo>
                  <a:pt x="199" y="516"/>
                </a:lnTo>
                <a:lnTo>
                  <a:pt x="675" y="794"/>
                </a:lnTo>
                <a:lnTo>
                  <a:pt x="834" y="833"/>
                </a:lnTo>
                <a:lnTo>
                  <a:pt x="953" y="794"/>
                </a:lnTo>
                <a:lnTo>
                  <a:pt x="1151" y="556"/>
                </a:lnTo>
                <a:lnTo>
                  <a:pt x="1230" y="556"/>
                </a:lnTo>
                <a:lnTo>
                  <a:pt x="1429" y="675"/>
                </a:lnTo>
                <a:lnTo>
                  <a:pt x="1707" y="1032"/>
                </a:lnTo>
                <a:lnTo>
                  <a:pt x="1786" y="1071"/>
                </a:lnTo>
                <a:lnTo>
                  <a:pt x="1865" y="1032"/>
                </a:lnTo>
                <a:lnTo>
                  <a:pt x="2064" y="833"/>
                </a:lnTo>
                <a:lnTo>
                  <a:pt x="2500" y="556"/>
                </a:lnTo>
                <a:lnTo>
                  <a:pt x="2778" y="516"/>
                </a:lnTo>
                <a:lnTo>
                  <a:pt x="3135" y="595"/>
                </a:lnTo>
                <a:lnTo>
                  <a:pt x="3413" y="595"/>
                </a:lnTo>
                <a:lnTo>
                  <a:pt x="4286" y="278"/>
                </a:lnTo>
                <a:lnTo>
                  <a:pt x="4485" y="119"/>
                </a:lnTo>
                <a:lnTo>
                  <a:pt x="4683" y="79"/>
                </a:lnTo>
                <a:lnTo>
                  <a:pt x="4921" y="0"/>
                </a:lnTo>
                <a:lnTo>
                  <a:pt x="5001" y="119"/>
                </a:lnTo>
                <a:lnTo>
                  <a:pt x="5160" y="595"/>
                </a:lnTo>
                <a:lnTo>
                  <a:pt x="5239" y="754"/>
                </a:lnTo>
                <a:lnTo>
                  <a:pt x="5318" y="873"/>
                </a:lnTo>
                <a:lnTo>
                  <a:pt x="5398" y="873"/>
                </a:lnTo>
                <a:lnTo>
                  <a:pt x="5636" y="1032"/>
                </a:lnTo>
                <a:lnTo>
                  <a:pt x="5914" y="952"/>
                </a:lnTo>
                <a:lnTo>
                  <a:pt x="6072" y="833"/>
                </a:lnTo>
                <a:lnTo>
                  <a:pt x="6350" y="754"/>
                </a:lnTo>
                <a:lnTo>
                  <a:pt x="6509" y="635"/>
                </a:lnTo>
                <a:lnTo>
                  <a:pt x="6588" y="635"/>
                </a:lnTo>
                <a:lnTo>
                  <a:pt x="6707" y="714"/>
                </a:lnTo>
                <a:lnTo>
                  <a:pt x="6985" y="1032"/>
                </a:lnTo>
                <a:lnTo>
                  <a:pt x="7223" y="1191"/>
                </a:lnTo>
                <a:lnTo>
                  <a:pt x="7303" y="1310"/>
                </a:lnTo>
                <a:lnTo>
                  <a:pt x="7382" y="1508"/>
                </a:lnTo>
                <a:lnTo>
                  <a:pt x="7620" y="2976"/>
                </a:lnTo>
                <a:lnTo>
                  <a:pt x="7700" y="3373"/>
                </a:lnTo>
                <a:lnTo>
                  <a:pt x="7779" y="3532"/>
                </a:lnTo>
                <a:lnTo>
                  <a:pt x="10795" y="3532"/>
                </a:lnTo>
              </a:path>
            </a:pathLst>
          </a:custGeom>
          <a:ln w="18360">
            <a:solidFill>
              <a:srgbClr val="d66a23"/>
            </a:solidFill>
            <a:round/>
          </a:ln>
        </p:spPr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571320" y="6215040"/>
            <a:ext cx="3886200" cy="1185840"/>
          </a:xfrm>
          <a:custGeom>
            <a:avLst/>
            <a:gdLst/>
            <a:ahLst/>
            <a:rect l="0" t="0" r="r" b="b"/>
            <a:pathLst>
              <a:path fill="none" w="10795" h="3294">
                <a:moveTo>
                  <a:pt x="0" y="238"/>
                </a:moveTo>
                <a:lnTo>
                  <a:pt x="199" y="278"/>
                </a:lnTo>
                <a:lnTo>
                  <a:pt x="675" y="556"/>
                </a:lnTo>
                <a:lnTo>
                  <a:pt x="834" y="595"/>
                </a:lnTo>
                <a:lnTo>
                  <a:pt x="953" y="556"/>
                </a:lnTo>
                <a:lnTo>
                  <a:pt x="1111" y="318"/>
                </a:lnTo>
                <a:lnTo>
                  <a:pt x="1151" y="278"/>
                </a:lnTo>
                <a:lnTo>
                  <a:pt x="1230" y="318"/>
                </a:lnTo>
                <a:lnTo>
                  <a:pt x="1429" y="476"/>
                </a:lnTo>
                <a:lnTo>
                  <a:pt x="1707" y="833"/>
                </a:lnTo>
                <a:lnTo>
                  <a:pt x="1826" y="873"/>
                </a:lnTo>
                <a:lnTo>
                  <a:pt x="1905" y="873"/>
                </a:lnTo>
                <a:lnTo>
                  <a:pt x="2262" y="675"/>
                </a:lnTo>
                <a:lnTo>
                  <a:pt x="2421" y="516"/>
                </a:lnTo>
                <a:lnTo>
                  <a:pt x="2540" y="318"/>
                </a:lnTo>
                <a:lnTo>
                  <a:pt x="2620" y="278"/>
                </a:lnTo>
                <a:lnTo>
                  <a:pt x="2858" y="278"/>
                </a:lnTo>
                <a:lnTo>
                  <a:pt x="3175" y="476"/>
                </a:lnTo>
                <a:lnTo>
                  <a:pt x="3215" y="476"/>
                </a:lnTo>
                <a:lnTo>
                  <a:pt x="3532" y="238"/>
                </a:lnTo>
                <a:lnTo>
                  <a:pt x="3691" y="159"/>
                </a:lnTo>
                <a:lnTo>
                  <a:pt x="4048" y="159"/>
                </a:lnTo>
                <a:lnTo>
                  <a:pt x="4366" y="159"/>
                </a:lnTo>
                <a:lnTo>
                  <a:pt x="4564" y="159"/>
                </a:lnTo>
                <a:lnTo>
                  <a:pt x="5398" y="0"/>
                </a:lnTo>
                <a:lnTo>
                  <a:pt x="5517" y="79"/>
                </a:lnTo>
                <a:lnTo>
                  <a:pt x="5675" y="79"/>
                </a:lnTo>
                <a:lnTo>
                  <a:pt x="5795" y="159"/>
                </a:lnTo>
                <a:lnTo>
                  <a:pt x="6072" y="595"/>
                </a:lnTo>
                <a:lnTo>
                  <a:pt x="6350" y="675"/>
                </a:lnTo>
                <a:lnTo>
                  <a:pt x="6588" y="1072"/>
                </a:lnTo>
                <a:lnTo>
                  <a:pt x="6707" y="1468"/>
                </a:lnTo>
                <a:lnTo>
                  <a:pt x="6906" y="2778"/>
                </a:lnTo>
                <a:lnTo>
                  <a:pt x="6985" y="3135"/>
                </a:lnTo>
                <a:lnTo>
                  <a:pt x="7065" y="3254"/>
                </a:lnTo>
                <a:lnTo>
                  <a:pt x="7104" y="3294"/>
                </a:lnTo>
                <a:lnTo>
                  <a:pt x="10795" y="3294"/>
                </a:lnTo>
              </a:path>
            </a:pathLst>
          </a:custGeom>
          <a:ln w="18360">
            <a:solidFill>
              <a:srgbClr val="8453a3"/>
            </a:solidFill>
            <a:round/>
          </a:ln>
        </p:spPr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571320" y="6200640"/>
            <a:ext cx="3886200" cy="328680"/>
          </a:xfrm>
          <a:custGeom>
            <a:avLst/>
            <a:gdLst/>
            <a:ahLst/>
            <a:rect l="0" t="0" r="r" b="b"/>
            <a:pathLst>
              <a:path fill="none" w="10795" h="913">
                <a:moveTo>
                  <a:pt x="0" y="278"/>
                </a:moveTo>
                <a:lnTo>
                  <a:pt x="199" y="318"/>
                </a:lnTo>
                <a:lnTo>
                  <a:pt x="675" y="596"/>
                </a:lnTo>
                <a:lnTo>
                  <a:pt x="834" y="635"/>
                </a:lnTo>
                <a:lnTo>
                  <a:pt x="953" y="596"/>
                </a:lnTo>
                <a:lnTo>
                  <a:pt x="1111" y="358"/>
                </a:lnTo>
                <a:lnTo>
                  <a:pt x="1151" y="318"/>
                </a:lnTo>
                <a:lnTo>
                  <a:pt x="1230" y="358"/>
                </a:lnTo>
                <a:lnTo>
                  <a:pt x="1429" y="516"/>
                </a:lnTo>
                <a:lnTo>
                  <a:pt x="1707" y="873"/>
                </a:lnTo>
                <a:lnTo>
                  <a:pt x="1826" y="913"/>
                </a:lnTo>
                <a:lnTo>
                  <a:pt x="1985" y="873"/>
                </a:lnTo>
                <a:lnTo>
                  <a:pt x="2302" y="715"/>
                </a:lnTo>
                <a:lnTo>
                  <a:pt x="2421" y="596"/>
                </a:lnTo>
                <a:lnTo>
                  <a:pt x="2540" y="397"/>
                </a:lnTo>
                <a:lnTo>
                  <a:pt x="2659" y="318"/>
                </a:lnTo>
                <a:lnTo>
                  <a:pt x="2778" y="318"/>
                </a:lnTo>
                <a:lnTo>
                  <a:pt x="3175" y="516"/>
                </a:lnTo>
                <a:lnTo>
                  <a:pt x="3215" y="477"/>
                </a:lnTo>
                <a:lnTo>
                  <a:pt x="3453" y="278"/>
                </a:lnTo>
                <a:lnTo>
                  <a:pt x="3651" y="199"/>
                </a:lnTo>
                <a:lnTo>
                  <a:pt x="4048" y="199"/>
                </a:lnTo>
                <a:lnTo>
                  <a:pt x="4405" y="238"/>
                </a:lnTo>
                <a:lnTo>
                  <a:pt x="4763" y="278"/>
                </a:lnTo>
                <a:lnTo>
                  <a:pt x="4921" y="238"/>
                </a:lnTo>
                <a:lnTo>
                  <a:pt x="5199" y="80"/>
                </a:lnTo>
                <a:lnTo>
                  <a:pt x="5398" y="0"/>
                </a:lnTo>
                <a:lnTo>
                  <a:pt x="5437" y="40"/>
                </a:lnTo>
                <a:lnTo>
                  <a:pt x="5675" y="40"/>
                </a:lnTo>
                <a:lnTo>
                  <a:pt x="5755" y="40"/>
                </a:lnTo>
                <a:lnTo>
                  <a:pt x="5834" y="159"/>
                </a:lnTo>
                <a:lnTo>
                  <a:pt x="6191" y="675"/>
                </a:lnTo>
                <a:lnTo>
                  <a:pt x="6231" y="715"/>
                </a:lnTo>
                <a:lnTo>
                  <a:pt x="6509" y="794"/>
                </a:lnTo>
                <a:lnTo>
                  <a:pt x="6588" y="754"/>
                </a:lnTo>
                <a:lnTo>
                  <a:pt x="7025" y="477"/>
                </a:lnTo>
                <a:lnTo>
                  <a:pt x="7184" y="516"/>
                </a:lnTo>
                <a:lnTo>
                  <a:pt x="7342" y="437"/>
                </a:lnTo>
                <a:lnTo>
                  <a:pt x="7541" y="437"/>
                </a:lnTo>
                <a:lnTo>
                  <a:pt x="7620" y="477"/>
                </a:lnTo>
                <a:lnTo>
                  <a:pt x="7739" y="556"/>
                </a:lnTo>
                <a:lnTo>
                  <a:pt x="7898" y="754"/>
                </a:lnTo>
                <a:lnTo>
                  <a:pt x="8096" y="834"/>
                </a:lnTo>
                <a:lnTo>
                  <a:pt x="8374" y="715"/>
                </a:lnTo>
                <a:lnTo>
                  <a:pt x="8573" y="397"/>
                </a:lnTo>
                <a:lnTo>
                  <a:pt x="8692" y="318"/>
                </a:lnTo>
                <a:lnTo>
                  <a:pt x="9168" y="477"/>
                </a:lnTo>
                <a:lnTo>
                  <a:pt x="9446" y="238"/>
                </a:lnTo>
                <a:lnTo>
                  <a:pt x="9684" y="199"/>
                </a:lnTo>
                <a:lnTo>
                  <a:pt x="10240" y="199"/>
                </a:lnTo>
                <a:lnTo>
                  <a:pt x="10597" y="318"/>
                </a:lnTo>
                <a:lnTo>
                  <a:pt x="10795" y="278"/>
                </a:lnTo>
              </a:path>
            </a:pathLst>
          </a:custGeom>
          <a:ln w="18360">
            <a:solidFill>
              <a:srgbClr val="008e9f"/>
            </a:solidFill>
            <a:round/>
          </a:ln>
        </p:spPr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5468040" y="5577840"/>
            <a:ext cx="413316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Ring receiver  ·  M (mass units)</a:t>
            </a:r>
            <a:endParaRPr b="1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5472000" y="6043680"/>
            <a:ext cx="3886200" cy="1357200"/>
          </a:xfrm>
          <a:custGeom>
            <a:avLst/>
            <a:gdLst/>
            <a:ahLst/>
            <a:rect l="0" t="0" r="r" b="b"/>
            <a:pathLst>
              <a:path fill="none" w="10795" h="3770">
                <a:moveTo>
                  <a:pt x="0" y="0"/>
                </a:moveTo>
                <a:lnTo>
                  <a:pt x="0" y="3770"/>
                </a:lnTo>
                <a:lnTo>
                  <a:pt x="10795" y="3770"/>
                </a:lnTo>
              </a:path>
            </a:pathLst>
          </a:custGeom>
          <a:ln w="0">
            <a:solidFill>
              <a:srgbClr val="888888"/>
            </a:solidFill>
          </a:ln>
        </p:spPr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5212080" y="7324200"/>
            <a:ext cx="2286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5212080" y="6720840"/>
            <a:ext cx="2286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5212080" y="6126480"/>
            <a:ext cx="2286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5340240" y="7425000"/>
            <a:ext cx="64008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128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7287840" y="7425000"/>
            <a:ext cx="64008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256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7414920" y="6043680"/>
            <a:ext cx="0" cy="1357200"/>
          </a:xfrm>
          <a:prstGeom prst="line">
            <a:avLst/>
          </a:prstGeom>
          <a:ln w="0">
            <a:solidFill>
              <a:srgbClr val="ccccc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7013520" y="5806440"/>
            <a:ext cx="107892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late fork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9226440" y="7425000"/>
            <a:ext cx="64008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384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5472000" y="6329520"/>
            <a:ext cx="3886200" cy="1071360"/>
          </a:xfrm>
          <a:custGeom>
            <a:avLst/>
            <a:gdLst/>
            <a:ahLst/>
            <a:rect l="0" t="0" r="r" b="b"/>
            <a:pathLst>
              <a:path fill="none" w="10795" h="2976">
                <a:moveTo>
                  <a:pt x="0" y="158"/>
                </a:moveTo>
                <a:lnTo>
                  <a:pt x="159" y="317"/>
                </a:lnTo>
                <a:lnTo>
                  <a:pt x="198" y="317"/>
                </a:lnTo>
                <a:lnTo>
                  <a:pt x="397" y="277"/>
                </a:lnTo>
                <a:lnTo>
                  <a:pt x="675" y="0"/>
                </a:lnTo>
                <a:lnTo>
                  <a:pt x="833" y="0"/>
                </a:lnTo>
                <a:lnTo>
                  <a:pt x="952" y="39"/>
                </a:lnTo>
                <a:lnTo>
                  <a:pt x="1151" y="238"/>
                </a:lnTo>
                <a:lnTo>
                  <a:pt x="1230" y="238"/>
                </a:lnTo>
                <a:lnTo>
                  <a:pt x="1389" y="39"/>
                </a:lnTo>
                <a:lnTo>
                  <a:pt x="1508" y="0"/>
                </a:lnTo>
                <a:lnTo>
                  <a:pt x="1984" y="357"/>
                </a:lnTo>
                <a:lnTo>
                  <a:pt x="2222" y="277"/>
                </a:lnTo>
                <a:lnTo>
                  <a:pt x="2778" y="357"/>
                </a:lnTo>
                <a:lnTo>
                  <a:pt x="3215" y="238"/>
                </a:lnTo>
                <a:lnTo>
                  <a:pt x="3492" y="198"/>
                </a:lnTo>
                <a:lnTo>
                  <a:pt x="3691" y="198"/>
                </a:lnTo>
                <a:lnTo>
                  <a:pt x="3850" y="277"/>
                </a:lnTo>
                <a:lnTo>
                  <a:pt x="4008" y="277"/>
                </a:lnTo>
                <a:lnTo>
                  <a:pt x="4088" y="238"/>
                </a:lnTo>
                <a:lnTo>
                  <a:pt x="4286" y="39"/>
                </a:lnTo>
                <a:lnTo>
                  <a:pt x="4643" y="158"/>
                </a:lnTo>
                <a:lnTo>
                  <a:pt x="4842" y="317"/>
                </a:lnTo>
                <a:lnTo>
                  <a:pt x="4921" y="317"/>
                </a:lnTo>
                <a:lnTo>
                  <a:pt x="5080" y="238"/>
                </a:lnTo>
                <a:lnTo>
                  <a:pt x="5159" y="119"/>
                </a:lnTo>
                <a:lnTo>
                  <a:pt x="5199" y="119"/>
                </a:lnTo>
                <a:lnTo>
                  <a:pt x="5278" y="119"/>
                </a:lnTo>
                <a:lnTo>
                  <a:pt x="5358" y="158"/>
                </a:lnTo>
                <a:lnTo>
                  <a:pt x="5477" y="317"/>
                </a:lnTo>
                <a:lnTo>
                  <a:pt x="5794" y="793"/>
                </a:lnTo>
                <a:lnTo>
                  <a:pt x="5874" y="1111"/>
                </a:lnTo>
                <a:lnTo>
                  <a:pt x="6112" y="2619"/>
                </a:lnTo>
                <a:lnTo>
                  <a:pt x="6191" y="2857"/>
                </a:lnTo>
                <a:lnTo>
                  <a:pt x="6271" y="2976"/>
                </a:lnTo>
                <a:lnTo>
                  <a:pt x="10795" y="2976"/>
                </a:lnTo>
              </a:path>
            </a:pathLst>
          </a:custGeom>
          <a:ln w="18360">
            <a:solidFill>
              <a:srgbClr val="d66a23"/>
            </a:solidFill>
            <a:round/>
          </a:ln>
        </p:spPr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5472000" y="6315120"/>
            <a:ext cx="3886200" cy="1085760"/>
          </a:xfrm>
          <a:custGeom>
            <a:avLst/>
            <a:gdLst/>
            <a:ahLst/>
            <a:rect l="0" t="0" r="r" b="b"/>
            <a:pathLst>
              <a:path fill="none" w="10795" h="3016">
                <a:moveTo>
                  <a:pt x="0" y="198"/>
                </a:moveTo>
                <a:lnTo>
                  <a:pt x="159" y="357"/>
                </a:lnTo>
                <a:lnTo>
                  <a:pt x="198" y="357"/>
                </a:lnTo>
                <a:lnTo>
                  <a:pt x="397" y="317"/>
                </a:lnTo>
                <a:lnTo>
                  <a:pt x="675" y="79"/>
                </a:lnTo>
                <a:lnTo>
                  <a:pt x="833" y="40"/>
                </a:lnTo>
                <a:lnTo>
                  <a:pt x="952" y="79"/>
                </a:lnTo>
                <a:lnTo>
                  <a:pt x="1191" y="317"/>
                </a:lnTo>
                <a:lnTo>
                  <a:pt x="1230" y="317"/>
                </a:lnTo>
                <a:lnTo>
                  <a:pt x="1429" y="79"/>
                </a:lnTo>
                <a:lnTo>
                  <a:pt x="1548" y="40"/>
                </a:lnTo>
                <a:lnTo>
                  <a:pt x="1826" y="238"/>
                </a:lnTo>
                <a:lnTo>
                  <a:pt x="1945" y="357"/>
                </a:lnTo>
                <a:lnTo>
                  <a:pt x="2262" y="317"/>
                </a:lnTo>
                <a:lnTo>
                  <a:pt x="2699" y="476"/>
                </a:lnTo>
                <a:lnTo>
                  <a:pt x="2937" y="476"/>
                </a:lnTo>
                <a:lnTo>
                  <a:pt x="3096" y="436"/>
                </a:lnTo>
                <a:lnTo>
                  <a:pt x="3373" y="278"/>
                </a:lnTo>
                <a:lnTo>
                  <a:pt x="3731" y="0"/>
                </a:lnTo>
                <a:lnTo>
                  <a:pt x="3810" y="0"/>
                </a:lnTo>
                <a:lnTo>
                  <a:pt x="3929" y="40"/>
                </a:lnTo>
                <a:lnTo>
                  <a:pt x="4564" y="516"/>
                </a:lnTo>
                <a:lnTo>
                  <a:pt x="4762" y="555"/>
                </a:lnTo>
                <a:lnTo>
                  <a:pt x="5080" y="476"/>
                </a:lnTo>
                <a:lnTo>
                  <a:pt x="5397" y="555"/>
                </a:lnTo>
                <a:lnTo>
                  <a:pt x="5556" y="794"/>
                </a:lnTo>
                <a:lnTo>
                  <a:pt x="5636" y="1071"/>
                </a:lnTo>
                <a:lnTo>
                  <a:pt x="5834" y="2222"/>
                </a:lnTo>
                <a:lnTo>
                  <a:pt x="5913" y="2659"/>
                </a:lnTo>
                <a:lnTo>
                  <a:pt x="6032" y="2937"/>
                </a:lnTo>
                <a:lnTo>
                  <a:pt x="6112" y="3016"/>
                </a:lnTo>
                <a:lnTo>
                  <a:pt x="10795" y="3016"/>
                </a:lnTo>
              </a:path>
            </a:pathLst>
          </a:custGeom>
          <a:ln w="18360">
            <a:solidFill>
              <a:srgbClr val="8453a3"/>
            </a:solidFill>
            <a:round/>
          </a:ln>
        </p:spPr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5472000" y="6315120"/>
            <a:ext cx="3886200" cy="1085760"/>
          </a:xfrm>
          <a:custGeom>
            <a:avLst/>
            <a:gdLst/>
            <a:ahLst/>
            <a:rect l="0" t="0" r="r" b="b"/>
            <a:pathLst>
              <a:path fill="none" w="10795" h="3016">
                <a:moveTo>
                  <a:pt x="0" y="198"/>
                </a:moveTo>
                <a:lnTo>
                  <a:pt x="159" y="357"/>
                </a:lnTo>
                <a:lnTo>
                  <a:pt x="198" y="357"/>
                </a:lnTo>
                <a:lnTo>
                  <a:pt x="397" y="317"/>
                </a:lnTo>
                <a:lnTo>
                  <a:pt x="675" y="79"/>
                </a:lnTo>
                <a:lnTo>
                  <a:pt x="833" y="40"/>
                </a:lnTo>
                <a:lnTo>
                  <a:pt x="952" y="79"/>
                </a:lnTo>
                <a:lnTo>
                  <a:pt x="1191" y="317"/>
                </a:lnTo>
                <a:lnTo>
                  <a:pt x="1230" y="317"/>
                </a:lnTo>
                <a:lnTo>
                  <a:pt x="1429" y="79"/>
                </a:lnTo>
                <a:lnTo>
                  <a:pt x="1508" y="40"/>
                </a:lnTo>
                <a:lnTo>
                  <a:pt x="1667" y="119"/>
                </a:lnTo>
                <a:lnTo>
                  <a:pt x="1945" y="357"/>
                </a:lnTo>
                <a:lnTo>
                  <a:pt x="2222" y="317"/>
                </a:lnTo>
                <a:lnTo>
                  <a:pt x="2699" y="476"/>
                </a:lnTo>
                <a:lnTo>
                  <a:pt x="2897" y="476"/>
                </a:lnTo>
                <a:lnTo>
                  <a:pt x="3056" y="436"/>
                </a:lnTo>
                <a:lnTo>
                  <a:pt x="3334" y="278"/>
                </a:lnTo>
                <a:lnTo>
                  <a:pt x="3770" y="0"/>
                </a:lnTo>
                <a:lnTo>
                  <a:pt x="3889" y="40"/>
                </a:lnTo>
                <a:lnTo>
                  <a:pt x="4564" y="516"/>
                </a:lnTo>
                <a:lnTo>
                  <a:pt x="4762" y="555"/>
                </a:lnTo>
                <a:lnTo>
                  <a:pt x="4961" y="516"/>
                </a:lnTo>
                <a:lnTo>
                  <a:pt x="5159" y="516"/>
                </a:lnTo>
                <a:lnTo>
                  <a:pt x="5278" y="555"/>
                </a:lnTo>
                <a:lnTo>
                  <a:pt x="5397" y="635"/>
                </a:lnTo>
                <a:lnTo>
                  <a:pt x="5556" y="952"/>
                </a:lnTo>
                <a:lnTo>
                  <a:pt x="5636" y="1310"/>
                </a:lnTo>
                <a:lnTo>
                  <a:pt x="5834" y="2540"/>
                </a:lnTo>
                <a:lnTo>
                  <a:pt x="5953" y="2857"/>
                </a:lnTo>
                <a:lnTo>
                  <a:pt x="6072" y="3016"/>
                </a:lnTo>
                <a:lnTo>
                  <a:pt x="10795" y="3016"/>
                </a:lnTo>
              </a:path>
            </a:pathLst>
          </a:custGeom>
          <a:ln w="18360">
            <a:solidFill>
              <a:srgbClr val="008e9f"/>
            </a:solidFill>
            <a:round/>
          </a:ln>
        </p:spPr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7414920" y="6543720"/>
            <a:ext cx="1943280" cy="857160"/>
          </a:xfrm>
          <a:custGeom>
            <a:avLst/>
            <a:gdLst/>
            <a:ahLst/>
            <a:rect l="0" t="0" r="r" b="b"/>
            <a:pathLst>
              <a:path fill="none" w="5398" h="2381">
                <a:moveTo>
                  <a:pt x="0" y="0"/>
                </a:moveTo>
                <a:lnTo>
                  <a:pt x="120" y="198"/>
                </a:lnTo>
                <a:lnTo>
                  <a:pt x="199" y="476"/>
                </a:lnTo>
                <a:lnTo>
                  <a:pt x="397" y="1667"/>
                </a:lnTo>
                <a:lnTo>
                  <a:pt x="477" y="2064"/>
                </a:lnTo>
                <a:lnTo>
                  <a:pt x="596" y="2302"/>
                </a:lnTo>
                <a:lnTo>
                  <a:pt x="675" y="2381"/>
                </a:lnTo>
                <a:lnTo>
                  <a:pt x="5398" y="2381"/>
                </a:lnTo>
              </a:path>
            </a:pathLst>
          </a:custGeom>
          <a:ln w="9000">
            <a:solidFill>
              <a:srgbClr val="404040"/>
            </a:solidFill>
            <a:round/>
          </a:ln>
        </p:spPr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466200" y="7680960"/>
            <a:ext cx="45720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Early erase: ×313; newborn-zero: ×296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466200" y="7936920"/>
            <a:ext cx="45720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Retained / late-erased at 384: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466200" y="8174880"/>
            <a:ext cx="45720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M  7.336560 / 7.329940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E  3.162447 / 3.159971 EU · both present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5394960" y="7680960"/>
            <a:ext cx="44622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Cohort gone at 219; L = 0.179141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5394960" y="7936920"/>
            <a:ext cx="44622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Copy: ×272; early erase: ×277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5394960" y="8174880"/>
            <a:ext cx="44622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Newborn-zero: ×273; late erase: ×272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All four end at M = E = 0.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283320" y="8632080"/>
            <a:ext cx="93726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Retain / late-erase curves nearly overlap; a nonzero endpoint effect is not a survival requirement.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285480" y="8929800"/>
            <a:ext cx="9501480" cy="0"/>
          </a:xfrm>
          <a:prstGeom prst="line">
            <a:avLst/>
          </a:prstGeom>
          <a:ln w="0">
            <a:solidFill>
              <a:srgbClr val="bbbbbb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2514600" y="6190560"/>
            <a:ext cx="1943280" cy="300240"/>
          </a:xfrm>
          <a:custGeom>
            <a:avLst/>
            <a:gdLst/>
            <a:ahLst/>
            <a:rect l="0" t="0" r="r" b="b"/>
            <a:pathLst>
              <a:path fill="none" w="5398" h="834">
                <a:moveTo>
                  <a:pt x="0" y="0"/>
                </a:moveTo>
                <a:lnTo>
                  <a:pt x="40" y="40"/>
                </a:lnTo>
                <a:lnTo>
                  <a:pt x="238" y="40"/>
                </a:lnTo>
                <a:lnTo>
                  <a:pt x="318" y="40"/>
                </a:lnTo>
                <a:lnTo>
                  <a:pt x="397" y="159"/>
                </a:lnTo>
                <a:lnTo>
                  <a:pt x="754" y="675"/>
                </a:lnTo>
                <a:lnTo>
                  <a:pt x="794" y="715"/>
                </a:lnTo>
                <a:lnTo>
                  <a:pt x="1072" y="794"/>
                </a:lnTo>
                <a:lnTo>
                  <a:pt x="1191" y="754"/>
                </a:lnTo>
                <a:lnTo>
                  <a:pt x="1588" y="477"/>
                </a:lnTo>
                <a:lnTo>
                  <a:pt x="1746" y="477"/>
                </a:lnTo>
                <a:lnTo>
                  <a:pt x="1945" y="437"/>
                </a:lnTo>
                <a:lnTo>
                  <a:pt x="2103" y="437"/>
                </a:lnTo>
                <a:lnTo>
                  <a:pt x="2223" y="516"/>
                </a:lnTo>
                <a:lnTo>
                  <a:pt x="2461" y="754"/>
                </a:lnTo>
                <a:lnTo>
                  <a:pt x="2699" y="834"/>
                </a:lnTo>
                <a:lnTo>
                  <a:pt x="2937" y="715"/>
                </a:lnTo>
                <a:lnTo>
                  <a:pt x="3135" y="397"/>
                </a:lnTo>
                <a:lnTo>
                  <a:pt x="3294" y="318"/>
                </a:lnTo>
                <a:lnTo>
                  <a:pt x="3731" y="477"/>
                </a:lnTo>
                <a:lnTo>
                  <a:pt x="4088" y="238"/>
                </a:lnTo>
                <a:lnTo>
                  <a:pt x="4247" y="199"/>
                </a:lnTo>
                <a:lnTo>
                  <a:pt x="4842" y="199"/>
                </a:lnTo>
                <a:lnTo>
                  <a:pt x="5199" y="318"/>
                </a:lnTo>
                <a:lnTo>
                  <a:pt x="5398" y="278"/>
                </a:lnTo>
              </a:path>
            </a:pathLst>
          </a:custGeom>
          <a:ln w="9000">
            <a:solidFill>
              <a:srgbClr val="404040"/>
            </a:solidFill>
            <a:round/>
          </a:ln>
        </p:spPr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2528640" y="6000840"/>
            <a:ext cx="957240" cy="0"/>
          </a:xfrm>
          <a:prstGeom prst="line">
            <a:avLst/>
          </a:prstGeom>
          <a:ln w="9000">
            <a:solidFill>
              <a:srgbClr val="44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2999160" y="5769720"/>
            <a:ext cx="16002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Challenge 257–320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7429320" y="6000840"/>
            <a:ext cx="957240" cy="0"/>
          </a:xfrm>
          <a:prstGeom prst="line">
            <a:avLst/>
          </a:prstGeom>
          <a:ln w="9000">
            <a:solidFill>
              <a:srgbClr val="44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7900560" y="5769720"/>
            <a:ext cx="16002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Challenge 257–320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283320" y="9015840"/>
            <a:ext cx="93726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700" spc="-1" strike="noStrike">
                <a:solidFill>
                  <a:srgbClr val="000000"/>
                </a:solidFill>
                <a:latin typeface="Arial"/>
              </a:rPr>
              <a:t>C  Retained protection does not guarantee birth opportunity</a:t>
            </a:r>
            <a:endParaRPr b="1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283320" y="9317880"/>
            <a:ext cx="463608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Initial 8 trajectories: all extinct by 512</a:t>
            </a:r>
            <a:endParaRPr b="1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5175360" y="9317880"/>
            <a:ext cx="459936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Original massed unequal-peaks trajectory</a:t>
            </a:r>
            <a:endParaRPr b="1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5175360" y="9537120"/>
            <a:ext cx="459936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Separate from the continuations in b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1985760" y="9715320"/>
            <a:ext cx="2657520" cy="0"/>
          </a:xfrm>
          <a:prstGeom prst="line">
            <a:avLst/>
          </a:prstGeom>
          <a:ln w="0">
            <a:solidFill>
              <a:srgbClr val="aaaaa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1901880" y="9518760"/>
            <a:ext cx="5670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3237120" y="9518760"/>
            <a:ext cx="5670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257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4572000" y="9518760"/>
            <a:ext cx="5670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512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3314520" y="9715320"/>
            <a:ext cx="0" cy="1757520"/>
          </a:xfrm>
          <a:prstGeom prst="line">
            <a:avLst/>
          </a:prstGeom>
          <a:ln w="0">
            <a:solidFill>
              <a:srgbClr val="ccccc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283320" y="9857160"/>
            <a:ext cx="165492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Unequal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massed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1985760" y="9887040"/>
            <a:ext cx="1014480" cy="0"/>
          </a:xfrm>
          <a:prstGeom prst="line">
            <a:avLst/>
          </a:prstGeom>
          <a:ln w="18360">
            <a:solidFill>
              <a:srgbClr val="9218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3017520" y="9802440"/>
            <a:ext cx="6768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×195*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1985760" y="10029960"/>
            <a:ext cx="1428840" cy="0"/>
          </a:xfrm>
          <a:prstGeom prst="line">
            <a:avLst/>
          </a:prstGeom>
          <a:ln w="18360">
            <a:solidFill>
              <a:srgbClr val="606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3429000" y="9939600"/>
            <a:ext cx="6768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×275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283320" y="10259640"/>
            <a:ext cx="165492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Unequal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spaced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1985760" y="10272600"/>
            <a:ext cx="1542960" cy="0"/>
          </a:xfrm>
          <a:prstGeom prst="line">
            <a:avLst/>
          </a:prstGeom>
          <a:ln w="18360">
            <a:solidFill>
              <a:srgbClr val="9218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3547800" y="10195560"/>
            <a:ext cx="6768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×298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1985760" y="10415520"/>
            <a:ext cx="2643120" cy="0"/>
          </a:xfrm>
          <a:prstGeom prst="line">
            <a:avLst/>
          </a:prstGeom>
          <a:ln w="18360">
            <a:solidFill>
              <a:srgbClr val="606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4654440" y="10332720"/>
            <a:ext cx="6768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×510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283320" y="10652760"/>
            <a:ext cx="165492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Ring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massed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1985760" y="10672920"/>
            <a:ext cx="1414440" cy="0"/>
          </a:xfrm>
          <a:prstGeom prst="line">
            <a:avLst/>
          </a:prstGeom>
          <a:ln w="18360">
            <a:solidFill>
              <a:srgbClr val="9218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3420000" y="10588680"/>
            <a:ext cx="6768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×272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1985760" y="10815480"/>
            <a:ext cx="1528920" cy="0"/>
          </a:xfrm>
          <a:prstGeom prst="line">
            <a:avLst/>
          </a:prstGeom>
          <a:ln w="18360">
            <a:solidFill>
              <a:srgbClr val="606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3538800" y="10735200"/>
            <a:ext cx="6768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×296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283320" y="11045880"/>
            <a:ext cx="165492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Ring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spaced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1985760" y="11072880"/>
            <a:ext cx="828720" cy="0"/>
          </a:xfrm>
          <a:prstGeom prst="line">
            <a:avLst/>
          </a:prstGeom>
          <a:ln w="18360">
            <a:solidFill>
              <a:srgbClr val="9218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2834640" y="10981800"/>
            <a:ext cx="6768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×160*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1985760" y="11215800"/>
            <a:ext cx="828720" cy="0"/>
          </a:xfrm>
          <a:prstGeom prst="line">
            <a:avLst/>
          </a:prstGeom>
          <a:ln w="18360">
            <a:solidFill>
              <a:srgbClr val="606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2834640" y="11128320"/>
            <a:ext cx="6768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×160*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357120" y="11587320"/>
            <a:ext cx="199800" cy="0"/>
          </a:xfrm>
          <a:prstGeom prst="line">
            <a:avLst/>
          </a:prstGeom>
          <a:ln w="18360">
            <a:solidFill>
              <a:srgbClr val="9218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603360" y="11494080"/>
            <a:ext cx="17190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Induction 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2371680" y="11587320"/>
            <a:ext cx="199800" cy="0"/>
          </a:xfrm>
          <a:prstGeom prst="line">
            <a:avLst/>
          </a:prstGeom>
          <a:ln w="18360">
            <a:solidFill>
              <a:srgbClr val="606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2624400" y="11494080"/>
            <a:ext cx="208476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Induction off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283320" y="11741040"/>
            <a:ext cx="46724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* Three already empty before challenge 257.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" name="" descr=""/>
          <p:cNvPicPr/>
          <p:nvPr/>
        </p:nvPicPr>
        <p:blipFill>
          <a:blip r:embed="rId11"/>
          <a:stretch/>
        </p:blipFill>
        <p:spPr>
          <a:xfrm>
            <a:off x="5248800" y="9765720"/>
            <a:ext cx="1216080" cy="1216080"/>
          </a:xfrm>
          <a:prstGeom prst="rect">
            <a:avLst/>
          </a:prstGeom>
          <a:ln w="0">
            <a:noFill/>
          </a:ln>
        </p:spPr>
      </p:pic>
      <p:sp>
        <p:nvSpPr>
          <p:cNvPr id="122" name=""/>
          <p:cNvSpPr txBox="1"/>
          <p:nvPr/>
        </p:nvSpPr>
        <p:spPr>
          <a:xfrm>
            <a:off x="5175360" y="11045880"/>
            <a:ext cx="154548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a at state 183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x8–19; y3–14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6656760" y="9729360"/>
            <a:ext cx="316368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Action 184: H+ request = 0</a:t>
            </a:r>
            <a:endParaRPr b="1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6656760" y="10021680"/>
            <a:ext cx="312732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Input M = 4.849532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Input L = 0.686248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6656760" y="10488240"/>
            <a:ext cx="312732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195: rule death removes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the remaining tissue.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6656760" y="10991160"/>
            <a:ext cx="312732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No basal shortfall or starvation.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These stages do not identify a mediator.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283320" y="11951280"/>
            <a:ext cx="93726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Paid order: upkeep → death → uptake → induction → birth + encoding.  Separate fixed-plasticity model.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777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2026-10-16T20:49:47Z</dcterms:created>
  <dc:creator/>
  <dc:description/>
  <dc:language>zh-CN</dc:language>
  <cp:lastModifiedBy/>
  <cp:lastPrinted>2026-10-17T20:01:38Z</cp:lastPrinted>
  <dcterms:modified xsi:type="dcterms:W3CDTF">2026-10-17T20:28:05Z</dcterms:modified>
  <cp:revision>122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