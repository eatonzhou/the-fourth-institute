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12239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9400" cy="155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304093-CA4A-490A-B886-EED1247AF10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72960"/>
            <a:ext cx="9059400" cy="1550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47360" y="8526600"/>
            <a:ext cx="3182760" cy="63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7227360" y="8526600"/>
            <a:ext cx="2336040" cy="63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045D515-74E0-4D8A-B0F6-B1E0DBBDD79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1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504000" y="8526600"/>
            <a:ext cx="2336040" cy="63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2863800"/>
            <a:ext cx="9072000" cy="70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56760" y="1188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A  P transport exposes an existing fuel constraint</a:t>
            </a:r>
            <a:endParaRPr b="1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56760" y="4482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Two bodies, each from its own state 128. Actual action 129; same K, q, support and L within each body.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56760" y="6948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T00: neither resource moves    T10: P only    T01: F only    T11: P + F    (body transport remains 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11480" y="1005840"/>
            <a:ext cx="1691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Body ρ · T00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313360" y="1005840"/>
            <a:ext cx="1691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Licensed request L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224600" y="1005840"/>
            <a:ext cx="1691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Available fuel F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135480" y="1005840"/>
            <a:ext cx="1691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P-admitted · T00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037720" y="1005840"/>
            <a:ext cx="1691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P-admitted · T10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411480" y="136260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2313360" y="136260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17" name="" descr=""/>
          <p:cNvPicPr/>
          <p:nvPr/>
        </p:nvPicPr>
        <p:blipFill>
          <a:blip r:embed="rId3"/>
          <a:stretch/>
        </p:blipFill>
        <p:spPr>
          <a:xfrm>
            <a:off x="4224600" y="136260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18" name="" descr=""/>
          <p:cNvPicPr/>
          <p:nvPr/>
        </p:nvPicPr>
        <p:blipFill>
          <a:blip r:embed="rId4"/>
          <a:stretch/>
        </p:blipFill>
        <p:spPr>
          <a:xfrm>
            <a:off x="6135480" y="136260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19" name="" descr=""/>
          <p:cNvPicPr/>
          <p:nvPr/>
        </p:nvPicPr>
        <p:blipFill>
          <a:blip r:embed="rId5"/>
          <a:stretch/>
        </p:blipFill>
        <p:spPr>
          <a:xfrm>
            <a:off x="8037720" y="1362600"/>
            <a:ext cx="1508760" cy="1508760"/>
          </a:xfrm>
          <a:prstGeom prst="rect">
            <a:avLst/>
          </a:prstGeom>
          <a:ln w="0">
            <a:noFill/>
          </a:ln>
        </p:spPr>
      </p:pic>
      <p:sp>
        <p:nvSpPr>
          <p:cNvPr id="20" name=""/>
          <p:cNvSpPr txBox="1"/>
          <p:nvPr/>
        </p:nvSpPr>
        <p:spPr>
          <a:xfrm>
            <a:off x="411480" y="2843640"/>
            <a:ext cx="3237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0ac · porous network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" name="" descr=""/>
          <p:cNvPicPr/>
          <p:nvPr/>
        </p:nvPicPr>
        <p:blipFill>
          <a:blip r:embed="rId6"/>
          <a:stretch/>
        </p:blipFill>
        <p:spPr>
          <a:xfrm>
            <a:off x="411480" y="310896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22" name="" descr=""/>
          <p:cNvPicPr/>
          <p:nvPr/>
        </p:nvPicPr>
        <p:blipFill>
          <a:blip r:embed="rId7"/>
          <a:stretch/>
        </p:blipFill>
        <p:spPr>
          <a:xfrm>
            <a:off x="2313360" y="310896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23" name="" descr=""/>
          <p:cNvPicPr/>
          <p:nvPr/>
        </p:nvPicPr>
        <p:blipFill>
          <a:blip r:embed="rId8"/>
          <a:stretch/>
        </p:blipFill>
        <p:spPr>
          <a:xfrm>
            <a:off x="4224600" y="310896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24" name="" descr=""/>
          <p:cNvPicPr/>
          <p:nvPr/>
        </p:nvPicPr>
        <p:blipFill>
          <a:blip r:embed="rId9"/>
          <a:stretch/>
        </p:blipFill>
        <p:spPr>
          <a:xfrm>
            <a:off x="6135480" y="3108960"/>
            <a:ext cx="1508760" cy="1508760"/>
          </a:xfrm>
          <a:prstGeom prst="rect">
            <a:avLst/>
          </a:prstGeom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10"/>
          <a:stretch/>
        </p:blipFill>
        <p:spPr>
          <a:xfrm>
            <a:off x="8037720" y="3108960"/>
            <a:ext cx="1508760" cy="1508760"/>
          </a:xfrm>
          <a:prstGeom prst="rect">
            <a:avLst/>
          </a:prstGeom>
          <a:ln w="0">
            <a:noFill/>
          </a:ln>
        </p:spPr>
      </p:pic>
      <p:sp>
        <p:nvSpPr>
          <p:cNvPr id="26" name=""/>
          <p:cNvSpPr txBox="1"/>
          <p:nvPr/>
        </p:nvSpPr>
        <p:spPr>
          <a:xfrm>
            <a:off x="411480" y="4581000"/>
            <a:ext cx="32371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6bd · four-lobed body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411480" y="47458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 → 1.1 M/cell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313360" y="47458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 → .05 M/cell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224600" y="47458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 → 1.75 F/cell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6135480" y="47458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 → .05 M/cell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8037720" y="4745880"/>
            <a:ext cx="17190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 → .05 M/cell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356760" y="498348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White = 0; darker = larger. Same crop x,y = 12–83 of 96²; y up. P-admitted = min(L, P).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56760" y="517536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L and F are identical in T00 / T10. P admission changes without any deterioration of the F field.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57120" y="5443560"/>
            <a:ext cx="935820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56760" y="552312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800" spc="-1" strike="noStrike">
                <a:solidFill>
                  <a:srgbClr val="000000"/>
                </a:solidFill>
                <a:latin typeface="Arial"/>
              </a:rPr>
              <a:t>B  Sequential rejection is not the independent fuel deficit</a:t>
            </a:r>
            <a:endParaRPr b="1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56760" y="58064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q  →  capacity  →  template  →  L  →  P admission  →  F admission  →  paid birth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216080" y="6117480"/>
            <a:ext cx="3886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Independent F deficit · M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5970960" y="6117480"/>
            <a:ext cx="370332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F rejection after P · M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1216080" y="6327720"/>
            <a:ext cx="3886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Σ max(0, L − F / 0.42)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970960" y="6327720"/>
            <a:ext cx="388620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Σ max(0, min(L, P) − F / 0.42)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442880" y="6672240"/>
            <a:ext cx="258624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157800" y="6672240"/>
            <a:ext cx="258588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435680" y="6492240"/>
            <a:ext cx="429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3886200" y="6492240"/>
            <a:ext cx="429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6153840" y="6492240"/>
            <a:ext cx="429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595360" y="6492240"/>
            <a:ext cx="4298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.3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56760" y="6839640"/>
            <a:ext cx="786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0ac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442880" y="6900840"/>
            <a:ext cx="2471760" cy="0"/>
          </a:xfrm>
          <a:prstGeom prst="line">
            <a:avLst/>
          </a:prstGeom>
          <a:ln w="36720">
            <a:solidFill>
              <a:srgbClr val="8f9a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442880" y="7000920"/>
            <a:ext cx="2471760" cy="0"/>
          </a:xfrm>
          <a:prstGeom prst="line">
            <a:avLst/>
          </a:prstGeom>
          <a:ln w="36720">
            <a:solidFill>
              <a:srgbClr val="1687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4060080" y="6821280"/>
            <a:ext cx="1508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11.432606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unchanged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157800" y="6900840"/>
            <a:ext cx="671400" cy="0"/>
          </a:xfrm>
          <a:prstGeom prst="line">
            <a:avLst/>
          </a:prstGeom>
          <a:ln w="36720">
            <a:solidFill>
              <a:srgbClr val="8f9a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157800" y="7000920"/>
            <a:ext cx="2471760" cy="0"/>
          </a:xfrm>
          <a:prstGeom prst="line">
            <a:avLst/>
          </a:prstGeom>
          <a:ln w="36720">
            <a:solidFill>
              <a:srgbClr val="1687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814960" y="6803280"/>
            <a:ext cx="8960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0.078555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0.286307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56760" y="7324200"/>
            <a:ext cx="786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400" spc="-1" strike="noStrike">
                <a:solidFill>
                  <a:srgbClr val="000000"/>
                </a:solidFill>
                <a:latin typeface="Arial"/>
              </a:rPr>
              <a:t>6bd</a:t>
            </a:r>
            <a:endParaRPr b="1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442880" y="7386480"/>
            <a:ext cx="457200" cy="0"/>
          </a:xfrm>
          <a:prstGeom prst="line">
            <a:avLst/>
          </a:prstGeom>
          <a:ln w="36720">
            <a:solidFill>
              <a:srgbClr val="8f9a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1442880" y="7486560"/>
            <a:ext cx="457200" cy="0"/>
          </a:xfrm>
          <a:prstGeom prst="line">
            <a:avLst/>
          </a:prstGeom>
          <a:ln w="36720">
            <a:solidFill>
              <a:srgbClr val="1687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060080" y="7306200"/>
            <a:ext cx="1508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2.107857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unchanged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157800" y="7386480"/>
            <a:ext cx="1057320" cy="0"/>
          </a:xfrm>
          <a:prstGeom prst="line">
            <a:avLst/>
          </a:prstGeom>
          <a:ln w="36720">
            <a:solidFill>
              <a:srgbClr val="8f9a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6157800" y="7486560"/>
            <a:ext cx="2100240" cy="0"/>
          </a:xfrm>
          <a:prstGeom prst="line">
            <a:avLst/>
          </a:prstGeom>
          <a:ln w="36720">
            <a:solidFill>
              <a:srgbClr val="1687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360" rIns="108360" tIns="-63360" bIns="-633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814960" y="7287840"/>
            <a:ext cx="8960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0.121870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0.243360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56760" y="77724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Grey T00 · Teal T10. Independent deficits may overlap; do not add P and F deficits.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56760" y="79736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P releases requests into an unchanged F constraint. Later q/support evolve with each body.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57120" y="8229600"/>
            <a:ext cx="935820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56760" y="8293680"/>
            <a:ext cx="9354240" cy="81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700" spc="-1" strike="noStrike">
                <a:solidFill>
                  <a:srgbClr val="000000"/>
                </a:solidFill>
                <a:latin typeface="Arial"/>
              </a:rPr>
              <a:t>C  More mass, more energy and late growth are different outcomes</a:t>
            </a:r>
            <a:endParaRPr b="1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56760" y="85770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P effects (F off / on):  0ac  ΔM +6.70 / +7.73;  ΔE −100.55 / −95.96;  ΔT +61.18 / +88.65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56760" y="87782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                               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6bd  ΔM +55.72 / +63.05;  ΔE −16.54 / −15.49;  ΔT +109.78 / +120.92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56760" y="89978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100" spc="-1" strike="noStrike">
                <a:solidFill>
                  <a:srgbClr val="000000"/>
                </a:solidFill>
                <a:latin typeface="Arial"/>
              </a:rPr>
              <a:t>F effects below: grey = T01 − T00 (P off); blue = T11 − T10 (P on).   T: integrated body-time.</a:t>
            </a:r>
            <a:endParaRPr b="1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749880" y="922644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0ac · ΔM (M)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57080" y="9501120"/>
            <a:ext cx="0" cy="70020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757080" y="10201320"/>
            <a:ext cx="374328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757080" y="10101240"/>
            <a:ext cx="374328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393120" y="94093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93120" y="100951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57080" y="10086840"/>
            <a:ext cx="3743280" cy="100080"/>
          </a:xfrm>
          <a:custGeom>
            <a:avLst/>
            <a:gdLst/>
            <a:ahLst/>
            <a:rect l="0" t="0" r="r" b="b"/>
            <a:pathLst>
              <a:path fill="none" w="10398" h="278">
                <a:moveTo>
                  <a:pt x="0" y="40"/>
                </a:moveTo>
                <a:lnTo>
                  <a:pt x="3374" y="40"/>
                </a:lnTo>
                <a:lnTo>
                  <a:pt x="4009" y="80"/>
                </a:lnTo>
                <a:lnTo>
                  <a:pt x="4644" y="119"/>
                </a:lnTo>
                <a:lnTo>
                  <a:pt x="6945" y="119"/>
                </a:lnTo>
                <a:lnTo>
                  <a:pt x="8215" y="0"/>
                </a:lnTo>
                <a:lnTo>
                  <a:pt x="8652" y="40"/>
                </a:lnTo>
                <a:lnTo>
                  <a:pt x="9962" y="278"/>
                </a:lnTo>
                <a:lnTo>
                  <a:pt x="10398" y="278"/>
                </a:lnTo>
              </a:path>
            </a:pathLst>
          </a:custGeom>
          <a:ln w="18360">
            <a:solidFill>
              <a:srgbClr val="8f9aa4"/>
            </a:solidFill>
            <a:round/>
          </a:ln>
        </p:spPr>
        <p:txBody>
          <a:bodyPr lIns="99000" rIns="99000" tIns="46080" bIns="4608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757080" y="9529920"/>
            <a:ext cx="3743280" cy="614160"/>
          </a:xfrm>
          <a:custGeom>
            <a:avLst/>
            <a:gdLst/>
            <a:ahLst/>
            <a:rect l="0" t="0" r="r" b="b"/>
            <a:pathLst>
              <a:path fill="none" w="10398" h="1706">
                <a:moveTo>
                  <a:pt x="0" y="1587"/>
                </a:moveTo>
                <a:lnTo>
                  <a:pt x="1945" y="1230"/>
                </a:lnTo>
                <a:lnTo>
                  <a:pt x="3453" y="873"/>
                </a:lnTo>
                <a:lnTo>
                  <a:pt x="5080" y="714"/>
                </a:lnTo>
                <a:lnTo>
                  <a:pt x="5755" y="555"/>
                </a:lnTo>
                <a:lnTo>
                  <a:pt x="5953" y="436"/>
                </a:lnTo>
                <a:lnTo>
                  <a:pt x="6509" y="277"/>
                </a:lnTo>
                <a:lnTo>
                  <a:pt x="6945" y="119"/>
                </a:lnTo>
                <a:lnTo>
                  <a:pt x="7263" y="39"/>
                </a:lnTo>
                <a:lnTo>
                  <a:pt x="7461" y="0"/>
                </a:lnTo>
                <a:lnTo>
                  <a:pt x="7898" y="39"/>
                </a:lnTo>
                <a:lnTo>
                  <a:pt x="8136" y="158"/>
                </a:lnTo>
                <a:lnTo>
                  <a:pt x="8573" y="436"/>
                </a:lnTo>
                <a:lnTo>
                  <a:pt x="9406" y="1150"/>
                </a:lnTo>
                <a:lnTo>
                  <a:pt x="10081" y="1547"/>
                </a:lnTo>
                <a:lnTo>
                  <a:pt x="10398" y="1706"/>
                </a:lnTo>
              </a:path>
            </a:pathLst>
          </a:custGeom>
          <a:ln w="18360">
            <a:solidFill>
              <a:srgbClr val="137eaa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749880" y="1028700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0ac · ΔE (EU)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57080" y="10544040"/>
            <a:ext cx="0" cy="71460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757080" y="11258640"/>
            <a:ext cx="374328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93120" y="104515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393120" y="111373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757080" y="10644120"/>
            <a:ext cx="3743280" cy="614520"/>
          </a:xfrm>
          <a:custGeom>
            <a:avLst/>
            <a:gdLst/>
            <a:ahLst/>
            <a:rect l="0" t="0" r="r" b="b"/>
            <a:pathLst>
              <a:path fill="none" w="10398" h="1707">
                <a:moveTo>
                  <a:pt x="0" y="1707"/>
                </a:moveTo>
                <a:lnTo>
                  <a:pt x="1508" y="1627"/>
                </a:lnTo>
                <a:lnTo>
                  <a:pt x="3572" y="1389"/>
                </a:lnTo>
                <a:lnTo>
                  <a:pt x="4763" y="1151"/>
                </a:lnTo>
                <a:lnTo>
                  <a:pt x="8334" y="357"/>
                </a:lnTo>
                <a:lnTo>
                  <a:pt x="10398" y="0"/>
                </a:lnTo>
              </a:path>
            </a:pathLst>
          </a:custGeom>
          <a:ln w="18360">
            <a:solidFill>
              <a:srgbClr val="8f9aa4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57080" y="10615680"/>
            <a:ext cx="3743280" cy="642960"/>
          </a:xfrm>
          <a:custGeom>
            <a:avLst/>
            <a:gdLst/>
            <a:ahLst/>
            <a:rect l="0" t="0" r="r" b="b"/>
            <a:pathLst>
              <a:path fill="none" w="10398" h="1786">
                <a:moveTo>
                  <a:pt x="0" y="1786"/>
                </a:moveTo>
                <a:lnTo>
                  <a:pt x="1508" y="1706"/>
                </a:lnTo>
                <a:lnTo>
                  <a:pt x="3016" y="1508"/>
                </a:lnTo>
                <a:lnTo>
                  <a:pt x="3889" y="1309"/>
                </a:lnTo>
                <a:lnTo>
                  <a:pt x="6945" y="476"/>
                </a:lnTo>
                <a:lnTo>
                  <a:pt x="8017" y="198"/>
                </a:lnTo>
                <a:lnTo>
                  <a:pt x="8890" y="79"/>
                </a:lnTo>
                <a:lnTo>
                  <a:pt x="10398" y="0"/>
                </a:lnTo>
              </a:path>
            </a:pathLst>
          </a:custGeom>
          <a:ln w="18360">
            <a:solidFill>
              <a:srgbClr val="137eaa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64008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251460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176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38912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5541120" y="922644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6bd · ΔM (M)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5543280" y="9501120"/>
            <a:ext cx="0" cy="70020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5543280" y="10201320"/>
            <a:ext cx="374364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5543280" y="10101240"/>
            <a:ext cx="374364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175360" y="94093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175360" y="100951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-2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5543280" y="10086840"/>
            <a:ext cx="3743640" cy="42840"/>
          </a:xfrm>
          <a:custGeom>
            <a:avLst/>
            <a:gdLst/>
            <a:ahLst/>
            <a:rect l="0" t="0" r="r" b="b"/>
            <a:pathLst>
              <a:path fill="none" w="10399" h="119">
                <a:moveTo>
                  <a:pt x="0" y="40"/>
                </a:moveTo>
                <a:lnTo>
                  <a:pt x="1628" y="80"/>
                </a:lnTo>
                <a:lnTo>
                  <a:pt x="6073" y="0"/>
                </a:lnTo>
                <a:lnTo>
                  <a:pt x="7700" y="40"/>
                </a:lnTo>
                <a:lnTo>
                  <a:pt x="9009" y="119"/>
                </a:lnTo>
                <a:lnTo>
                  <a:pt x="10399" y="80"/>
                </a:lnTo>
              </a:path>
            </a:pathLst>
          </a:custGeom>
          <a:ln w="18360">
            <a:solidFill>
              <a:srgbClr val="8f9aa4"/>
            </a:solidFill>
            <a:round/>
          </a:ln>
        </p:spPr>
        <p:txBody>
          <a:bodyPr lIns="99000" rIns="99000" tIns="-11160" bIns="-1116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5543280" y="9744120"/>
            <a:ext cx="3743640" cy="357120"/>
          </a:xfrm>
          <a:custGeom>
            <a:avLst/>
            <a:gdLst/>
            <a:ahLst/>
            <a:rect l="0" t="0" r="r" b="b"/>
            <a:pathLst>
              <a:path fill="none" w="10399" h="992">
                <a:moveTo>
                  <a:pt x="0" y="992"/>
                </a:moveTo>
                <a:lnTo>
                  <a:pt x="3056" y="913"/>
                </a:lnTo>
                <a:lnTo>
                  <a:pt x="4009" y="913"/>
                </a:lnTo>
                <a:lnTo>
                  <a:pt x="4564" y="873"/>
                </a:lnTo>
                <a:lnTo>
                  <a:pt x="7898" y="436"/>
                </a:lnTo>
                <a:lnTo>
                  <a:pt x="9009" y="198"/>
                </a:lnTo>
                <a:lnTo>
                  <a:pt x="9525" y="159"/>
                </a:lnTo>
                <a:lnTo>
                  <a:pt x="10081" y="40"/>
                </a:lnTo>
                <a:lnTo>
                  <a:pt x="10399" y="0"/>
                </a:lnTo>
              </a:path>
            </a:pathLst>
          </a:custGeom>
          <a:ln w="18360">
            <a:solidFill>
              <a:srgbClr val="137eaa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541120" y="10287000"/>
            <a:ext cx="395928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300" spc="-1" strike="noStrike">
                <a:solidFill>
                  <a:srgbClr val="000000"/>
                </a:solidFill>
                <a:latin typeface="Arial"/>
              </a:rPr>
              <a:t>6bd · ΔE (EU)</a:t>
            </a:r>
            <a:endParaRPr b="1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5543280" y="10544040"/>
            <a:ext cx="0" cy="71460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543280" y="11258640"/>
            <a:ext cx="3743640" cy="0"/>
          </a:xfrm>
          <a:prstGeom prst="line">
            <a:avLst/>
          </a:prstGeom>
          <a:ln w="9000">
            <a:solidFill>
              <a:srgbClr val="b9bdc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5175360" y="104515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100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5175360" y="11137320"/>
            <a:ext cx="35676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5543280" y="10915560"/>
            <a:ext cx="3743640" cy="343080"/>
          </a:xfrm>
          <a:custGeom>
            <a:avLst/>
            <a:gdLst/>
            <a:ahLst/>
            <a:rect l="0" t="0" r="r" b="b"/>
            <a:pathLst>
              <a:path fill="none" w="10399" h="953">
                <a:moveTo>
                  <a:pt x="0" y="953"/>
                </a:moveTo>
                <a:lnTo>
                  <a:pt x="1945" y="873"/>
                </a:lnTo>
                <a:lnTo>
                  <a:pt x="4564" y="715"/>
                </a:lnTo>
                <a:lnTo>
                  <a:pt x="6628" y="476"/>
                </a:lnTo>
                <a:lnTo>
                  <a:pt x="10399" y="0"/>
                </a:lnTo>
              </a:path>
            </a:pathLst>
          </a:custGeom>
          <a:ln w="18360">
            <a:solidFill>
              <a:srgbClr val="8f9aa4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5543280" y="10901520"/>
            <a:ext cx="3743640" cy="357120"/>
          </a:xfrm>
          <a:custGeom>
            <a:avLst/>
            <a:gdLst/>
            <a:ahLst/>
            <a:rect l="0" t="0" r="r" b="b"/>
            <a:pathLst>
              <a:path fill="none" w="10399" h="992">
                <a:moveTo>
                  <a:pt x="0" y="992"/>
                </a:moveTo>
                <a:lnTo>
                  <a:pt x="1826" y="912"/>
                </a:lnTo>
                <a:lnTo>
                  <a:pt x="3890" y="793"/>
                </a:lnTo>
                <a:lnTo>
                  <a:pt x="5636" y="595"/>
                </a:lnTo>
                <a:lnTo>
                  <a:pt x="8771" y="158"/>
                </a:lnTo>
                <a:lnTo>
                  <a:pt x="10399" y="0"/>
                </a:lnTo>
              </a:path>
            </a:pathLst>
          </a:custGeom>
          <a:ln w="18360">
            <a:solidFill>
              <a:srgbClr val="137eaa"/>
            </a:solidFill>
            <a:round/>
          </a:ln>
        </p:spPr>
        <p:txBody>
          <a:bodyPr lIns="99000" rIns="99000" tIns="54000" bIns="54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43168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128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730620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176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9171360" y="11256120"/>
            <a:ext cx="5396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224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56760" y="11530440"/>
            <a:ext cx="46724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0ac: all four lose M over the final 32 updates.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139000" y="11530440"/>
            <a:ext cx="46724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6bd: all four gain M at every late update.</a:t>
            </a:r>
            <a:endParaRPr b="1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56760" y="1176840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Energy interaction has brief negative intervals: 0ac at 147; 6bd at 159–164. No steady-state claim.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56760" y="11969640"/>
            <a:ext cx="9354240" cy="786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100" spc="-1" strike="noStrike">
                <a:solidFill>
                  <a:srgbClr val="000000"/>
                </a:solidFill>
                <a:latin typeface="Arial"/>
              </a:rPr>
              <a:t>Capability + payment; fixed rules, learning off. Two bodies differ in rules and history, not independent replicates.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2026-10-16T20:49:47Z</dcterms:created>
  <dc:creator/>
  <dc:description/>
  <dc:language>zh-CN</dc:language>
  <cp:lastModifiedBy/>
  <cp:lastPrinted>2026-10-17T23:03:51Z</cp:lastPrinted>
  <dcterms:modified xsi:type="dcterms:W3CDTF">2026-10-18T12:06:21Z</dcterms:modified>
  <cp:revision>192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