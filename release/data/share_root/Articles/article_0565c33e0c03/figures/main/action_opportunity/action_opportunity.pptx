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12239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63360" cy="155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43F519-A934-4ED3-AC2F-A5F96CE65F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63360" cy="155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8526600"/>
            <a:ext cx="318672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8526600"/>
            <a:ext cx="23400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EFE93D-75DD-4FA8-8CFB-9072D453E99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8526600"/>
            <a:ext cx="23400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4425840" y="1005840"/>
            <a:ext cx="1718280" cy="1718280"/>
          </a:xfrm>
          <a:prstGeom prst="rect">
            <a:avLst/>
          </a:prstGeom>
          <a:ln w="0">
            <a:noFill/>
          </a:ln>
        </p:spPr>
      </p:pic>
      <p:pic>
        <p:nvPicPr>
          <p:cNvPr id="8" name="" descr=""/>
          <p:cNvPicPr/>
          <p:nvPr/>
        </p:nvPicPr>
        <p:blipFill>
          <a:blip r:embed="rId2"/>
          <a:stretch/>
        </p:blipFill>
        <p:spPr>
          <a:xfrm>
            <a:off x="466200" y="1005840"/>
            <a:ext cx="1718280" cy="1718280"/>
          </a:xfrm>
          <a:prstGeom prst="rect">
            <a:avLst/>
          </a:prstGeom>
          <a:ln w="0">
            <a:noFill/>
          </a:ln>
        </p:spPr>
      </p:pic>
      <p:pic>
        <p:nvPicPr>
          <p:cNvPr id="9" name="" descr=""/>
          <p:cNvPicPr/>
          <p:nvPr/>
        </p:nvPicPr>
        <p:blipFill>
          <a:blip r:embed="rId3"/>
          <a:stretch/>
        </p:blipFill>
        <p:spPr>
          <a:xfrm>
            <a:off x="7809120" y="1005840"/>
            <a:ext cx="1718280" cy="1718280"/>
          </a:xfrm>
          <a:prstGeom prst="rect">
            <a:avLst/>
          </a:prstGeom>
          <a:ln w="0">
            <a:noFill/>
          </a:ln>
        </p:spPr>
      </p:pic>
      <p:pic>
        <p:nvPicPr>
          <p:cNvPr id="10" name="" descr=""/>
          <p:cNvPicPr/>
          <p:nvPr/>
        </p:nvPicPr>
        <p:blipFill>
          <a:blip r:embed="rId4"/>
          <a:stretch/>
        </p:blipFill>
        <p:spPr>
          <a:xfrm>
            <a:off x="2441520" y="1005840"/>
            <a:ext cx="1718280" cy="1718280"/>
          </a:xfrm>
          <a:prstGeom prst="rect">
            <a:avLst/>
          </a:prstGeom>
          <a:ln w="0">
            <a:noFill/>
          </a:ln>
        </p:spPr>
      </p:pic>
      <p:pic>
        <p:nvPicPr>
          <p:cNvPr id="11" name="" descr=""/>
          <p:cNvPicPr/>
          <p:nvPr/>
        </p:nvPicPr>
        <p:blipFill>
          <a:blip r:embed="rId5"/>
          <a:stretch/>
        </p:blipFill>
        <p:spPr>
          <a:xfrm>
            <a:off x="4425840" y="1005840"/>
            <a:ext cx="1718280" cy="1718280"/>
          </a:xfrm>
          <a:prstGeom prst="rect">
            <a:avLst/>
          </a:prstGeom>
          <a:ln w="0">
            <a:noFill/>
          </a:ln>
        </p:spPr>
      </p:pic>
      <p:sp>
        <p:nvSpPr>
          <p:cNvPr id="12" name=""/>
          <p:cNvSpPr/>
          <p:nvPr/>
        </p:nvSpPr>
        <p:spPr>
          <a:xfrm>
            <a:off x="283320" y="155520"/>
            <a:ext cx="9353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  Contact recedes before the second resource site opens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283320" y="429840"/>
            <a:ext cx="9353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Compact h2 · acquisition: A only → shared state 512 → B future (retain shown)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466200" y="658440"/>
            <a:ext cx="17913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1042920" y="1014480"/>
            <a:ext cx="360" cy="1728720"/>
          </a:xfrm>
          <a:prstGeom prst="line">
            <a:avLst/>
          </a:prstGeom>
          <a:ln w="0">
            <a:solidFill>
              <a:srgbClr val="008c9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1400040" y="1014480"/>
            <a:ext cx="360" cy="1728720"/>
          </a:xfrm>
          <a:prstGeom prst="line">
            <a:avLst/>
          </a:prstGeom>
          <a:ln w="0">
            <a:solidFill>
              <a:srgbClr val="008c9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" name=""/>
          <p:cNvSpPr/>
          <p:nvPr/>
        </p:nvSpPr>
        <p:spPr>
          <a:xfrm>
            <a:off x="1042920" y="942840"/>
            <a:ext cx="357120" cy="360"/>
          </a:xfrm>
          <a:prstGeom prst="line">
            <a:avLst/>
          </a:prstGeom>
          <a:ln w="1836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1143000" y="76824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542960" y="1014480"/>
            <a:ext cx="360" cy="1728720"/>
          </a:xfrm>
          <a:prstGeom prst="line">
            <a:avLst/>
          </a:prstGeom>
          <a:ln w="0">
            <a:solidFill>
              <a:srgbClr val="d7782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" name=""/>
          <p:cNvSpPr/>
          <p:nvPr/>
        </p:nvSpPr>
        <p:spPr>
          <a:xfrm>
            <a:off x="1914480" y="1014480"/>
            <a:ext cx="360" cy="1728720"/>
          </a:xfrm>
          <a:prstGeom prst="line">
            <a:avLst/>
          </a:prstGeom>
          <a:ln w="0">
            <a:solidFill>
              <a:srgbClr val="d7782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" name=""/>
          <p:cNvSpPr/>
          <p:nvPr/>
        </p:nvSpPr>
        <p:spPr>
          <a:xfrm>
            <a:off x="1542960" y="942840"/>
            <a:ext cx="371520" cy="360"/>
          </a:xfrm>
          <a:prstGeom prst="line">
            <a:avLst/>
          </a:prstGeom>
          <a:ln w="1836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" name=""/>
          <p:cNvSpPr/>
          <p:nvPr/>
        </p:nvSpPr>
        <p:spPr>
          <a:xfrm>
            <a:off x="1654920" y="76824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2441520" y="658440"/>
            <a:ext cx="17913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256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028680" y="1014480"/>
            <a:ext cx="360" cy="1728720"/>
          </a:xfrm>
          <a:prstGeom prst="line">
            <a:avLst/>
          </a:prstGeom>
          <a:ln w="0">
            <a:solidFill>
              <a:srgbClr val="008c9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3386160" y="1014480"/>
            <a:ext cx="360" cy="1728720"/>
          </a:xfrm>
          <a:prstGeom prst="line">
            <a:avLst/>
          </a:prstGeom>
          <a:ln w="0">
            <a:solidFill>
              <a:srgbClr val="008c9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3028680" y="942840"/>
            <a:ext cx="357480" cy="360"/>
          </a:xfrm>
          <a:prstGeom prst="line">
            <a:avLst/>
          </a:prstGeom>
          <a:ln w="1836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3127320" y="76824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528720" y="1014480"/>
            <a:ext cx="360" cy="1728720"/>
          </a:xfrm>
          <a:prstGeom prst="line">
            <a:avLst/>
          </a:prstGeom>
          <a:ln w="0">
            <a:solidFill>
              <a:srgbClr val="d7782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3886200" y="1014480"/>
            <a:ext cx="360" cy="1728720"/>
          </a:xfrm>
          <a:prstGeom prst="line">
            <a:avLst/>
          </a:prstGeom>
          <a:ln w="0">
            <a:solidFill>
              <a:srgbClr val="d7782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" name=""/>
          <p:cNvSpPr/>
          <p:nvPr/>
        </p:nvSpPr>
        <p:spPr>
          <a:xfrm>
            <a:off x="3528720" y="942840"/>
            <a:ext cx="357480" cy="360"/>
          </a:xfrm>
          <a:prstGeom prst="line">
            <a:avLst/>
          </a:prstGeom>
          <a:ln w="1836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" name=""/>
          <p:cNvSpPr/>
          <p:nvPr/>
        </p:nvSpPr>
        <p:spPr>
          <a:xfrm>
            <a:off x="3630240" y="76824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4425840" y="658440"/>
            <a:ext cx="17913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512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000400" y="1014480"/>
            <a:ext cx="360" cy="1728720"/>
          </a:xfrm>
          <a:prstGeom prst="line">
            <a:avLst/>
          </a:prstGeom>
          <a:ln w="0">
            <a:solidFill>
              <a:srgbClr val="008c9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" name=""/>
          <p:cNvSpPr/>
          <p:nvPr/>
        </p:nvSpPr>
        <p:spPr>
          <a:xfrm>
            <a:off x="5000400" y="942840"/>
            <a:ext cx="357120" cy="360"/>
          </a:xfrm>
          <a:prstGeom prst="line">
            <a:avLst/>
          </a:prstGeom>
          <a:ln w="1836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" name=""/>
          <p:cNvSpPr/>
          <p:nvPr/>
        </p:nvSpPr>
        <p:spPr>
          <a:xfrm>
            <a:off x="5111640" y="76824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514840" y="1014480"/>
            <a:ext cx="360" cy="1728720"/>
          </a:xfrm>
          <a:prstGeom prst="line">
            <a:avLst/>
          </a:prstGeom>
          <a:ln w="0">
            <a:solidFill>
              <a:srgbClr val="d7782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7" name=""/>
          <p:cNvSpPr/>
          <p:nvPr/>
        </p:nvSpPr>
        <p:spPr>
          <a:xfrm>
            <a:off x="5871960" y="1014480"/>
            <a:ext cx="360" cy="1728720"/>
          </a:xfrm>
          <a:prstGeom prst="line">
            <a:avLst/>
          </a:prstGeom>
          <a:ln w="0">
            <a:solidFill>
              <a:srgbClr val="d7782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5514840" y="942840"/>
            <a:ext cx="357120" cy="360"/>
          </a:xfrm>
          <a:prstGeom prst="line">
            <a:avLst/>
          </a:prstGeom>
          <a:ln w="1836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5614560" y="76824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7809120" y="658440"/>
            <a:ext cx="17913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768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8386560" y="1014480"/>
            <a:ext cx="360" cy="1728720"/>
          </a:xfrm>
          <a:prstGeom prst="line">
            <a:avLst/>
          </a:prstGeom>
          <a:ln w="0">
            <a:solidFill>
              <a:srgbClr val="008c9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>
            <a:off x="8743680" y="1014480"/>
            <a:ext cx="360" cy="1728720"/>
          </a:xfrm>
          <a:prstGeom prst="line">
            <a:avLst/>
          </a:prstGeom>
          <a:ln w="0">
            <a:solidFill>
              <a:srgbClr val="008c9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" name=""/>
          <p:cNvSpPr/>
          <p:nvPr/>
        </p:nvSpPr>
        <p:spPr>
          <a:xfrm>
            <a:off x="8386560" y="942840"/>
            <a:ext cx="357120" cy="360"/>
          </a:xfrm>
          <a:prstGeom prst="line">
            <a:avLst/>
          </a:prstGeom>
          <a:ln w="1836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" name=""/>
          <p:cNvSpPr/>
          <p:nvPr/>
        </p:nvSpPr>
        <p:spPr>
          <a:xfrm>
            <a:off x="8494920" y="76824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8886600" y="1014480"/>
            <a:ext cx="360" cy="1728720"/>
          </a:xfrm>
          <a:prstGeom prst="line">
            <a:avLst/>
          </a:prstGeom>
          <a:ln w="0">
            <a:solidFill>
              <a:srgbClr val="d7782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9258120" y="1014480"/>
            <a:ext cx="360" cy="1728720"/>
          </a:xfrm>
          <a:prstGeom prst="line">
            <a:avLst/>
          </a:prstGeom>
          <a:ln w="0">
            <a:solidFill>
              <a:srgbClr val="d7782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" name=""/>
          <p:cNvSpPr/>
          <p:nvPr/>
        </p:nvSpPr>
        <p:spPr>
          <a:xfrm>
            <a:off x="8886600" y="942840"/>
            <a:ext cx="371520" cy="360"/>
          </a:xfrm>
          <a:prstGeom prst="line">
            <a:avLst/>
          </a:prstGeom>
          <a:ln w="1836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" name=""/>
          <p:cNvSpPr/>
          <p:nvPr/>
        </p:nvSpPr>
        <p:spPr>
          <a:xfrm>
            <a:off x="8997840" y="76824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6208920" y="1234440"/>
            <a:ext cx="147132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State 512 → B future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Retain / reset / shared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Actor increments off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6186240" y="2085840"/>
            <a:ext cx="1343160" cy="360"/>
          </a:xfrm>
          <a:prstGeom prst="line">
            <a:avLst/>
          </a:prstGeom>
          <a:ln w="9000">
            <a:solidFill>
              <a:srgbClr val="6065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" name=""/>
          <p:cNvSpPr/>
          <p:nvPr/>
        </p:nvSpPr>
        <p:spPr>
          <a:xfrm>
            <a:off x="429840" y="2788920"/>
            <a:ext cx="71956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Fixed window: x6–29, y2–25 (y up); 24 × 24 cells. Strips show site boundaries.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6"/>
          <a:stretch/>
        </p:blipFill>
        <p:spPr>
          <a:xfrm>
            <a:off x="7992000" y="2853000"/>
            <a:ext cx="822240" cy="54000"/>
          </a:xfrm>
          <a:prstGeom prst="rect">
            <a:avLst/>
          </a:prstGeom>
          <a:ln w="0">
            <a:noFill/>
          </a:ln>
        </p:spPr>
      </p:pic>
      <p:sp>
        <p:nvSpPr>
          <p:cNvPr id="53" name=""/>
          <p:cNvSpPr/>
          <p:nvPr/>
        </p:nvSpPr>
        <p:spPr>
          <a:xfrm>
            <a:off x="7809120" y="2980800"/>
            <a:ext cx="17913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ρ: 0–1 M/cell · linear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714240" y="3171960"/>
            <a:ext cx="4757040" cy="999360"/>
          </a:xfrm>
          <a:custGeom>
            <a:avLst/>
            <a:gdLst>
              <a:gd name="textAreaLeft" fmla="*/ 0 w 4757040"/>
              <a:gd name="textAreaRight" fmla="*/ 4757760 w 4757040"/>
              <a:gd name="textAreaTop" fmla="*/ 0 h 999360"/>
              <a:gd name="textAreaBottom" fmla="*/ 1000080 h 999360"/>
            </a:gdLst>
            <a:ahLst/>
            <a:rect l="textAreaLeft" t="textAreaTop" r="textAreaRight" b="textAreaBottom"/>
            <a:pathLst>
              <a:path fill="none" w="13216" h="2778">
                <a:moveTo>
                  <a:pt x="0" y="0"/>
                </a:moveTo>
                <a:lnTo>
                  <a:pt x="0" y="2778"/>
                </a:lnTo>
                <a:lnTo>
                  <a:pt x="13216" y="2778"/>
                </a:lnTo>
              </a:path>
            </a:pathLst>
          </a:custGeom>
          <a:noFill/>
          <a:ln w="0">
            <a:solidFill>
              <a:srgbClr val="7077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" name=""/>
          <p:cNvSpPr/>
          <p:nvPr/>
        </p:nvSpPr>
        <p:spPr>
          <a:xfrm>
            <a:off x="301680" y="4105800"/>
            <a:ext cx="3560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01680" y="3602880"/>
            <a:ext cx="3560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301680" y="3099960"/>
            <a:ext cx="3560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40080" y="419724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2231280" y="419724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256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3813120" y="419724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512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394960" y="419724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768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3886200" y="3171960"/>
            <a:ext cx="360" cy="1000080"/>
          </a:xfrm>
          <a:prstGeom prst="line">
            <a:avLst/>
          </a:prstGeom>
          <a:ln w="0">
            <a:solidFill>
              <a:srgbClr val="a6abb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" name=""/>
          <p:cNvSpPr/>
          <p:nvPr/>
        </p:nvSpPr>
        <p:spPr>
          <a:xfrm>
            <a:off x="714240" y="3243240"/>
            <a:ext cx="4757040" cy="928080"/>
          </a:xfrm>
          <a:custGeom>
            <a:avLst/>
            <a:gdLst>
              <a:gd name="textAreaLeft" fmla="*/ 0 w 4757040"/>
              <a:gd name="textAreaRight" fmla="*/ 4757760 w 4757040"/>
              <a:gd name="textAreaTop" fmla="*/ 0 h 928080"/>
              <a:gd name="textAreaBottom" fmla="*/ 928800 h 928080"/>
            </a:gdLst>
            <a:ahLst/>
            <a:rect l="textAreaLeft" t="textAreaTop" r="textAreaRight" b="textAreaBottom"/>
            <a:pathLst>
              <a:path fill="none" w="13216" h="2580">
                <a:moveTo>
                  <a:pt x="0" y="2342"/>
                </a:moveTo>
                <a:lnTo>
                  <a:pt x="278" y="2342"/>
                </a:lnTo>
                <a:lnTo>
                  <a:pt x="833" y="2223"/>
                </a:lnTo>
                <a:lnTo>
                  <a:pt x="992" y="2223"/>
                </a:lnTo>
                <a:lnTo>
                  <a:pt x="1389" y="2024"/>
                </a:lnTo>
                <a:lnTo>
                  <a:pt x="1548" y="1984"/>
                </a:lnTo>
                <a:lnTo>
                  <a:pt x="1667" y="1905"/>
                </a:lnTo>
                <a:lnTo>
                  <a:pt x="2064" y="1746"/>
                </a:lnTo>
                <a:lnTo>
                  <a:pt x="2342" y="1429"/>
                </a:lnTo>
                <a:lnTo>
                  <a:pt x="2500" y="1349"/>
                </a:lnTo>
                <a:lnTo>
                  <a:pt x="2619" y="1151"/>
                </a:lnTo>
                <a:lnTo>
                  <a:pt x="3016" y="833"/>
                </a:lnTo>
                <a:lnTo>
                  <a:pt x="3175" y="675"/>
                </a:lnTo>
                <a:lnTo>
                  <a:pt x="3453" y="595"/>
                </a:lnTo>
                <a:lnTo>
                  <a:pt x="3572" y="516"/>
                </a:lnTo>
                <a:lnTo>
                  <a:pt x="3731" y="437"/>
                </a:lnTo>
                <a:lnTo>
                  <a:pt x="3850" y="318"/>
                </a:lnTo>
                <a:lnTo>
                  <a:pt x="4286" y="79"/>
                </a:lnTo>
                <a:lnTo>
                  <a:pt x="4604" y="0"/>
                </a:lnTo>
                <a:lnTo>
                  <a:pt x="5001" y="79"/>
                </a:lnTo>
                <a:lnTo>
                  <a:pt x="5398" y="318"/>
                </a:lnTo>
                <a:lnTo>
                  <a:pt x="5517" y="397"/>
                </a:lnTo>
                <a:lnTo>
                  <a:pt x="6350" y="1151"/>
                </a:lnTo>
                <a:lnTo>
                  <a:pt x="6747" y="1429"/>
                </a:lnTo>
                <a:lnTo>
                  <a:pt x="7580" y="1905"/>
                </a:lnTo>
                <a:lnTo>
                  <a:pt x="8017" y="2103"/>
                </a:lnTo>
                <a:lnTo>
                  <a:pt x="8414" y="2262"/>
                </a:lnTo>
                <a:lnTo>
                  <a:pt x="8969" y="2381"/>
                </a:lnTo>
                <a:lnTo>
                  <a:pt x="10041" y="2540"/>
                </a:lnTo>
                <a:lnTo>
                  <a:pt x="11113" y="2580"/>
                </a:lnTo>
                <a:lnTo>
                  <a:pt x="13216" y="2580"/>
                </a:lnTo>
              </a:path>
            </a:pathLst>
          </a:custGeom>
          <a:noFill/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"/>
          <p:cNvSpPr/>
          <p:nvPr/>
        </p:nvSpPr>
        <p:spPr>
          <a:xfrm>
            <a:off x="714240" y="3243240"/>
            <a:ext cx="4757040" cy="928080"/>
          </a:xfrm>
          <a:custGeom>
            <a:avLst/>
            <a:gdLst>
              <a:gd name="textAreaLeft" fmla="*/ 0 w 4757040"/>
              <a:gd name="textAreaRight" fmla="*/ 4757760 w 4757040"/>
              <a:gd name="textAreaTop" fmla="*/ 0 h 928080"/>
              <a:gd name="textAreaBottom" fmla="*/ 928800 h 928080"/>
            </a:gdLst>
            <a:ahLst/>
            <a:rect l="textAreaLeft" t="textAreaTop" r="textAreaRight" b="textAreaBottom"/>
            <a:pathLst>
              <a:path fill="none" w="13216" h="2580">
                <a:moveTo>
                  <a:pt x="0" y="2342"/>
                </a:moveTo>
                <a:lnTo>
                  <a:pt x="278" y="2342"/>
                </a:lnTo>
                <a:lnTo>
                  <a:pt x="833" y="2223"/>
                </a:lnTo>
                <a:lnTo>
                  <a:pt x="992" y="2223"/>
                </a:lnTo>
                <a:lnTo>
                  <a:pt x="1389" y="2024"/>
                </a:lnTo>
                <a:lnTo>
                  <a:pt x="1548" y="1984"/>
                </a:lnTo>
                <a:lnTo>
                  <a:pt x="1667" y="1905"/>
                </a:lnTo>
                <a:lnTo>
                  <a:pt x="2064" y="1746"/>
                </a:lnTo>
                <a:lnTo>
                  <a:pt x="2342" y="1429"/>
                </a:lnTo>
                <a:lnTo>
                  <a:pt x="2500" y="1349"/>
                </a:lnTo>
                <a:lnTo>
                  <a:pt x="2619" y="1151"/>
                </a:lnTo>
                <a:lnTo>
                  <a:pt x="3016" y="833"/>
                </a:lnTo>
                <a:lnTo>
                  <a:pt x="3175" y="675"/>
                </a:lnTo>
                <a:lnTo>
                  <a:pt x="3453" y="595"/>
                </a:lnTo>
                <a:lnTo>
                  <a:pt x="3572" y="516"/>
                </a:lnTo>
                <a:lnTo>
                  <a:pt x="3731" y="437"/>
                </a:lnTo>
                <a:lnTo>
                  <a:pt x="3850" y="318"/>
                </a:lnTo>
                <a:lnTo>
                  <a:pt x="4286" y="79"/>
                </a:lnTo>
                <a:lnTo>
                  <a:pt x="4604" y="0"/>
                </a:lnTo>
                <a:lnTo>
                  <a:pt x="5001" y="79"/>
                </a:lnTo>
                <a:lnTo>
                  <a:pt x="5398" y="318"/>
                </a:lnTo>
                <a:lnTo>
                  <a:pt x="5517" y="397"/>
                </a:lnTo>
                <a:lnTo>
                  <a:pt x="6350" y="1151"/>
                </a:lnTo>
                <a:lnTo>
                  <a:pt x="6747" y="1429"/>
                </a:lnTo>
                <a:lnTo>
                  <a:pt x="7580" y="1905"/>
                </a:lnTo>
                <a:lnTo>
                  <a:pt x="8017" y="2103"/>
                </a:lnTo>
                <a:lnTo>
                  <a:pt x="8414" y="2262"/>
                </a:lnTo>
                <a:lnTo>
                  <a:pt x="9247" y="2421"/>
                </a:lnTo>
                <a:lnTo>
                  <a:pt x="10319" y="2540"/>
                </a:lnTo>
                <a:lnTo>
                  <a:pt x="13216" y="2580"/>
                </a:lnTo>
              </a:path>
            </a:pathLst>
          </a:custGeom>
          <a:noFill/>
          <a:ln w="900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" name=""/>
          <p:cNvSpPr/>
          <p:nvPr/>
        </p:nvSpPr>
        <p:spPr>
          <a:xfrm>
            <a:off x="713160" y="2962800"/>
            <a:ext cx="35928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Tissue in B (M) · full strip, not a visit count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959280" y="2962800"/>
            <a:ext cx="1434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B becomes available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117480" y="3127320"/>
            <a:ext cx="35928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B contact is already present during acquisition.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Its decline precedes availability.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Test access: 16 of every 64 actions;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stock outside the available site is inaccessible.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285480" y="4443480"/>
            <a:ext cx="9501480" cy="360"/>
          </a:xfrm>
          <a:prstGeom prst="line">
            <a:avLst/>
          </a:prstGeom>
          <a:ln w="0">
            <a:solidFill>
              <a:srgbClr val="a6abb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283320" y="4553640"/>
            <a:ext cx="9371880" cy="8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  At B, weak uptake accompanies a large tissue difference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283320" y="4809600"/>
            <a:ext cx="64731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Same compact h2 receiver · B available only in four 16-action windows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7315200" y="4914720"/>
            <a:ext cx="285480" cy="360"/>
          </a:xfrm>
          <a:prstGeom prst="line">
            <a:avLst/>
          </a:prstGeom>
          <a:ln w="1836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"/>
          <p:cNvSpPr/>
          <p:nvPr/>
        </p:nvSpPr>
        <p:spPr>
          <a:xfrm>
            <a:off x="7626240" y="4800600"/>
            <a:ext cx="858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Retain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8672400" y="4914720"/>
            <a:ext cx="285840" cy="360"/>
          </a:xfrm>
          <a:prstGeom prst="line">
            <a:avLst/>
          </a:prstGeom>
          <a:ln w="1836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"/>
          <p:cNvSpPr/>
          <p:nvPr/>
        </p:nvSpPr>
        <p:spPr>
          <a:xfrm>
            <a:off x="8997840" y="4800600"/>
            <a:ext cx="822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Reset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03360" y="5047560"/>
            <a:ext cx="21571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 (tissue)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614160" y="5286240"/>
            <a:ext cx="1828080" cy="1271160"/>
          </a:xfrm>
          <a:custGeom>
            <a:avLst/>
            <a:gdLst>
              <a:gd name="textAreaLeft" fmla="*/ 0 w 1828080"/>
              <a:gd name="textAreaRight" fmla="*/ 1828800 w 1828080"/>
              <a:gd name="textAreaTop" fmla="*/ 0 h 1271160"/>
              <a:gd name="textAreaBottom" fmla="*/ 1271880 h 1271160"/>
            </a:gdLst>
            <a:ahLst/>
            <a:rect l="textAreaLeft" t="textAreaTop" r="textAreaRight" b="textAreaBottom"/>
            <a:pathLst>
              <a:path fill="none" w="5080" h="3533">
                <a:moveTo>
                  <a:pt x="0" y="0"/>
                </a:moveTo>
                <a:lnTo>
                  <a:pt x="0" y="3533"/>
                </a:lnTo>
                <a:lnTo>
                  <a:pt x="5080" y="3533"/>
                </a:lnTo>
              </a:path>
            </a:pathLst>
          </a:custGeom>
          <a:noFill/>
          <a:ln w="0">
            <a:solidFill>
              <a:srgbClr val="7077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7" name=""/>
          <p:cNvSpPr/>
          <p:nvPr/>
        </p:nvSpPr>
        <p:spPr>
          <a:xfrm>
            <a:off x="338400" y="6483240"/>
            <a:ext cx="300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38400" y="5852160"/>
            <a:ext cx="300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338400" y="5221080"/>
            <a:ext cx="300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530280" y="658368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512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444680" y="658368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640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2368440" y="658368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768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614160" y="5315040"/>
            <a:ext cx="1828080" cy="1042200"/>
          </a:xfrm>
          <a:custGeom>
            <a:avLst/>
            <a:gdLst>
              <a:gd name="textAreaLeft" fmla="*/ 0 w 1828080"/>
              <a:gd name="textAreaRight" fmla="*/ 1828800 w 1828080"/>
              <a:gd name="textAreaTop" fmla="*/ 0 h 1042200"/>
              <a:gd name="textAreaBottom" fmla="*/ 1042920 h 1042200"/>
            </a:gdLst>
            <a:ahLst/>
            <a:rect l="textAreaLeft" t="textAreaTop" r="textAreaRight" b="textAreaBottom"/>
            <a:pathLst>
              <a:path fill="none" w="5080" h="2897">
                <a:moveTo>
                  <a:pt x="0" y="0"/>
                </a:moveTo>
                <a:lnTo>
                  <a:pt x="873" y="397"/>
                </a:lnTo>
                <a:lnTo>
                  <a:pt x="1945" y="913"/>
                </a:lnTo>
                <a:lnTo>
                  <a:pt x="3056" y="1389"/>
                </a:lnTo>
                <a:lnTo>
                  <a:pt x="3413" y="1627"/>
                </a:lnTo>
                <a:lnTo>
                  <a:pt x="3929" y="2183"/>
                </a:lnTo>
                <a:lnTo>
                  <a:pt x="4247" y="2421"/>
                </a:lnTo>
                <a:lnTo>
                  <a:pt x="4644" y="2698"/>
                </a:lnTo>
                <a:lnTo>
                  <a:pt x="5080" y="2897"/>
                </a:lnTo>
              </a:path>
            </a:pathLst>
          </a:custGeom>
          <a:noFill/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4" name=""/>
          <p:cNvSpPr/>
          <p:nvPr/>
        </p:nvSpPr>
        <p:spPr>
          <a:xfrm>
            <a:off x="614160" y="5315040"/>
            <a:ext cx="1828080" cy="642240"/>
          </a:xfrm>
          <a:custGeom>
            <a:avLst/>
            <a:gdLst>
              <a:gd name="textAreaLeft" fmla="*/ 0 w 1828080"/>
              <a:gd name="textAreaRight" fmla="*/ 1828800 w 1828080"/>
              <a:gd name="textAreaTop" fmla="*/ 0 h 642240"/>
              <a:gd name="textAreaBottom" fmla="*/ 642960 h 642240"/>
            </a:gdLst>
            <a:ahLst/>
            <a:rect l="textAreaLeft" t="textAreaTop" r="textAreaRight" b="textAreaBottom"/>
            <a:pathLst>
              <a:path fill="none" w="5080" h="1786">
                <a:moveTo>
                  <a:pt x="0" y="0"/>
                </a:moveTo>
                <a:lnTo>
                  <a:pt x="635" y="278"/>
                </a:lnTo>
                <a:lnTo>
                  <a:pt x="2064" y="754"/>
                </a:lnTo>
                <a:lnTo>
                  <a:pt x="3294" y="1270"/>
                </a:lnTo>
                <a:lnTo>
                  <a:pt x="3810" y="1428"/>
                </a:lnTo>
                <a:lnTo>
                  <a:pt x="5080" y="1786"/>
                </a:lnTo>
              </a:path>
            </a:pathLst>
          </a:custGeom>
          <a:noFill/>
          <a:ln w="900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"/>
          <p:cNvSpPr/>
          <p:nvPr/>
        </p:nvSpPr>
        <p:spPr>
          <a:xfrm>
            <a:off x="2907720" y="5047560"/>
            <a:ext cx="21571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 (EU)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2914560" y="5286240"/>
            <a:ext cx="1842480" cy="1271160"/>
          </a:xfrm>
          <a:custGeom>
            <a:avLst/>
            <a:gdLst>
              <a:gd name="textAreaLeft" fmla="*/ 0 w 1842480"/>
              <a:gd name="textAreaRight" fmla="*/ 1843200 w 1842480"/>
              <a:gd name="textAreaTop" fmla="*/ 0 h 1271160"/>
              <a:gd name="textAreaBottom" fmla="*/ 1271880 h 1271160"/>
            </a:gdLst>
            <a:ahLst/>
            <a:rect l="textAreaLeft" t="textAreaTop" r="textAreaRight" b="textAreaBottom"/>
            <a:pathLst>
              <a:path fill="none" w="5120" h="3533">
                <a:moveTo>
                  <a:pt x="0" y="0"/>
                </a:moveTo>
                <a:lnTo>
                  <a:pt x="0" y="3533"/>
                </a:lnTo>
                <a:lnTo>
                  <a:pt x="5120" y="3533"/>
                </a:lnTo>
              </a:path>
            </a:pathLst>
          </a:custGeom>
          <a:noFill/>
          <a:ln w="0">
            <a:solidFill>
              <a:srgbClr val="7077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"/>
          <p:cNvSpPr/>
          <p:nvPr/>
        </p:nvSpPr>
        <p:spPr>
          <a:xfrm>
            <a:off x="2642760" y="6483240"/>
            <a:ext cx="300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2642760" y="5852160"/>
            <a:ext cx="300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2642760" y="5221080"/>
            <a:ext cx="300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2834640" y="658368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512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3749040" y="658368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640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672440" y="658368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768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2914560" y="5543640"/>
            <a:ext cx="1842480" cy="1013760"/>
          </a:xfrm>
          <a:custGeom>
            <a:avLst/>
            <a:gdLst>
              <a:gd name="textAreaLeft" fmla="*/ 0 w 1842480"/>
              <a:gd name="textAreaRight" fmla="*/ 1843200 w 1842480"/>
              <a:gd name="textAreaTop" fmla="*/ 0 h 1013760"/>
              <a:gd name="textAreaBottom" fmla="*/ 1014480 h 1013760"/>
            </a:gdLst>
            <a:ahLst/>
            <a:rect l="textAreaLeft" t="textAreaTop" r="textAreaRight" b="textAreaBottom"/>
            <a:pathLst>
              <a:path fill="none" w="5120" h="2818">
                <a:moveTo>
                  <a:pt x="0" y="0"/>
                </a:moveTo>
                <a:lnTo>
                  <a:pt x="317" y="198"/>
                </a:lnTo>
                <a:lnTo>
                  <a:pt x="833" y="754"/>
                </a:lnTo>
                <a:lnTo>
                  <a:pt x="1310" y="1190"/>
                </a:lnTo>
                <a:lnTo>
                  <a:pt x="2341" y="2024"/>
                </a:lnTo>
                <a:lnTo>
                  <a:pt x="3096" y="2540"/>
                </a:lnTo>
                <a:lnTo>
                  <a:pt x="3532" y="2738"/>
                </a:lnTo>
                <a:lnTo>
                  <a:pt x="3691" y="2778"/>
                </a:lnTo>
                <a:lnTo>
                  <a:pt x="5120" y="2818"/>
                </a:lnTo>
              </a:path>
            </a:pathLst>
          </a:custGeom>
          <a:noFill/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" name=""/>
          <p:cNvSpPr/>
          <p:nvPr/>
        </p:nvSpPr>
        <p:spPr>
          <a:xfrm>
            <a:off x="2914560" y="5543640"/>
            <a:ext cx="1842480" cy="899280"/>
          </a:xfrm>
          <a:custGeom>
            <a:avLst/>
            <a:gdLst>
              <a:gd name="textAreaLeft" fmla="*/ 0 w 1842480"/>
              <a:gd name="textAreaRight" fmla="*/ 1843200 w 1842480"/>
              <a:gd name="textAreaTop" fmla="*/ 0 h 899280"/>
              <a:gd name="textAreaBottom" fmla="*/ 900000 h 899280"/>
            </a:gdLst>
            <a:ahLst/>
            <a:rect l="textAreaLeft" t="textAreaTop" r="textAreaRight" b="textAreaBottom"/>
            <a:pathLst>
              <a:path fill="none" w="5120" h="2500">
                <a:moveTo>
                  <a:pt x="0" y="0"/>
                </a:moveTo>
                <a:lnTo>
                  <a:pt x="317" y="39"/>
                </a:lnTo>
                <a:lnTo>
                  <a:pt x="1151" y="674"/>
                </a:lnTo>
                <a:lnTo>
                  <a:pt x="1587" y="913"/>
                </a:lnTo>
                <a:lnTo>
                  <a:pt x="1786" y="1071"/>
                </a:lnTo>
                <a:lnTo>
                  <a:pt x="2659" y="1548"/>
                </a:lnTo>
                <a:lnTo>
                  <a:pt x="3651" y="1984"/>
                </a:lnTo>
                <a:lnTo>
                  <a:pt x="4167" y="2143"/>
                </a:lnTo>
                <a:lnTo>
                  <a:pt x="4485" y="2302"/>
                </a:lnTo>
                <a:lnTo>
                  <a:pt x="5120" y="2500"/>
                </a:lnTo>
              </a:path>
            </a:pathLst>
          </a:custGeom>
          <a:noFill/>
          <a:ln w="900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" name=""/>
          <p:cNvSpPr/>
          <p:nvPr/>
        </p:nvSpPr>
        <p:spPr>
          <a:xfrm>
            <a:off x="5212080" y="5047560"/>
            <a:ext cx="21571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Uptake U (EU)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5214960" y="5286240"/>
            <a:ext cx="1842120" cy="1271160"/>
          </a:xfrm>
          <a:custGeom>
            <a:avLst/>
            <a:gdLst>
              <a:gd name="textAreaLeft" fmla="*/ 0 w 1842120"/>
              <a:gd name="textAreaRight" fmla="*/ 1842840 w 1842120"/>
              <a:gd name="textAreaTop" fmla="*/ 0 h 1271160"/>
              <a:gd name="textAreaBottom" fmla="*/ 1271880 h 1271160"/>
            </a:gdLst>
            <a:ahLst/>
            <a:rect l="textAreaLeft" t="textAreaTop" r="textAreaRight" b="textAreaBottom"/>
            <a:pathLst>
              <a:path fill="none" w="5119" h="3533">
                <a:moveTo>
                  <a:pt x="0" y="0"/>
                </a:moveTo>
                <a:lnTo>
                  <a:pt x="0" y="3533"/>
                </a:lnTo>
                <a:lnTo>
                  <a:pt x="5119" y="3533"/>
                </a:lnTo>
              </a:path>
            </a:pathLst>
          </a:custGeom>
          <a:noFill/>
          <a:ln w="0">
            <a:solidFill>
              <a:srgbClr val="7077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" name=""/>
          <p:cNvSpPr/>
          <p:nvPr/>
        </p:nvSpPr>
        <p:spPr>
          <a:xfrm>
            <a:off x="4946760" y="6483240"/>
            <a:ext cx="300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4727520" y="5852160"/>
            <a:ext cx="584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0.2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4727520" y="5221080"/>
            <a:ext cx="584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0.4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5139000" y="658368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512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053400" y="658368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640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967800" y="658368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768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5214960" y="5500800"/>
            <a:ext cx="1842120" cy="1056600"/>
          </a:xfrm>
          <a:custGeom>
            <a:avLst/>
            <a:gdLst>
              <a:gd name="textAreaLeft" fmla="*/ 0 w 1842120"/>
              <a:gd name="textAreaRight" fmla="*/ 1842840 w 1842120"/>
              <a:gd name="textAreaTop" fmla="*/ 0 h 1056600"/>
              <a:gd name="textAreaBottom" fmla="*/ 1057320 h 1056600"/>
            </a:gdLst>
            <a:ahLst/>
            <a:rect l="textAreaLeft" t="textAreaTop" r="textAreaRight" b="textAreaBottom"/>
            <a:pathLst>
              <a:path fill="none" w="5119" h="2937">
                <a:moveTo>
                  <a:pt x="0" y="2937"/>
                </a:moveTo>
                <a:lnTo>
                  <a:pt x="317" y="833"/>
                </a:lnTo>
                <a:lnTo>
                  <a:pt x="1309" y="833"/>
                </a:lnTo>
                <a:lnTo>
                  <a:pt x="1627" y="198"/>
                </a:lnTo>
                <a:lnTo>
                  <a:pt x="2579" y="198"/>
                </a:lnTo>
                <a:lnTo>
                  <a:pt x="2897" y="39"/>
                </a:lnTo>
                <a:lnTo>
                  <a:pt x="3849" y="39"/>
                </a:lnTo>
                <a:lnTo>
                  <a:pt x="4167" y="0"/>
                </a:lnTo>
                <a:lnTo>
                  <a:pt x="5119" y="0"/>
                </a:lnTo>
              </a:path>
            </a:pathLst>
          </a:custGeom>
          <a:noFill/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4" name=""/>
          <p:cNvSpPr/>
          <p:nvPr/>
        </p:nvSpPr>
        <p:spPr>
          <a:xfrm>
            <a:off x="5214960" y="5457960"/>
            <a:ext cx="1842120" cy="1099440"/>
          </a:xfrm>
          <a:custGeom>
            <a:avLst/>
            <a:gdLst>
              <a:gd name="textAreaLeft" fmla="*/ 0 w 1842120"/>
              <a:gd name="textAreaRight" fmla="*/ 1842840 w 1842120"/>
              <a:gd name="textAreaTop" fmla="*/ 0 h 1099440"/>
              <a:gd name="textAreaBottom" fmla="*/ 1100160 h 1099440"/>
            </a:gdLst>
            <a:ahLst/>
            <a:rect l="textAreaLeft" t="textAreaTop" r="textAreaRight" b="textAreaBottom"/>
            <a:pathLst>
              <a:path fill="none" w="5119" h="3056">
                <a:moveTo>
                  <a:pt x="0" y="3056"/>
                </a:moveTo>
                <a:lnTo>
                  <a:pt x="317" y="912"/>
                </a:lnTo>
                <a:lnTo>
                  <a:pt x="1309" y="912"/>
                </a:lnTo>
                <a:lnTo>
                  <a:pt x="1627" y="238"/>
                </a:lnTo>
                <a:lnTo>
                  <a:pt x="2579" y="238"/>
                </a:lnTo>
                <a:lnTo>
                  <a:pt x="2897" y="39"/>
                </a:lnTo>
                <a:lnTo>
                  <a:pt x="3849" y="39"/>
                </a:lnTo>
                <a:lnTo>
                  <a:pt x="4167" y="0"/>
                </a:lnTo>
                <a:lnTo>
                  <a:pt x="5119" y="0"/>
                </a:lnTo>
              </a:path>
            </a:pathLst>
          </a:custGeom>
          <a:noFill/>
          <a:ln w="900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5" name=""/>
          <p:cNvSpPr/>
          <p:nvPr/>
        </p:nvSpPr>
        <p:spPr>
          <a:xfrm>
            <a:off x="7516440" y="5047560"/>
            <a:ext cx="21571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Motor payment (EU)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7529400" y="5286240"/>
            <a:ext cx="1828080" cy="1271160"/>
          </a:xfrm>
          <a:custGeom>
            <a:avLst/>
            <a:gdLst>
              <a:gd name="textAreaLeft" fmla="*/ 0 w 1828080"/>
              <a:gd name="textAreaRight" fmla="*/ 1828800 w 1828080"/>
              <a:gd name="textAreaTop" fmla="*/ 0 h 1271160"/>
              <a:gd name="textAreaBottom" fmla="*/ 1271880 h 1271160"/>
            </a:gdLst>
            <a:ahLst/>
            <a:rect l="textAreaLeft" t="textAreaTop" r="textAreaRight" b="textAreaBottom"/>
            <a:pathLst>
              <a:path fill="none" w="5080" h="3533">
                <a:moveTo>
                  <a:pt x="0" y="0"/>
                </a:moveTo>
                <a:lnTo>
                  <a:pt x="0" y="3533"/>
                </a:lnTo>
                <a:lnTo>
                  <a:pt x="5080" y="3533"/>
                </a:lnTo>
              </a:path>
            </a:pathLst>
          </a:custGeom>
          <a:noFill/>
          <a:ln w="0">
            <a:solidFill>
              <a:srgbClr val="7077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" name=""/>
          <p:cNvSpPr/>
          <p:nvPr/>
        </p:nvSpPr>
        <p:spPr>
          <a:xfrm>
            <a:off x="7251120" y="6483240"/>
            <a:ext cx="300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995160" y="5852160"/>
            <a:ext cx="584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1.25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995160" y="5221080"/>
            <a:ext cx="584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2.5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7443360" y="658368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512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8357760" y="658368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640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9272160" y="6583680"/>
            <a:ext cx="5389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768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529400" y="5357880"/>
            <a:ext cx="1828080" cy="1199520"/>
          </a:xfrm>
          <a:custGeom>
            <a:avLst/>
            <a:gdLst>
              <a:gd name="textAreaLeft" fmla="*/ 0 w 1828080"/>
              <a:gd name="textAreaRight" fmla="*/ 1828800 w 1828080"/>
              <a:gd name="textAreaTop" fmla="*/ 0 h 1199520"/>
              <a:gd name="textAreaBottom" fmla="*/ 1200240 h 1199520"/>
            </a:gdLst>
            <a:ahLst/>
            <a:rect l="textAreaLeft" t="textAreaTop" r="textAreaRight" b="textAreaBottom"/>
            <a:pathLst>
              <a:path fill="none" w="5080" h="3334">
                <a:moveTo>
                  <a:pt x="0" y="3334"/>
                </a:moveTo>
                <a:lnTo>
                  <a:pt x="159" y="3056"/>
                </a:lnTo>
                <a:lnTo>
                  <a:pt x="754" y="2341"/>
                </a:lnTo>
                <a:lnTo>
                  <a:pt x="1310" y="1706"/>
                </a:lnTo>
                <a:lnTo>
                  <a:pt x="1905" y="1151"/>
                </a:lnTo>
                <a:lnTo>
                  <a:pt x="2857" y="397"/>
                </a:lnTo>
                <a:lnTo>
                  <a:pt x="3254" y="198"/>
                </a:lnTo>
                <a:lnTo>
                  <a:pt x="3651" y="39"/>
                </a:lnTo>
                <a:lnTo>
                  <a:pt x="5080" y="0"/>
                </a:lnTo>
              </a:path>
            </a:pathLst>
          </a:custGeom>
          <a:noFill/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" name=""/>
          <p:cNvSpPr/>
          <p:nvPr/>
        </p:nvSpPr>
        <p:spPr>
          <a:xfrm>
            <a:off x="7529400" y="5772240"/>
            <a:ext cx="1828080" cy="785160"/>
          </a:xfrm>
          <a:custGeom>
            <a:avLst/>
            <a:gdLst>
              <a:gd name="textAreaLeft" fmla="*/ 0 w 1828080"/>
              <a:gd name="textAreaRight" fmla="*/ 1828800 w 1828080"/>
              <a:gd name="textAreaTop" fmla="*/ 0 h 785160"/>
              <a:gd name="textAreaBottom" fmla="*/ 785880 h 785160"/>
            </a:gdLst>
            <a:ahLst/>
            <a:rect l="textAreaLeft" t="textAreaTop" r="textAreaRight" b="textAreaBottom"/>
            <a:pathLst>
              <a:path fill="none" w="5080" h="2183">
                <a:moveTo>
                  <a:pt x="0" y="2183"/>
                </a:moveTo>
                <a:lnTo>
                  <a:pt x="397" y="1865"/>
                </a:lnTo>
                <a:lnTo>
                  <a:pt x="635" y="1746"/>
                </a:lnTo>
                <a:lnTo>
                  <a:pt x="794" y="1627"/>
                </a:lnTo>
                <a:lnTo>
                  <a:pt x="1270" y="1349"/>
                </a:lnTo>
                <a:lnTo>
                  <a:pt x="1587" y="1190"/>
                </a:lnTo>
                <a:lnTo>
                  <a:pt x="1746" y="1032"/>
                </a:lnTo>
                <a:lnTo>
                  <a:pt x="2222" y="873"/>
                </a:lnTo>
                <a:lnTo>
                  <a:pt x="2659" y="635"/>
                </a:lnTo>
                <a:lnTo>
                  <a:pt x="3016" y="516"/>
                </a:lnTo>
                <a:lnTo>
                  <a:pt x="3492" y="436"/>
                </a:lnTo>
                <a:lnTo>
                  <a:pt x="3651" y="357"/>
                </a:lnTo>
                <a:lnTo>
                  <a:pt x="4127" y="238"/>
                </a:lnTo>
                <a:lnTo>
                  <a:pt x="4445" y="79"/>
                </a:lnTo>
                <a:lnTo>
                  <a:pt x="5080" y="0"/>
                </a:lnTo>
              </a:path>
            </a:pathLst>
          </a:custGeom>
          <a:noFill/>
          <a:ln w="900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" name=""/>
          <p:cNvSpPr/>
          <p:nvPr/>
        </p:nvSpPr>
        <p:spPr>
          <a:xfrm>
            <a:off x="283320" y="6839640"/>
            <a:ext cx="9353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Both start with E = 3.221 EU; retain/reset end at 0.3445 / 0.0029 EU.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More tissue can persist with weak intake; U and motor accumulate from action 513.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85480" y="7257960"/>
            <a:ext cx="9501480" cy="360"/>
          </a:xfrm>
          <a:prstGeom prst="line">
            <a:avLst/>
          </a:prstGeom>
          <a:ln w="0">
            <a:solidFill>
              <a:srgbClr val="a6abb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7" name=""/>
          <p:cNvSpPr/>
          <p:nvPr/>
        </p:nvSpPr>
        <p:spPr>
          <a:xfrm>
            <a:off x="283320" y="7324200"/>
            <a:ext cx="937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  All eight pairs: more energy, less motor payment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283320" y="7571160"/>
            <a:ext cx="937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Four acquired histories × two sites · endpoint 768 · retain minus reset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1755720" y="7772400"/>
            <a:ext cx="1937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ΔE (EU)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2714400" y="8015400"/>
            <a:ext cx="360" cy="1957320"/>
          </a:xfrm>
          <a:prstGeom prst="line">
            <a:avLst/>
          </a:prstGeom>
          <a:ln w="0">
            <a:solidFill>
              <a:srgbClr val="bfc5c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1" name=""/>
          <p:cNvSpPr/>
          <p:nvPr/>
        </p:nvSpPr>
        <p:spPr>
          <a:xfrm>
            <a:off x="1757160" y="10086840"/>
            <a:ext cx="1700280" cy="360"/>
          </a:xfrm>
          <a:prstGeom prst="line">
            <a:avLst/>
          </a:prstGeom>
          <a:ln w="0">
            <a:solidFill>
              <a:srgbClr val="7077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2" name=""/>
          <p:cNvSpPr/>
          <p:nvPr/>
        </p:nvSpPr>
        <p:spPr>
          <a:xfrm>
            <a:off x="1719000" y="1012248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-1.5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2514600" y="1012248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3044880" y="1012248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2714400" y="8086680"/>
            <a:ext cx="599400" cy="1742400"/>
          </a:xfrm>
          <a:custGeom>
            <a:avLst/>
            <a:gdLst>
              <a:gd name="textAreaLeft" fmla="*/ 0 w 599400"/>
              <a:gd name="textAreaRight" fmla="*/ 600120 w 599400"/>
              <a:gd name="textAreaTop" fmla="*/ 0 h 1742400"/>
              <a:gd name="textAreaBottom" fmla="*/ 1743120 h 1742400"/>
            </a:gdLst>
            <a:ahLst/>
            <a:rect l="textAreaLeft" t="textAreaTop" r="textAreaRight" b="textAreaBottom"/>
            <a:pathLst>
              <a:path fill="none" w="1667" h="4842">
                <a:moveTo>
                  <a:pt x="0" y="79"/>
                </a:moveTo>
                <a:lnTo>
                  <a:pt x="397" y="79"/>
                </a:lnTo>
                <a:lnTo>
                  <a:pt x="397" y="0"/>
                </a:lnTo>
                <a:lnTo>
                  <a:pt x="0" y="79"/>
                </a:lnTo>
                <a:lnTo>
                  <a:pt x="0" y="754"/>
                </a:lnTo>
                <a:lnTo>
                  <a:pt x="40" y="754"/>
                </a:lnTo>
                <a:lnTo>
                  <a:pt x="0" y="1469"/>
                </a:lnTo>
                <a:lnTo>
                  <a:pt x="1667" y="1469"/>
                </a:lnTo>
                <a:lnTo>
                  <a:pt x="1667" y="1389"/>
                </a:lnTo>
                <a:lnTo>
                  <a:pt x="0" y="1469"/>
                </a:lnTo>
                <a:lnTo>
                  <a:pt x="0" y="2143"/>
                </a:lnTo>
                <a:lnTo>
                  <a:pt x="516" y="2143"/>
                </a:lnTo>
                <a:lnTo>
                  <a:pt x="516" y="2064"/>
                </a:lnTo>
                <a:lnTo>
                  <a:pt x="0" y="2143"/>
                </a:lnTo>
                <a:lnTo>
                  <a:pt x="0" y="2818"/>
                </a:lnTo>
                <a:lnTo>
                  <a:pt x="1310" y="2818"/>
                </a:lnTo>
                <a:lnTo>
                  <a:pt x="1310" y="2739"/>
                </a:lnTo>
                <a:lnTo>
                  <a:pt x="0" y="2818"/>
                </a:lnTo>
                <a:lnTo>
                  <a:pt x="0" y="3493"/>
                </a:lnTo>
                <a:lnTo>
                  <a:pt x="119" y="3493"/>
                </a:lnTo>
                <a:lnTo>
                  <a:pt x="119" y="3413"/>
                </a:lnTo>
                <a:lnTo>
                  <a:pt x="0" y="3493"/>
                </a:lnTo>
                <a:lnTo>
                  <a:pt x="0" y="4167"/>
                </a:lnTo>
                <a:lnTo>
                  <a:pt x="794" y="4167"/>
                </a:lnTo>
                <a:lnTo>
                  <a:pt x="794" y="4088"/>
                </a:lnTo>
                <a:lnTo>
                  <a:pt x="0" y="4167"/>
                </a:lnTo>
                <a:lnTo>
                  <a:pt x="0" y="4842"/>
                </a:lnTo>
                <a:lnTo>
                  <a:pt x="40" y="4842"/>
                </a:lnTo>
              </a:path>
            </a:pathLst>
          </a:custGeom>
          <a:noFill/>
          <a:ln w="900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6" name=""/>
          <p:cNvSpPr/>
          <p:nvPr/>
        </p:nvSpPr>
        <p:spPr>
          <a:xfrm>
            <a:off x="1774080" y="8037720"/>
            <a:ext cx="785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+0.254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2814480" y="8072280"/>
            <a:ext cx="360" cy="100080"/>
          </a:xfrm>
          <a:prstGeom prst="line">
            <a:avLst/>
          </a:prstGeom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8" name=""/>
          <p:cNvSpPr/>
          <p:nvPr/>
        </p:nvSpPr>
        <p:spPr>
          <a:xfrm>
            <a:off x="1774080" y="8284320"/>
            <a:ext cx="785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+0.016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2728800" y="8315280"/>
            <a:ext cx="360" cy="100080"/>
          </a:xfrm>
          <a:prstGeom prst="line">
            <a:avLst/>
          </a:prstGeom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0" name=""/>
          <p:cNvSpPr/>
          <p:nvPr/>
        </p:nvSpPr>
        <p:spPr>
          <a:xfrm>
            <a:off x="1774080" y="8531280"/>
            <a:ext cx="785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+1.126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3314520" y="8558280"/>
            <a:ext cx="360" cy="100080"/>
          </a:xfrm>
          <a:prstGeom prst="line">
            <a:avLst/>
          </a:prstGeom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" name=""/>
          <p:cNvSpPr/>
          <p:nvPr/>
        </p:nvSpPr>
        <p:spPr>
          <a:xfrm>
            <a:off x="1774080" y="8778240"/>
            <a:ext cx="785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+0.342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2871720" y="8800920"/>
            <a:ext cx="360" cy="100080"/>
          </a:xfrm>
          <a:prstGeom prst="line">
            <a:avLst/>
          </a:prstGeom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"/>
          <p:cNvSpPr/>
          <p:nvPr/>
        </p:nvSpPr>
        <p:spPr>
          <a:xfrm>
            <a:off x="1774080" y="9025200"/>
            <a:ext cx="785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+0.893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3214440" y="9058320"/>
            <a:ext cx="360" cy="85680"/>
          </a:xfrm>
          <a:prstGeom prst="line">
            <a:avLst/>
          </a:prstGeom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36360" bIns="36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" name=""/>
          <p:cNvSpPr/>
          <p:nvPr/>
        </p:nvSpPr>
        <p:spPr>
          <a:xfrm>
            <a:off x="1774080" y="9262800"/>
            <a:ext cx="785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+0.075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2771640" y="9301320"/>
            <a:ext cx="360" cy="85680"/>
          </a:xfrm>
          <a:prstGeom prst="line">
            <a:avLst/>
          </a:prstGeom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36360" bIns="36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8" name=""/>
          <p:cNvSpPr/>
          <p:nvPr/>
        </p:nvSpPr>
        <p:spPr>
          <a:xfrm>
            <a:off x="1774080" y="9509760"/>
            <a:ext cx="785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+0.537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3000240" y="9543960"/>
            <a:ext cx="360" cy="85680"/>
          </a:xfrm>
          <a:prstGeom prst="line">
            <a:avLst/>
          </a:prstGeom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36360" bIns="36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" name=""/>
          <p:cNvSpPr/>
          <p:nvPr/>
        </p:nvSpPr>
        <p:spPr>
          <a:xfrm>
            <a:off x="1774080" y="9756720"/>
            <a:ext cx="785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+0.021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2728800" y="9786960"/>
            <a:ext cx="360" cy="85680"/>
          </a:xfrm>
          <a:prstGeom prst="line">
            <a:avLst/>
          </a:prstGeom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36360" bIns="36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" name=""/>
          <p:cNvSpPr/>
          <p:nvPr/>
        </p:nvSpPr>
        <p:spPr>
          <a:xfrm>
            <a:off x="3740040" y="7772400"/>
            <a:ext cx="1937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ΔMotor (EU)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4700520" y="8015400"/>
            <a:ext cx="360" cy="1957320"/>
          </a:xfrm>
          <a:prstGeom prst="line">
            <a:avLst/>
          </a:prstGeom>
          <a:ln w="0">
            <a:solidFill>
              <a:srgbClr val="bfc5c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" name=""/>
          <p:cNvSpPr/>
          <p:nvPr/>
        </p:nvSpPr>
        <p:spPr>
          <a:xfrm>
            <a:off x="3743280" y="10086840"/>
            <a:ext cx="1700280" cy="360"/>
          </a:xfrm>
          <a:prstGeom prst="line">
            <a:avLst/>
          </a:prstGeom>
          <a:ln w="0">
            <a:solidFill>
              <a:srgbClr val="7077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" name=""/>
          <p:cNvSpPr/>
          <p:nvPr/>
        </p:nvSpPr>
        <p:spPr>
          <a:xfrm>
            <a:off x="3703320" y="1012248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-1.5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4489560" y="1012248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5020200" y="1012248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3857400" y="8086680"/>
            <a:ext cx="842400" cy="1742400"/>
          </a:xfrm>
          <a:custGeom>
            <a:avLst/>
            <a:gdLst>
              <a:gd name="textAreaLeft" fmla="*/ 0 w 842400"/>
              <a:gd name="textAreaRight" fmla="*/ 843120 w 842400"/>
              <a:gd name="textAreaTop" fmla="*/ 0 h 1742400"/>
              <a:gd name="textAreaBottom" fmla="*/ 1743120 h 1742400"/>
            </a:gdLst>
            <a:ahLst/>
            <a:rect l="textAreaLeft" t="textAreaTop" r="textAreaRight" b="textAreaBottom"/>
            <a:pathLst>
              <a:path fill="none" w="2342" h="4842">
                <a:moveTo>
                  <a:pt x="2342" y="79"/>
                </a:moveTo>
                <a:lnTo>
                  <a:pt x="2064" y="79"/>
                </a:lnTo>
                <a:lnTo>
                  <a:pt x="2064" y="0"/>
                </a:lnTo>
                <a:lnTo>
                  <a:pt x="2342" y="79"/>
                </a:lnTo>
                <a:lnTo>
                  <a:pt x="2342" y="754"/>
                </a:lnTo>
                <a:lnTo>
                  <a:pt x="2262" y="754"/>
                </a:lnTo>
                <a:lnTo>
                  <a:pt x="2342" y="1469"/>
                </a:lnTo>
                <a:lnTo>
                  <a:pt x="0" y="1469"/>
                </a:lnTo>
                <a:lnTo>
                  <a:pt x="0" y="1389"/>
                </a:lnTo>
                <a:lnTo>
                  <a:pt x="2342" y="1469"/>
                </a:lnTo>
                <a:lnTo>
                  <a:pt x="2342" y="2143"/>
                </a:lnTo>
                <a:lnTo>
                  <a:pt x="1151" y="2143"/>
                </a:lnTo>
                <a:lnTo>
                  <a:pt x="1151" y="2064"/>
                </a:lnTo>
                <a:lnTo>
                  <a:pt x="2342" y="2143"/>
                </a:lnTo>
                <a:lnTo>
                  <a:pt x="2342" y="2818"/>
                </a:lnTo>
                <a:lnTo>
                  <a:pt x="1231" y="2818"/>
                </a:lnTo>
                <a:lnTo>
                  <a:pt x="1231" y="2739"/>
                </a:lnTo>
                <a:lnTo>
                  <a:pt x="2342" y="2818"/>
                </a:lnTo>
                <a:lnTo>
                  <a:pt x="2342" y="3493"/>
                </a:lnTo>
                <a:lnTo>
                  <a:pt x="1826" y="3493"/>
                </a:lnTo>
                <a:lnTo>
                  <a:pt x="1826" y="3413"/>
                </a:lnTo>
                <a:lnTo>
                  <a:pt x="2342" y="3493"/>
                </a:lnTo>
                <a:lnTo>
                  <a:pt x="2342" y="4167"/>
                </a:lnTo>
                <a:lnTo>
                  <a:pt x="1786" y="4167"/>
                </a:lnTo>
                <a:lnTo>
                  <a:pt x="1786" y="4088"/>
                </a:lnTo>
                <a:lnTo>
                  <a:pt x="2342" y="4167"/>
                </a:lnTo>
                <a:lnTo>
                  <a:pt x="2342" y="4842"/>
                </a:lnTo>
                <a:lnTo>
                  <a:pt x="2183" y="4842"/>
                </a:lnTo>
                <a:lnTo>
                  <a:pt x="2183" y="4763"/>
                </a:lnTo>
                <a:lnTo>
                  <a:pt x="2342" y="4842"/>
                </a:lnTo>
              </a:path>
            </a:pathLst>
          </a:custGeom>
          <a:noFill/>
          <a:ln w="900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9" name=""/>
          <p:cNvSpPr/>
          <p:nvPr/>
        </p:nvSpPr>
        <p:spPr>
          <a:xfrm>
            <a:off x="5715000" y="7772400"/>
            <a:ext cx="1937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ΔU (EU)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6672240" y="8015400"/>
            <a:ext cx="360" cy="1957320"/>
          </a:xfrm>
          <a:prstGeom prst="line">
            <a:avLst/>
          </a:prstGeom>
          <a:ln w="0">
            <a:solidFill>
              <a:srgbClr val="bfc5c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1" name=""/>
          <p:cNvSpPr/>
          <p:nvPr/>
        </p:nvSpPr>
        <p:spPr>
          <a:xfrm>
            <a:off x="5729040" y="10086840"/>
            <a:ext cx="1685880" cy="360"/>
          </a:xfrm>
          <a:prstGeom prst="line">
            <a:avLst/>
          </a:prstGeom>
          <a:ln w="0">
            <a:solidFill>
              <a:srgbClr val="7077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2" name=""/>
          <p:cNvSpPr/>
          <p:nvPr/>
        </p:nvSpPr>
        <p:spPr>
          <a:xfrm>
            <a:off x="5678280" y="1012248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-1.5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6473880" y="1012248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7004160" y="1012248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500520" y="8086680"/>
            <a:ext cx="256680" cy="1742400"/>
          </a:xfrm>
          <a:custGeom>
            <a:avLst/>
            <a:gdLst>
              <a:gd name="textAreaLeft" fmla="*/ 0 w 256680"/>
              <a:gd name="textAreaRight" fmla="*/ 257400 w 256680"/>
              <a:gd name="textAreaTop" fmla="*/ 0 h 1742400"/>
              <a:gd name="textAreaBottom" fmla="*/ 1743120 h 1742400"/>
            </a:gdLst>
            <a:ahLst/>
            <a:rect l="textAreaLeft" t="textAreaTop" r="textAreaRight" b="textAreaBottom"/>
            <a:pathLst>
              <a:path fill="none" w="715" h="4842">
                <a:moveTo>
                  <a:pt x="477" y="79"/>
                </a:moveTo>
                <a:lnTo>
                  <a:pt x="596" y="79"/>
                </a:lnTo>
                <a:lnTo>
                  <a:pt x="596" y="0"/>
                </a:lnTo>
                <a:lnTo>
                  <a:pt x="477" y="79"/>
                </a:lnTo>
                <a:lnTo>
                  <a:pt x="477" y="1469"/>
                </a:lnTo>
                <a:lnTo>
                  <a:pt x="0" y="1469"/>
                </a:lnTo>
                <a:lnTo>
                  <a:pt x="0" y="1389"/>
                </a:lnTo>
                <a:lnTo>
                  <a:pt x="477" y="1469"/>
                </a:lnTo>
                <a:lnTo>
                  <a:pt x="477" y="2143"/>
                </a:lnTo>
                <a:lnTo>
                  <a:pt x="516" y="2143"/>
                </a:lnTo>
                <a:lnTo>
                  <a:pt x="477" y="2818"/>
                </a:lnTo>
                <a:lnTo>
                  <a:pt x="715" y="2818"/>
                </a:lnTo>
                <a:lnTo>
                  <a:pt x="715" y="2739"/>
                </a:lnTo>
                <a:lnTo>
                  <a:pt x="477" y="2818"/>
                </a:lnTo>
                <a:lnTo>
                  <a:pt x="477" y="3493"/>
                </a:lnTo>
                <a:lnTo>
                  <a:pt x="516" y="3493"/>
                </a:lnTo>
                <a:lnTo>
                  <a:pt x="477" y="4167"/>
                </a:lnTo>
                <a:lnTo>
                  <a:pt x="715" y="4167"/>
                </a:lnTo>
                <a:lnTo>
                  <a:pt x="715" y="4088"/>
                </a:lnTo>
                <a:lnTo>
                  <a:pt x="477" y="4167"/>
                </a:lnTo>
                <a:lnTo>
                  <a:pt x="477" y="4842"/>
                </a:lnTo>
                <a:lnTo>
                  <a:pt x="516" y="4842"/>
                </a:lnTo>
              </a:path>
            </a:pathLst>
          </a:custGeom>
          <a:noFill/>
          <a:ln w="900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" name=""/>
          <p:cNvSpPr/>
          <p:nvPr/>
        </p:nvSpPr>
        <p:spPr>
          <a:xfrm>
            <a:off x="7699320" y="7772400"/>
            <a:ext cx="1937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ΔM (tissue)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7815240" y="8015400"/>
            <a:ext cx="360" cy="19573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8" name=""/>
          <p:cNvSpPr/>
          <p:nvPr/>
        </p:nvSpPr>
        <p:spPr>
          <a:xfrm>
            <a:off x="7700760" y="10086840"/>
            <a:ext cx="1700280" cy="360"/>
          </a:xfrm>
          <a:prstGeom prst="line">
            <a:avLst/>
          </a:prstGeom>
          <a:ln w="0">
            <a:solidFill>
              <a:srgbClr val="7077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9" name=""/>
          <p:cNvSpPr/>
          <p:nvPr/>
        </p:nvSpPr>
        <p:spPr>
          <a:xfrm>
            <a:off x="7607880" y="1012248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8138160" y="1012248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8668440" y="1012248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9189720" y="10122480"/>
            <a:ext cx="5662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7758000" y="8086680"/>
            <a:ext cx="1385280" cy="1742400"/>
          </a:xfrm>
          <a:custGeom>
            <a:avLst/>
            <a:gdLst>
              <a:gd name="textAreaLeft" fmla="*/ 0 w 1385280"/>
              <a:gd name="textAreaRight" fmla="*/ 1386000 w 1385280"/>
              <a:gd name="textAreaTop" fmla="*/ 0 h 1742400"/>
              <a:gd name="textAreaBottom" fmla="*/ 1743120 h 1742400"/>
            </a:gdLst>
            <a:ahLst/>
            <a:rect l="textAreaLeft" t="textAreaTop" r="textAreaRight" b="textAreaBottom"/>
            <a:pathLst>
              <a:path fill="none" w="3850" h="4842">
                <a:moveTo>
                  <a:pt x="159" y="79"/>
                </a:moveTo>
                <a:lnTo>
                  <a:pt x="159" y="0"/>
                </a:lnTo>
                <a:lnTo>
                  <a:pt x="159" y="754"/>
                </a:lnTo>
                <a:lnTo>
                  <a:pt x="317" y="754"/>
                </a:lnTo>
                <a:lnTo>
                  <a:pt x="317" y="714"/>
                </a:lnTo>
                <a:lnTo>
                  <a:pt x="159" y="754"/>
                </a:lnTo>
                <a:lnTo>
                  <a:pt x="159" y="1469"/>
                </a:lnTo>
                <a:lnTo>
                  <a:pt x="317" y="1469"/>
                </a:lnTo>
                <a:lnTo>
                  <a:pt x="317" y="1389"/>
                </a:lnTo>
                <a:lnTo>
                  <a:pt x="159" y="1469"/>
                </a:lnTo>
                <a:lnTo>
                  <a:pt x="159" y="2143"/>
                </a:lnTo>
                <a:lnTo>
                  <a:pt x="3850" y="2143"/>
                </a:lnTo>
                <a:lnTo>
                  <a:pt x="3850" y="2064"/>
                </a:lnTo>
                <a:lnTo>
                  <a:pt x="159" y="2143"/>
                </a:lnTo>
                <a:lnTo>
                  <a:pt x="159" y="2818"/>
                </a:lnTo>
                <a:lnTo>
                  <a:pt x="0" y="2818"/>
                </a:lnTo>
                <a:lnTo>
                  <a:pt x="0" y="2739"/>
                </a:lnTo>
                <a:lnTo>
                  <a:pt x="159" y="2818"/>
                </a:lnTo>
                <a:lnTo>
                  <a:pt x="159" y="3493"/>
                </a:lnTo>
                <a:lnTo>
                  <a:pt x="2222" y="3493"/>
                </a:lnTo>
                <a:lnTo>
                  <a:pt x="2222" y="3413"/>
                </a:lnTo>
                <a:lnTo>
                  <a:pt x="159" y="3493"/>
                </a:lnTo>
                <a:lnTo>
                  <a:pt x="159" y="4842"/>
                </a:lnTo>
                <a:lnTo>
                  <a:pt x="675" y="4842"/>
                </a:lnTo>
                <a:lnTo>
                  <a:pt x="675" y="4763"/>
                </a:lnTo>
                <a:lnTo>
                  <a:pt x="159" y="4842"/>
                </a:lnTo>
              </a:path>
            </a:pathLst>
          </a:custGeom>
          <a:noFill/>
          <a:ln w="900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4" name=""/>
          <p:cNvSpPr/>
          <p:nvPr/>
        </p:nvSpPr>
        <p:spPr>
          <a:xfrm>
            <a:off x="9500760" y="804672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9500760" y="829368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9500760" y="853128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9500760" y="877824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9500760" y="902520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9500760" y="927216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9500760" y="950976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9500760" y="9756720"/>
            <a:ext cx="246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283320" y="8028360"/>
            <a:ext cx="1434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Compact h1 / 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283320" y="8275320"/>
            <a:ext cx="1434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Compact h1 / 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283320" y="8522280"/>
            <a:ext cx="1434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Compact h2 / 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283320" y="8769240"/>
            <a:ext cx="1434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Compact h2 / 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283320" y="9006840"/>
            <a:ext cx="1434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Annular h1 / 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283320" y="9253800"/>
            <a:ext cx="1434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Annular h1 / 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283320" y="9500760"/>
            <a:ext cx="1434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Annular h2 / 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283320" y="9747360"/>
            <a:ext cx="14349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Annular h2 / 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399960" y="10387080"/>
            <a:ext cx="285840" cy="360"/>
          </a:xfrm>
          <a:prstGeom prst="line">
            <a:avLst/>
          </a:prstGeom>
          <a:ln w="900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1" name=""/>
          <p:cNvSpPr/>
          <p:nvPr/>
        </p:nvSpPr>
        <p:spPr>
          <a:xfrm>
            <a:off x="713160" y="10287000"/>
            <a:ext cx="2870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Retain − reset (all four quantities)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4000320" y="10344240"/>
            <a:ext cx="360" cy="85680"/>
          </a:xfrm>
          <a:prstGeom prst="line">
            <a:avLst/>
          </a:prstGeom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36360" bIns="36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3" name=""/>
          <p:cNvSpPr/>
          <p:nvPr/>
        </p:nvSpPr>
        <p:spPr>
          <a:xfrm>
            <a:off x="4133160" y="10287000"/>
            <a:ext cx="5394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Shared − reset (E only): all positive; spatial benefit varies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283320" y="10478880"/>
            <a:ext cx="937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A: more final contact, but less M in three pairs. Compact h2/A: less U despite more 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285480" y="10815480"/>
            <a:ext cx="9501480" cy="360"/>
          </a:xfrm>
          <a:prstGeom prst="line">
            <a:avLst/>
          </a:prstGeom>
          <a:ln w="0">
            <a:solidFill>
              <a:srgbClr val="a6abb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6" name=""/>
          <p:cNvSpPr/>
          <p:nvPr/>
        </p:nvSpPr>
        <p:spPr>
          <a:xfrm>
            <a:off x="283320" y="10890360"/>
            <a:ext cx="937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D  Earlier receivers: the energy effect reverses with access schedule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283320" y="11997000"/>
            <a:ext cx="43160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Acquisition → test · separate 512–640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7272360" y="11258640"/>
            <a:ext cx="360" cy="7286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9" name=""/>
          <p:cNvSpPr/>
          <p:nvPr/>
        </p:nvSpPr>
        <p:spPr>
          <a:xfrm>
            <a:off x="356760" y="11247120"/>
            <a:ext cx="39585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Continuous → continuous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 flipH="1">
            <a:off x="6914880" y="11329920"/>
            <a:ext cx="357480" cy="360"/>
          </a:xfrm>
          <a:prstGeom prst="line">
            <a:avLst/>
          </a:prstGeom>
          <a:ln w="1836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1" name=""/>
          <p:cNvSpPr/>
          <p:nvPr/>
        </p:nvSpPr>
        <p:spPr>
          <a:xfrm>
            <a:off x="6190560" y="11247120"/>
            <a:ext cx="7491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-0.310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356760" y="11421000"/>
            <a:ext cx="39585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Continuous → intermittent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7272360" y="11501280"/>
            <a:ext cx="42840" cy="360"/>
          </a:xfrm>
          <a:prstGeom prst="line">
            <a:avLst/>
          </a:prstGeom>
          <a:ln w="1836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4" name=""/>
          <p:cNvSpPr/>
          <p:nvPr/>
        </p:nvSpPr>
        <p:spPr>
          <a:xfrm>
            <a:off x="7351920" y="11430000"/>
            <a:ext cx="7491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+0.038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356760" y="11594520"/>
            <a:ext cx="39585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Intermittent → continuous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 flipH="1">
            <a:off x="5371920" y="11673000"/>
            <a:ext cx="1900440" cy="360"/>
          </a:xfrm>
          <a:prstGeom prst="line">
            <a:avLst/>
          </a:prstGeom>
          <a:ln w="1836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7" name=""/>
          <p:cNvSpPr/>
          <p:nvPr/>
        </p:nvSpPr>
        <p:spPr>
          <a:xfrm>
            <a:off x="4645080" y="11603880"/>
            <a:ext cx="7491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-1.668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356760" y="11777400"/>
            <a:ext cx="39585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Intermittent → intermittent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7272360" y="11858760"/>
            <a:ext cx="1871640" cy="360"/>
          </a:xfrm>
          <a:prstGeom prst="line">
            <a:avLst/>
          </a:prstGeom>
          <a:ln w="18360">
            <a:solidFill>
              <a:srgbClr val="008c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0" name=""/>
          <p:cNvSpPr/>
          <p:nvPr/>
        </p:nvSpPr>
        <p:spPr>
          <a:xfrm>
            <a:off x="9189720" y="11777400"/>
            <a:ext cx="7491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+1.647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5843520" y="11630160"/>
            <a:ext cx="360" cy="99720"/>
          </a:xfrm>
          <a:prstGeom prst="line">
            <a:avLst/>
          </a:prstGeom>
          <a:ln w="9000">
            <a:solidFill>
              <a:srgbClr val="d778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2" name=""/>
          <p:cNvSpPr/>
          <p:nvPr/>
        </p:nvSpPr>
        <p:spPr>
          <a:xfrm>
            <a:off x="8986680" y="11801520"/>
            <a:ext cx="360" cy="1000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3" name=""/>
          <p:cNvSpPr/>
          <p:nvPr/>
        </p:nvSpPr>
        <p:spPr>
          <a:xfrm>
            <a:off x="4965120" y="11987640"/>
            <a:ext cx="46717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ΔE (EU) · shared marks in orange · all tested futures lose tissue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2026-10-16T20:49:47Z</dcterms:created>
  <dc:creator/>
  <dc:description/>
  <dc:language>zh-CN</dc:language>
  <cp:lastModifiedBy/>
  <cp:lastPrinted>2026-10-17T21:23:08Z</cp:lastPrinted>
  <dcterms:modified xsi:type="dcterms:W3CDTF">2026-10-17T21:24:22Z</dcterms:modified>
  <cp:revision>136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