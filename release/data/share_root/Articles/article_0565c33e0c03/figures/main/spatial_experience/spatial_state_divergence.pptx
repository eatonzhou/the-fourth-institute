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9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8.png" ContentType="image/png"/>
  <Override PartName="/ppt/media/image12.png" ContentType="image/png"/>
  <Override PartName="/ppt/media/image3.png" ContentType="image/png"/>
  <Override PartName="/ppt/charts/chart1.xml" ContentType="application/vnd.openxmlformats-officedocument.drawingml.char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1223962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Online</c:v>
                </c:pt>
              </c:strCache>
            </c:strRef>
          </c:tx>
          <c:spPr>
            <a:solidFill>
              <a:srgbClr val="007c91"/>
            </a:solidFill>
            <a:ln w="25200">
              <a:solidFill>
                <a:srgbClr val="007c91"/>
              </a:solidFill>
              <a:round/>
            </a:ln>
          </c:spPr>
          <c:marker>
            <c:symbol val="none"/>
          </c:marker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  <a:ea typeface="DejaVu San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61"/>
                <c:pt idx="0">
                  <c:v>240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400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560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720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61"/>
                <c:pt idx="0">
                  <c:v>23.7295082323805</c:v>
                </c:pt>
                <c:pt idx="1">
                  <c:v>23.6992703027871</c:v>
                </c:pt>
                <c:pt idx="2">
                  <c:v>23.6651619859442</c:v>
                </c:pt>
                <c:pt idx="3">
                  <c:v>23.6278606713476</c:v>
                </c:pt>
                <c:pt idx="4">
                  <c:v>23.5880077100209</c:v>
                </c:pt>
                <c:pt idx="5">
                  <c:v>23.5462674075182</c:v>
                </c:pt>
                <c:pt idx="6">
                  <c:v>23.5033602919804</c:v>
                </c:pt>
                <c:pt idx="7">
                  <c:v>23.4600823100539</c:v>
                </c:pt>
                <c:pt idx="8">
                  <c:v>23.4172320755575</c:v>
                </c:pt>
                <c:pt idx="9">
                  <c:v>23.3755387540589</c:v>
                </c:pt>
                <c:pt idx="10">
                  <c:v>23.3355615950932</c:v>
                </c:pt>
                <c:pt idx="11">
                  <c:v>23.2977259658266</c:v>
                </c:pt>
                <c:pt idx="12">
                  <c:v>23.2623713842866</c:v>
                </c:pt>
                <c:pt idx="13">
                  <c:v>23.2297361581566</c:v>
                </c:pt>
                <c:pt idx="14">
                  <c:v>23.1999804455422</c:v>
                </c:pt>
                <c:pt idx="15">
                  <c:v>23.1731697833773</c:v>
                </c:pt>
                <c:pt idx="16">
                  <c:v>23.1492741334392</c:v>
                </c:pt>
                <c:pt idx="17">
                  <c:v>23.1281916772428</c:v>
                </c:pt>
                <c:pt idx="18">
                  <c:v>23.1097654663061</c:v>
                </c:pt>
                <c:pt idx="19">
                  <c:v>23.0937902733853</c:v>
                </c:pt>
                <c:pt idx="20">
                  <c:v>23.0800263327338</c:v>
                </c:pt>
                <c:pt idx="21">
                  <c:v>23.0681991084783</c:v>
                </c:pt>
                <c:pt idx="22">
                  <c:v>23.0580023288344</c:v>
                </c:pt>
                <c:pt idx="23">
                  <c:v>23.0491610699752</c:v>
                </c:pt>
                <c:pt idx="24">
                  <c:v>23.0414254414718</c:v>
                </c:pt>
                <c:pt idx="25">
                  <c:v>23.0345145563501</c:v>
                </c:pt>
                <c:pt idx="26">
                  <c:v>23.0281773872871</c:v>
                </c:pt>
                <c:pt idx="27">
                  <c:v>23.022102554432</c:v>
                </c:pt>
                <c:pt idx="28">
                  <c:v>23.0152381729985</c:v>
                </c:pt>
                <c:pt idx="29">
                  <c:v>23.0032156937552</c:v>
                </c:pt>
                <c:pt idx="30">
                  <c:v>22.9787579489892</c:v>
                </c:pt>
                <c:pt idx="31">
                  <c:v>22.9274643425927</c:v>
                </c:pt>
                <c:pt idx="32">
                  <c:v>22.8371758851371</c:v>
                </c:pt>
                <c:pt idx="33">
                  <c:v>22.7023782178079</c:v>
                </c:pt>
                <c:pt idx="34">
                  <c:v>22.5225142925137</c:v>
                </c:pt>
                <c:pt idx="35">
                  <c:v>22.3004284529486</c:v>
                </c:pt>
                <c:pt idx="36">
                  <c:v>22.0471906323632</c:v>
                </c:pt>
                <c:pt idx="37">
                  <c:v>21.7738655489338</c:v>
                </c:pt>
                <c:pt idx="38">
                  <c:v>21.4819288688491</c:v>
                </c:pt>
                <c:pt idx="39">
                  <c:v>21.1532744460831</c:v>
                </c:pt>
                <c:pt idx="40">
                  <c:v>20.7175332380008</c:v>
                </c:pt>
                <c:pt idx="41">
                  <c:v>20.0975844959837</c:v>
                </c:pt>
                <c:pt idx="42">
                  <c:v>19.260195271639</c:v>
                </c:pt>
                <c:pt idx="43">
                  <c:v>18.2027560398734</c:v>
                </c:pt>
                <c:pt idx="44">
                  <c:v>16.9745055003375</c:v>
                </c:pt>
                <c:pt idx="45">
                  <c:v>15.6734140913164</c:v>
                </c:pt>
                <c:pt idx="46">
                  <c:v>14.4013548901543</c:v>
                </c:pt>
                <c:pt idx="47">
                  <c:v>13.2202512413629</c:v>
                </c:pt>
                <c:pt idx="48">
                  <c:v>12.1635342962238</c:v>
                </c:pt>
                <c:pt idx="49">
                  <c:v>11.2274609938971</c:v>
                </c:pt>
                <c:pt idx="50">
                  <c:v>10.3985423513681</c:v>
                </c:pt>
                <c:pt idx="51">
                  <c:v>9.66500982775294</c:v>
                </c:pt>
                <c:pt idx="52">
                  <c:v>9.01534999633405</c:v>
                </c:pt>
                <c:pt idx="53">
                  <c:v>8.4402662950513</c:v>
                </c:pt>
                <c:pt idx="54">
                  <c:v>7.93136882891568</c:v>
                </c:pt>
                <c:pt idx="55">
                  <c:v>7.48103936216543</c:v>
                </c:pt>
                <c:pt idx="56">
                  <c:v>7.08262585727406</c:v>
                </c:pt>
                <c:pt idx="57">
                  <c:v>6.73001562231097</c:v>
                </c:pt>
                <c:pt idx="58">
                  <c:v>6.41784307092359</c:v>
                </c:pt>
                <c:pt idx="59">
                  <c:v>6.14147651289192</c:v>
                </c:pt>
                <c:pt idx="60">
                  <c:v>5.89697715941529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Writing stopped at 240</c:v>
                </c:pt>
              </c:strCache>
            </c:strRef>
          </c:tx>
          <c:spPr>
            <a:solidFill>
              <a:srgbClr val="6a4c93"/>
            </a:solidFill>
            <a:ln w="25200">
              <a:solidFill>
                <a:srgbClr val="6a4c93"/>
              </a:solidFill>
              <a:round/>
            </a:ln>
          </c:spPr>
          <c:marker>
            <c:symbol val="none"/>
          </c:marker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  <a:ea typeface="DejaVu San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61"/>
                <c:pt idx="0">
                  <c:v>240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400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560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720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61"/>
                <c:pt idx="0">
                  <c:v>23.7295082323805</c:v>
                </c:pt>
                <c:pt idx="1">
                  <c:v>23.6980211820524</c:v>
                </c:pt>
                <c:pt idx="2">
                  <c:v>23.6561747926459</c:v>
                </c:pt>
                <c:pt idx="3">
                  <c:v>23.5998497390385</c:v>
                </c:pt>
                <c:pt idx="4">
                  <c:v>23.5262684266918</c:v>
                </c:pt>
                <c:pt idx="5">
                  <c:v>23.433718118481</c:v>
                </c:pt>
                <c:pt idx="6">
                  <c:v>23.3204762829812</c:v>
                </c:pt>
                <c:pt idx="7">
                  <c:v>23.1853745649067</c:v>
                </c:pt>
                <c:pt idx="8">
                  <c:v>23.0279522275285</c:v>
                </c:pt>
                <c:pt idx="9">
                  <c:v>22.8489641521572</c:v>
                </c:pt>
                <c:pt idx="10">
                  <c:v>22.649120513948</c:v>
                </c:pt>
                <c:pt idx="11">
                  <c:v>22.4292941066587</c:v>
                </c:pt>
                <c:pt idx="12">
                  <c:v>22.191281280237</c:v>
                </c:pt>
                <c:pt idx="13">
                  <c:v>21.9370741650388</c:v>
                </c:pt>
                <c:pt idx="14">
                  <c:v>21.6702154506925</c:v>
                </c:pt>
                <c:pt idx="15">
                  <c:v>21.394383349363</c:v>
                </c:pt>
                <c:pt idx="16">
                  <c:v>21.1125882667162</c:v>
                </c:pt>
                <c:pt idx="17">
                  <c:v>20.8280101689124</c:v>
                </c:pt>
                <c:pt idx="18">
                  <c:v>20.5443806507456</c:v>
                </c:pt>
                <c:pt idx="19">
                  <c:v>20.2648098414129</c:v>
                </c:pt>
                <c:pt idx="20">
                  <c:v>19.9917341111158</c:v>
                </c:pt>
                <c:pt idx="21">
                  <c:v>19.7272549676632</c:v>
                </c:pt>
                <c:pt idx="22">
                  <c:v>19.4732344069077</c:v>
                </c:pt>
                <c:pt idx="23">
                  <c:v>19.2311461332482</c:v>
                </c:pt>
                <c:pt idx="24">
                  <c:v>19.0021406688972</c:v>
                </c:pt>
                <c:pt idx="25">
                  <c:v>18.7872529649468</c:v>
                </c:pt>
                <c:pt idx="26">
                  <c:v>18.5872802558212</c:v>
                </c:pt>
                <c:pt idx="27">
                  <c:v>18.4025108238276</c:v>
                </c:pt>
                <c:pt idx="28">
                  <c:v>18.23211788158</c:v>
                </c:pt>
                <c:pt idx="29">
                  <c:v>18.0745374123391</c:v>
                </c:pt>
                <c:pt idx="30">
                  <c:v>17.9273003001768</c:v>
                </c:pt>
                <c:pt idx="31">
                  <c:v>17.7855822011863</c:v>
                </c:pt>
                <c:pt idx="32">
                  <c:v>17.6439094194365</c:v>
                </c:pt>
                <c:pt idx="33">
                  <c:v>17.4978373703159</c:v>
                </c:pt>
                <c:pt idx="34">
                  <c:v>17.342547573677</c:v>
                </c:pt>
                <c:pt idx="35">
                  <c:v>17.174249582175</c:v>
                </c:pt>
                <c:pt idx="36">
                  <c:v>16.9918859697954</c:v>
                </c:pt>
                <c:pt idx="37">
                  <c:v>16.7959532642696</c:v>
                </c:pt>
                <c:pt idx="38">
                  <c:v>16.5873730637701</c:v>
                </c:pt>
                <c:pt idx="39">
                  <c:v>16.3658011681637</c:v>
                </c:pt>
                <c:pt idx="40">
                  <c:v>16.1312151087204</c:v>
                </c:pt>
                <c:pt idx="41">
                  <c:v>15.8831752334272</c:v>
                </c:pt>
                <c:pt idx="42">
                  <c:v>15.6199859264505</c:v>
                </c:pt>
                <c:pt idx="43">
                  <c:v>15.3418141171985</c:v>
                </c:pt>
                <c:pt idx="44">
                  <c:v>15.0490069720462</c:v>
                </c:pt>
                <c:pt idx="45">
                  <c:v>14.741863687195</c:v>
                </c:pt>
                <c:pt idx="46">
                  <c:v>14.4212805475739</c:v>
                </c:pt>
                <c:pt idx="47">
                  <c:v>14.0881203602259</c:v>
                </c:pt>
                <c:pt idx="48">
                  <c:v>13.7461095834563</c:v>
                </c:pt>
                <c:pt idx="49">
                  <c:v>13.3931620895402</c:v>
                </c:pt>
                <c:pt idx="50">
                  <c:v>13.0340397314165</c:v>
                </c:pt>
                <c:pt idx="51">
                  <c:v>12.6700194357515</c:v>
                </c:pt>
                <c:pt idx="52">
                  <c:v>12.301816938632</c:v>
                </c:pt>
                <c:pt idx="53">
                  <c:v>11.9281462164087</c:v>
                </c:pt>
                <c:pt idx="54">
                  <c:v>11.5433476182086</c:v>
                </c:pt>
                <c:pt idx="55">
                  <c:v>11.1348823177727</c:v>
                </c:pt>
                <c:pt idx="56">
                  <c:v>10.6919339063038</c:v>
                </c:pt>
                <c:pt idx="57">
                  <c:v>10.2189292900352</c:v>
                </c:pt>
                <c:pt idx="58">
                  <c:v>9.72492714259682</c:v>
                </c:pt>
                <c:pt idx="59">
                  <c:v>9.22325391213371</c:v>
                </c:pt>
                <c:pt idx="60">
                  <c:v>8.72468609576906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0"/>
        <c:axId val="31068633"/>
        <c:axId val="74081"/>
      </c:lineChart>
      <c:catAx>
        <c:axId val="31068633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b="0" sz="1600" spc="-1" strike="noStrike">
                    <a:solidFill>
                      <a:srgbClr val="000000"/>
                    </a:solidFill>
                    <a:latin typeface="Arial"/>
                    <a:ea typeface="DejaVu Sans"/>
                  </a:defRPr>
                </a:pPr>
                <a:r>
                  <a:rPr b="0" sz="16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Life step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[$-804]yyyy/m/d" sourceLinked="0"/>
        <c:majorTickMark val="none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600" spc="-1" strike="noStrike">
                <a:solidFill>
                  <a:srgbClr val="000000"/>
                </a:solidFill>
                <a:latin typeface="Arial"/>
                <a:ea typeface="DejaVu Sans"/>
              </a:defRPr>
            </a:pPr>
          </a:p>
        </c:txPr>
        <c:crossAx val="74081"/>
        <c:crosses val="autoZero"/>
        <c:auto val="1"/>
        <c:lblAlgn val="ctr"/>
        <c:lblOffset val="100"/>
        <c:noMultiLvlLbl val="0"/>
      </c:catAx>
      <c:valAx>
        <c:axId val="74081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pPr>
                  <a:defRPr b="0" sz="1600" spc="-1" strike="noStrike">
                    <a:solidFill>
                      <a:srgbClr val="000000"/>
                    </a:solidFill>
                    <a:latin typeface="Arial"/>
                    <a:ea typeface="DejaVu Sans"/>
                  </a:defRPr>
                </a:pPr>
                <a:r>
                  <a:rPr b="0" sz="1600" spc="-1" strike="noStrike">
                    <a:solidFill>
                      <a:srgbClr val="000000"/>
                    </a:solidFill>
                    <a:latin typeface="Arial"/>
                    <a:ea typeface="DejaVu Sans"/>
                  </a:rPr>
                  <a:t>Tissue mass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600" spc="-1" strike="noStrike">
                <a:solidFill>
                  <a:srgbClr val="000000"/>
                </a:solidFill>
                <a:latin typeface="Arial"/>
                <a:ea typeface="DejaVu Sans"/>
              </a:defRPr>
            </a:pPr>
          </a:p>
        </c:txPr>
        <c:crossAx val="31068633"/>
        <c:crossesAt val="1"/>
        <c:crossBetween val="midCat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72960"/>
            <a:ext cx="9070920" cy="1561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2863800"/>
            <a:ext cx="9072000" cy="709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670830C-F17D-4B24-BCE8-0F0A574A7B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72960"/>
            <a:ext cx="9070920" cy="1561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447360" y="8526600"/>
            <a:ext cx="3194280" cy="6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8526600"/>
            <a:ext cx="2347560" cy="6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C5523AB-1757-4471-BD07-76C3A682C7BF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8526600"/>
            <a:ext cx="2347560" cy="6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2863800"/>
            <a:ext cx="9072000" cy="709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chart" Target="../charts/chart1.xml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" descr=""/>
          <p:cNvPicPr/>
          <p:nvPr/>
        </p:nvPicPr>
        <p:blipFill>
          <a:blip r:embed="rId1"/>
          <a:stretch/>
        </p:blipFill>
        <p:spPr>
          <a:xfrm>
            <a:off x="216000" y="1548000"/>
            <a:ext cx="2087280" cy="2087280"/>
          </a:xfrm>
          <a:prstGeom prst="rect">
            <a:avLst/>
          </a:prstGeom>
          <a:ln w="0">
            <a:noFill/>
          </a:ln>
        </p:spPr>
      </p:pic>
      <p:pic>
        <p:nvPicPr>
          <p:cNvPr id="8" name="" descr=""/>
          <p:cNvPicPr/>
          <p:nvPr/>
        </p:nvPicPr>
        <p:blipFill>
          <a:blip r:embed="rId2"/>
          <a:stretch/>
        </p:blipFill>
        <p:spPr>
          <a:xfrm>
            <a:off x="2952000" y="540000"/>
            <a:ext cx="2159280" cy="2159280"/>
          </a:xfrm>
          <a:prstGeom prst="rect">
            <a:avLst/>
          </a:prstGeom>
          <a:ln w="0">
            <a:noFill/>
          </a:ln>
        </p:spPr>
      </p:pic>
      <p:pic>
        <p:nvPicPr>
          <p:cNvPr id="9" name="" descr=""/>
          <p:cNvPicPr/>
          <p:nvPr/>
        </p:nvPicPr>
        <p:blipFill>
          <a:blip r:embed="rId3"/>
          <a:stretch/>
        </p:blipFill>
        <p:spPr>
          <a:xfrm>
            <a:off x="5292000" y="540000"/>
            <a:ext cx="2159280" cy="2159280"/>
          </a:xfrm>
          <a:prstGeom prst="rect">
            <a:avLst/>
          </a:prstGeom>
          <a:ln w="0">
            <a:noFill/>
          </a:ln>
        </p:spPr>
      </p:pic>
      <p:pic>
        <p:nvPicPr>
          <p:cNvPr id="10" name="" descr=""/>
          <p:cNvPicPr/>
          <p:nvPr/>
        </p:nvPicPr>
        <p:blipFill>
          <a:blip r:embed="rId4"/>
          <a:stretch/>
        </p:blipFill>
        <p:spPr>
          <a:xfrm>
            <a:off x="7632000" y="540000"/>
            <a:ext cx="2159280" cy="2159280"/>
          </a:xfrm>
          <a:prstGeom prst="rect">
            <a:avLst/>
          </a:prstGeom>
          <a:ln w="0">
            <a:noFill/>
          </a:ln>
        </p:spPr>
      </p:pic>
      <p:pic>
        <p:nvPicPr>
          <p:cNvPr id="11" name="" descr=""/>
          <p:cNvPicPr/>
          <p:nvPr/>
        </p:nvPicPr>
        <p:blipFill>
          <a:blip r:embed="rId5"/>
          <a:stretch/>
        </p:blipFill>
        <p:spPr>
          <a:xfrm>
            <a:off x="2952000" y="2952000"/>
            <a:ext cx="2159280" cy="2159280"/>
          </a:xfrm>
          <a:prstGeom prst="rect">
            <a:avLst/>
          </a:prstGeom>
          <a:ln w="0">
            <a:noFill/>
          </a:ln>
        </p:spPr>
      </p:pic>
      <p:pic>
        <p:nvPicPr>
          <p:cNvPr id="12" name="" descr=""/>
          <p:cNvPicPr/>
          <p:nvPr/>
        </p:nvPicPr>
        <p:blipFill>
          <a:blip r:embed="rId6"/>
          <a:stretch/>
        </p:blipFill>
        <p:spPr>
          <a:xfrm>
            <a:off x="5292000" y="2952000"/>
            <a:ext cx="2159280" cy="2159280"/>
          </a:xfrm>
          <a:prstGeom prst="rect">
            <a:avLst/>
          </a:prstGeom>
          <a:ln w="0">
            <a:noFill/>
          </a:ln>
        </p:spPr>
      </p:pic>
      <p:pic>
        <p:nvPicPr>
          <p:cNvPr id="13" name="" descr=""/>
          <p:cNvPicPr/>
          <p:nvPr/>
        </p:nvPicPr>
        <p:blipFill>
          <a:blip r:embed="rId7"/>
          <a:stretch/>
        </p:blipFill>
        <p:spPr>
          <a:xfrm>
            <a:off x="7632000" y="2952000"/>
            <a:ext cx="2159280" cy="2159280"/>
          </a:xfrm>
          <a:prstGeom prst="rect">
            <a:avLst/>
          </a:prstGeom>
          <a:ln w="0">
            <a:noFill/>
          </a:ln>
        </p:spPr>
      </p:pic>
      <p:sp>
        <p:nvSpPr>
          <p:cNvPr id="14" name=""/>
          <p:cNvSpPr/>
          <p:nvPr/>
        </p:nvSpPr>
        <p:spPr>
          <a:xfrm>
            <a:off x="180000" y="180000"/>
            <a:ext cx="277056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a   Shared body,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diverging spatial futures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3600000" y="180000"/>
            <a:ext cx="1259280" cy="31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400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5940000" y="180000"/>
            <a:ext cx="1259280" cy="31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560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8280000" y="180000"/>
            <a:ext cx="1439280" cy="31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720 steps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360000" y="1260000"/>
            <a:ext cx="194328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Shared state at 240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1874520" y="786240"/>
            <a:ext cx="1007280" cy="48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Continued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writing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1476000" y="4068000"/>
            <a:ext cx="1367280" cy="10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Writing stopped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at 240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2304000" y="2700000"/>
            <a:ext cx="396000" cy="360"/>
          </a:xfrm>
          <a:prstGeom prst="line">
            <a:avLst/>
          </a:prstGeom>
          <a:ln w="0">
            <a:solidFill>
              <a:srgbClr val="1c1c1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" name=""/>
          <p:cNvSpPr/>
          <p:nvPr/>
        </p:nvSpPr>
        <p:spPr>
          <a:xfrm>
            <a:off x="2700000" y="1620000"/>
            <a:ext cx="360" cy="2340000"/>
          </a:xfrm>
          <a:prstGeom prst="line">
            <a:avLst/>
          </a:prstGeom>
          <a:ln w="0">
            <a:solidFill>
              <a:srgbClr val="1c1c1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" name=""/>
          <p:cNvSpPr/>
          <p:nvPr/>
        </p:nvSpPr>
        <p:spPr>
          <a:xfrm>
            <a:off x="2700000" y="1620000"/>
            <a:ext cx="180000" cy="360"/>
          </a:xfrm>
          <a:prstGeom prst="line">
            <a:avLst/>
          </a:prstGeom>
          <a:ln w="0">
            <a:solidFill>
              <a:srgbClr val="1c1c1c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" name=""/>
          <p:cNvSpPr/>
          <p:nvPr/>
        </p:nvSpPr>
        <p:spPr>
          <a:xfrm>
            <a:off x="2700000" y="3960000"/>
            <a:ext cx="180000" cy="360"/>
          </a:xfrm>
          <a:prstGeom prst="line">
            <a:avLst/>
          </a:prstGeom>
          <a:ln w="0">
            <a:solidFill>
              <a:srgbClr val="1c1c1c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25" name="" descr=""/>
          <p:cNvPicPr/>
          <p:nvPr/>
        </p:nvPicPr>
        <p:blipFill>
          <a:blip r:embed="rId8"/>
          <a:stretch/>
        </p:blipFill>
        <p:spPr>
          <a:xfrm>
            <a:off x="288000" y="4788000"/>
            <a:ext cx="1727280" cy="100080"/>
          </a:xfrm>
          <a:prstGeom prst="rect">
            <a:avLst/>
          </a:prstGeom>
          <a:ln w="0">
            <a:noFill/>
          </a:ln>
        </p:spPr>
      </p:pic>
      <p:sp>
        <p:nvSpPr>
          <p:cNvPr id="26" name=""/>
          <p:cNvSpPr/>
          <p:nvPr/>
        </p:nvSpPr>
        <p:spPr>
          <a:xfrm>
            <a:off x="180000" y="4500000"/>
            <a:ext cx="1619280" cy="2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Tissue density ρ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180000" y="4860000"/>
            <a:ext cx="197928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180000" y="5040000"/>
            <a:ext cx="2159280" cy="35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Square-root colour scale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" name="" descr=""/>
          <p:cNvPicPr/>
          <p:nvPr/>
        </p:nvPicPr>
        <p:blipFill>
          <a:blip r:embed="rId9"/>
          <a:stretch/>
        </p:blipFill>
        <p:spPr>
          <a:xfrm>
            <a:off x="288000" y="6120000"/>
            <a:ext cx="899280" cy="899280"/>
          </a:xfrm>
          <a:prstGeom prst="rect">
            <a:avLst/>
          </a:prstGeom>
          <a:ln w="0">
            <a:noFill/>
          </a:ln>
        </p:spPr>
      </p:pic>
      <p:pic>
        <p:nvPicPr>
          <p:cNvPr id="30" name="" descr=""/>
          <p:cNvPicPr/>
          <p:nvPr/>
        </p:nvPicPr>
        <p:blipFill>
          <a:blip r:embed="rId10"/>
          <a:stretch/>
        </p:blipFill>
        <p:spPr>
          <a:xfrm>
            <a:off x="1404000" y="6120000"/>
            <a:ext cx="899280" cy="899280"/>
          </a:xfrm>
          <a:prstGeom prst="rect">
            <a:avLst/>
          </a:prstGeom>
          <a:ln w="0">
            <a:noFill/>
          </a:ln>
        </p:spPr>
      </p:pic>
      <p:sp>
        <p:nvSpPr>
          <p:cNvPr id="31" name=""/>
          <p:cNvSpPr/>
          <p:nvPr/>
        </p:nvSpPr>
        <p:spPr>
          <a:xfrm>
            <a:off x="3290400" y="1148400"/>
            <a:ext cx="539280" cy="539280"/>
          </a:xfrm>
          <a:prstGeom prst="rect">
            <a:avLst/>
          </a:prstGeom>
          <a:noFill/>
          <a:ln w="0">
            <a:solidFill>
              <a:srgbClr val="e69f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" name=""/>
          <p:cNvSpPr/>
          <p:nvPr/>
        </p:nvSpPr>
        <p:spPr>
          <a:xfrm>
            <a:off x="4168800" y="1148400"/>
            <a:ext cx="539280" cy="539280"/>
          </a:xfrm>
          <a:prstGeom prst="rect">
            <a:avLst/>
          </a:prstGeom>
          <a:noFill/>
          <a:ln w="0">
            <a:solidFill>
              <a:srgbClr val="e76f6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3" name=""/>
          <p:cNvSpPr/>
          <p:nvPr/>
        </p:nvSpPr>
        <p:spPr>
          <a:xfrm>
            <a:off x="4168800" y="3560400"/>
            <a:ext cx="539280" cy="539280"/>
          </a:xfrm>
          <a:prstGeom prst="rect">
            <a:avLst/>
          </a:prstGeom>
          <a:noFill/>
          <a:ln w="0">
            <a:solidFill>
              <a:srgbClr val="e76f6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4" name=""/>
          <p:cNvSpPr/>
          <p:nvPr/>
        </p:nvSpPr>
        <p:spPr>
          <a:xfrm>
            <a:off x="3290400" y="3560400"/>
            <a:ext cx="539280" cy="539280"/>
          </a:xfrm>
          <a:prstGeom prst="rect">
            <a:avLst/>
          </a:prstGeom>
          <a:noFill/>
          <a:ln w="0">
            <a:solidFill>
              <a:srgbClr val="e69f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35" name="" descr=""/>
          <p:cNvPicPr/>
          <p:nvPr/>
        </p:nvPicPr>
        <p:blipFill>
          <a:blip r:embed="rId11"/>
          <a:stretch/>
        </p:blipFill>
        <p:spPr>
          <a:xfrm>
            <a:off x="2664000" y="6012000"/>
            <a:ext cx="1475280" cy="1475280"/>
          </a:xfrm>
          <a:prstGeom prst="rect">
            <a:avLst/>
          </a:prstGeom>
          <a:ln w="0">
            <a:noFill/>
          </a:ln>
        </p:spPr>
      </p:pic>
      <p:pic>
        <p:nvPicPr>
          <p:cNvPr id="36" name="" descr=""/>
          <p:cNvPicPr/>
          <p:nvPr/>
        </p:nvPicPr>
        <p:blipFill>
          <a:blip r:embed="rId12"/>
          <a:stretch/>
        </p:blipFill>
        <p:spPr>
          <a:xfrm>
            <a:off x="4248000" y="6012000"/>
            <a:ext cx="1475280" cy="1475280"/>
          </a:xfrm>
          <a:prstGeom prst="rect">
            <a:avLst/>
          </a:prstGeom>
          <a:ln w="0">
            <a:noFill/>
          </a:ln>
        </p:spPr>
      </p:pic>
      <p:pic>
        <p:nvPicPr>
          <p:cNvPr id="37" name="" descr=""/>
          <p:cNvPicPr/>
          <p:nvPr/>
        </p:nvPicPr>
        <p:blipFill>
          <a:blip r:embed="rId13"/>
          <a:stretch/>
        </p:blipFill>
        <p:spPr>
          <a:xfrm>
            <a:off x="2988000" y="8028000"/>
            <a:ext cx="2231280" cy="100080"/>
          </a:xfrm>
          <a:prstGeom prst="rect">
            <a:avLst/>
          </a:prstGeom>
          <a:ln w="0">
            <a:noFill/>
          </a:ln>
        </p:spPr>
      </p:pic>
      <p:sp>
        <p:nvSpPr>
          <p:cNvPr id="38" name=""/>
          <p:cNvSpPr/>
          <p:nvPr/>
        </p:nvSpPr>
        <p:spPr>
          <a:xfrm>
            <a:off x="180000" y="5400000"/>
            <a:ext cx="215928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b   Local state at 400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2520000" y="5400000"/>
            <a:ext cx="323928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c   Local energy at 560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5940000" y="5400000"/>
            <a:ext cx="377928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d   Early advantage, late loss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" name="" descr=""/>
          <p:cNvPicPr/>
          <p:nvPr/>
        </p:nvPicPr>
        <p:blipFill>
          <a:blip r:embed="rId14"/>
          <a:stretch/>
        </p:blipFill>
        <p:spPr>
          <a:xfrm>
            <a:off x="288000" y="8352000"/>
            <a:ext cx="2015280" cy="89280"/>
          </a:xfrm>
          <a:prstGeom prst="rect">
            <a:avLst/>
          </a:prstGeom>
          <a:ln w="0">
            <a:noFill/>
          </a:ln>
        </p:spPr>
      </p:pic>
      <p:sp>
        <p:nvSpPr>
          <p:cNvPr id="42" name=""/>
          <p:cNvSpPr/>
          <p:nvPr/>
        </p:nvSpPr>
        <p:spPr>
          <a:xfrm>
            <a:off x="180000" y="5580000"/>
            <a:ext cx="1079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F: m₀ at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food site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1260000" y="5580000"/>
            <a:ext cx="1259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H: m₁ at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hazard site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2807280" y="5687640"/>
            <a:ext cx="143928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Continued writing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4140000" y="5690160"/>
            <a:ext cx="161928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Writing stopped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2664000" y="7488000"/>
            <a:ext cx="147528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56.23%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4248000" y="7488000"/>
            <a:ext cx="151128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16.85%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2664000" y="7778160"/>
            <a:ext cx="3095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of tissue mass below E/ρ = 0.08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2880000" y="8128800"/>
            <a:ext cx="53928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3780000" y="8128800"/>
            <a:ext cx="53928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.08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4860000" y="8128800"/>
            <a:ext cx="89928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.16+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2880000" y="8460000"/>
            <a:ext cx="2879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Specific energy E/ρ (EU/M)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180000" y="8460000"/>
            <a:ext cx="539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−</a:t>
            </a: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1080000" y="8460000"/>
            <a:ext cx="539280" cy="2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1980000" y="8460000"/>
            <a:ext cx="539280" cy="2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+1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6" name=""/>
          <p:cNvGraphicFramePr/>
          <p:nvPr/>
        </p:nvGraphicFramePr>
        <p:xfrm>
          <a:off x="5940000" y="6012000"/>
          <a:ext cx="3958920" cy="251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sp>
        <p:nvSpPr>
          <p:cNvPr id="57" name=""/>
          <p:cNvSpPr/>
          <p:nvPr/>
        </p:nvSpPr>
        <p:spPr>
          <a:xfrm>
            <a:off x="7560000" y="5760000"/>
            <a:ext cx="233892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6a4c93"/>
                </a:solidFill>
                <a:latin typeface="Arial"/>
                <a:ea typeface="DejaVu Sans"/>
              </a:rPr>
              <a:t>Writing stopped at 240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6007680" y="5760720"/>
            <a:ext cx="1581840" cy="31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7c91"/>
                </a:solidFill>
                <a:latin typeface="Arial"/>
                <a:ea typeface="DejaVu Sans"/>
              </a:rPr>
              <a:t>Continued writing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9" name="" descr=""/>
          <p:cNvPicPr/>
          <p:nvPr/>
        </p:nvPicPr>
        <p:blipFill>
          <a:blip r:embed="rId16"/>
          <a:stretch/>
        </p:blipFill>
        <p:spPr>
          <a:xfrm>
            <a:off x="288000" y="7272000"/>
            <a:ext cx="899280" cy="899280"/>
          </a:xfrm>
          <a:prstGeom prst="rect">
            <a:avLst/>
          </a:prstGeom>
          <a:ln w="0">
            <a:noFill/>
          </a:ln>
        </p:spPr>
      </p:pic>
      <p:pic>
        <p:nvPicPr>
          <p:cNvPr id="60" name="" descr=""/>
          <p:cNvPicPr/>
          <p:nvPr/>
        </p:nvPicPr>
        <p:blipFill>
          <a:blip r:embed="rId17"/>
          <a:stretch/>
        </p:blipFill>
        <p:spPr>
          <a:xfrm>
            <a:off x="1404000" y="7272000"/>
            <a:ext cx="899280" cy="899280"/>
          </a:xfrm>
          <a:prstGeom prst="rect">
            <a:avLst/>
          </a:prstGeom>
          <a:ln w="0">
            <a:noFill/>
          </a:ln>
        </p:spPr>
      </p:pic>
      <p:sp>
        <p:nvSpPr>
          <p:cNvPr id="61" name=""/>
          <p:cNvSpPr/>
          <p:nvPr/>
        </p:nvSpPr>
        <p:spPr>
          <a:xfrm>
            <a:off x="1080000" y="4860000"/>
            <a:ext cx="39528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.2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1800000" y="4860000"/>
            <a:ext cx="53928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.75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3240000" y="900000"/>
            <a:ext cx="35928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F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4140000" y="900000"/>
            <a:ext cx="35928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H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4140000" y="3312000"/>
            <a:ext cx="3445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H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3240000" y="3240000"/>
            <a:ext cx="359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F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210240" y="1801440"/>
            <a:ext cx="111564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Food site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1307520" y="1801440"/>
            <a:ext cx="114300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Hazard site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216000" y="3636000"/>
            <a:ext cx="86328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8 cells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288000" y="3636000"/>
            <a:ext cx="522000" cy="360"/>
          </a:xfrm>
          <a:prstGeom prst="line">
            <a:avLst/>
          </a:prstGeom>
          <a:ln w="0">
            <a:solidFill>
              <a:srgbClr val="1c1c1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1" name=""/>
          <p:cNvSpPr/>
          <p:nvPr/>
        </p:nvSpPr>
        <p:spPr>
          <a:xfrm>
            <a:off x="6300000" y="8640000"/>
            <a:ext cx="3419280" cy="35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2" name=""/>
          <p:cNvSpPr/>
          <p:nvPr/>
        </p:nvSpPr>
        <p:spPr>
          <a:xfrm>
            <a:off x="6300000" y="9000000"/>
            <a:ext cx="3419280" cy="35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E720 (EU): continued 4.755 | stopped 1.170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360000" y="9360000"/>
            <a:ext cx="575964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</a:rPr>
              <a:t>e   Local update sequence (schematic)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7200000" y="9540000"/>
            <a:ext cx="269964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Next-step drive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5" name=""/>
          <p:cNvGrpSpPr/>
          <p:nvPr/>
        </p:nvGrpSpPr>
        <p:grpSpPr>
          <a:xfrm>
            <a:off x="7200000" y="10080000"/>
            <a:ext cx="1619640" cy="1079640"/>
            <a:chOff x="7200000" y="10080000"/>
            <a:chExt cx="1619640" cy="1079640"/>
          </a:xfrm>
        </p:grpSpPr>
        <p:grpSp>
          <p:nvGrpSpPr>
            <p:cNvPr id="76" name=""/>
            <p:cNvGrpSpPr/>
            <p:nvPr/>
          </p:nvGrpSpPr>
          <p:grpSpPr>
            <a:xfrm>
              <a:off x="7200000" y="10080000"/>
              <a:ext cx="1619640" cy="1079640"/>
              <a:chOff x="7200000" y="10080000"/>
              <a:chExt cx="1619640" cy="1079640"/>
            </a:xfrm>
          </p:grpSpPr>
          <p:sp>
            <p:nvSpPr>
              <p:cNvPr id="77" name=""/>
              <p:cNvSpPr/>
              <p:nvPr/>
            </p:nvSpPr>
            <p:spPr>
              <a:xfrm>
                <a:off x="7200000" y="10080000"/>
                <a:ext cx="539640" cy="539640"/>
              </a:xfrm>
              <a:prstGeom prst="rect">
                <a:avLst/>
              </a:prstGeom>
              <a:solidFill>
                <a:srgbClr val="e8eef0"/>
              </a:solidFill>
              <a:ln w="0">
                <a:solidFill>
                  <a:srgbClr val="8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78" name=""/>
              <p:cNvSpPr/>
              <p:nvPr/>
            </p:nvSpPr>
            <p:spPr>
              <a:xfrm>
                <a:off x="7740000" y="10080000"/>
                <a:ext cx="539640" cy="539640"/>
              </a:xfrm>
              <a:prstGeom prst="rect">
                <a:avLst/>
              </a:prstGeom>
              <a:solidFill>
                <a:srgbClr val="e8eef0"/>
              </a:solidFill>
              <a:ln w="0">
                <a:solidFill>
                  <a:srgbClr val="8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79" name=""/>
              <p:cNvSpPr/>
              <p:nvPr/>
            </p:nvSpPr>
            <p:spPr>
              <a:xfrm>
                <a:off x="8280000" y="10080000"/>
                <a:ext cx="539640" cy="539640"/>
              </a:xfrm>
              <a:prstGeom prst="rect">
                <a:avLst/>
              </a:prstGeom>
              <a:solidFill>
                <a:srgbClr val="e8eef0"/>
              </a:solidFill>
              <a:ln w="0">
                <a:solidFill>
                  <a:srgbClr val="8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80" name=""/>
              <p:cNvSpPr/>
              <p:nvPr/>
            </p:nvSpPr>
            <p:spPr>
              <a:xfrm>
                <a:off x="8280000" y="10620000"/>
                <a:ext cx="539640" cy="539640"/>
              </a:xfrm>
              <a:prstGeom prst="rect">
                <a:avLst/>
              </a:prstGeom>
              <a:solidFill>
                <a:srgbClr val="e8eef0"/>
              </a:solidFill>
              <a:ln w="0">
                <a:solidFill>
                  <a:srgbClr val="8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81" name=""/>
              <p:cNvSpPr/>
              <p:nvPr/>
            </p:nvSpPr>
            <p:spPr>
              <a:xfrm>
                <a:off x="7740000" y="10620000"/>
                <a:ext cx="539640" cy="539640"/>
              </a:xfrm>
              <a:prstGeom prst="rect">
                <a:avLst/>
              </a:prstGeom>
              <a:solidFill>
                <a:srgbClr val="e8eef0"/>
              </a:solidFill>
              <a:ln w="0">
                <a:solidFill>
                  <a:srgbClr val="8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82" name=""/>
              <p:cNvSpPr/>
              <p:nvPr/>
            </p:nvSpPr>
            <p:spPr>
              <a:xfrm>
                <a:off x="7200000" y="10620000"/>
                <a:ext cx="539640" cy="539640"/>
              </a:xfrm>
              <a:prstGeom prst="rect">
                <a:avLst/>
              </a:prstGeom>
              <a:solidFill>
                <a:srgbClr val="e8eef0"/>
              </a:solidFill>
              <a:ln w="0">
                <a:solidFill>
                  <a:srgbClr val="8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sp>
          <p:nvSpPr>
            <p:cNvPr id="83" name=""/>
            <p:cNvSpPr/>
            <p:nvPr/>
          </p:nvSpPr>
          <p:spPr>
            <a:xfrm>
              <a:off x="8415000" y="10215000"/>
              <a:ext cx="269640" cy="269640"/>
            </a:xfrm>
            <a:prstGeom prst="ellipse">
              <a:avLst/>
            </a:prstGeom>
            <a:solidFill>
              <a:srgbClr val="0072b2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84" name=""/>
            <p:cNvSpPr/>
            <p:nvPr/>
          </p:nvSpPr>
          <p:spPr>
            <a:xfrm>
              <a:off x="8415000" y="10755000"/>
              <a:ext cx="269640" cy="269640"/>
            </a:xfrm>
            <a:prstGeom prst="ellipse">
              <a:avLst/>
            </a:prstGeom>
            <a:solidFill>
              <a:srgbClr val="86bdd0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85" name=""/>
            <p:cNvSpPr/>
            <p:nvPr/>
          </p:nvSpPr>
          <p:spPr>
            <a:xfrm>
              <a:off x="7470000" y="10350000"/>
              <a:ext cx="810000" cy="360"/>
            </a:xfrm>
            <a:prstGeom prst="line">
              <a:avLst/>
            </a:prstGeom>
            <a:ln w="0">
              <a:solidFill>
                <a:srgbClr val="3465a4"/>
              </a:solidFill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86" name=""/>
            <p:cNvSpPr/>
            <p:nvPr/>
          </p:nvSpPr>
          <p:spPr>
            <a:xfrm>
              <a:off x="7470000" y="10890000"/>
              <a:ext cx="810000" cy="360"/>
            </a:xfrm>
            <a:prstGeom prst="line">
              <a:avLst/>
            </a:prstGeom>
            <a:ln w="0">
              <a:solidFill>
                <a:srgbClr val="3465a4"/>
              </a:solidFill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87" name=""/>
          <p:cNvGrpSpPr/>
          <p:nvPr/>
        </p:nvGrpSpPr>
        <p:grpSpPr>
          <a:xfrm>
            <a:off x="3960000" y="10080000"/>
            <a:ext cx="1619640" cy="1079640"/>
            <a:chOff x="3960000" y="10080000"/>
            <a:chExt cx="1619640" cy="1079640"/>
          </a:xfrm>
        </p:grpSpPr>
        <p:grpSp>
          <p:nvGrpSpPr>
            <p:cNvPr id="88" name=""/>
            <p:cNvGrpSpPr/>
            <p:nvPr/>
          </p:nvGrpSpPr>
          <p:grpSpPr>
            <a:xfrm>
              <a:off x="3960000" y="10080000"/>
              <a:ext cx="1619640" cy="1079640"/>
              <a:chOff x="3960000" y="10080000"/>
              <a:chExt cx="1619640" cy="1079640"/>
            </a:xfrm>
          </p:grpSpPr>
          <p:sp>
            <p:nvSpPr>
              <p:cNvPr id="89" name=""/>
              <p:cNvSpPr/>
              <p:nvPr/>
            </p:nvSpPr>
            <p:spPr>
              <a:xfrm>
                <a:off x="3960000" y="10080000"/>
                <a:ext cx="539640" cy="539640"/>
              </a:xfrm>
              <a:prstGeom prst="rect">
                <a:avLst/>
              </a:prstGeom>
              <a:solidFill>
                <a:srgbClr val="e8eef0"/>
              </a:solidFill>
              <a:ln w="0">
                <a:solidFill>
                  <a:srgbClr val="8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90" name=""/>
              <p:cNvSpPr/>
              <p:nvPr/>
            </p:nvSpPr>
            <p:spPr>
              <a:xfrm>
                <a:off x="4500000" y="10080000"/>
                <a:ext cx="539640" cy="539640"/>
              </a:xfrm>
              <a:prstGeom prst="rect">
                <a:avLst/>
              </a:prstGeom>
              <a:solidFill>
                <a:srgbClr val="e8eef0"/>
              </a:solidFill>
              <a:ln w="0">
                <a:solidFill>
                  <a:srgbClr val="8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91" name=""/>
              <p:cNvSpPr/>
              <p:nvPr/>
            </p:nvSpPr>
            <p:spPr>
              <a:xfrm>
                <a:off x="5040000" y="10080000"/>
                <a:ext cx="539640" cy="539640"/>
              </a:xfrm>
              <a:prstGeom prst="rect">
                <a:avLst/>
              </a:prstGeom>
              <a:solidFill>
                <a:srgbClr val="e8eef0"/>
              </a:solidFill>
              <a:ln w="0">
                <a:solidFill>
                  <a:srgbClr val="8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92" name=""/>
              <p:cNvSpPr/>
              <p:nvPr/>
            </p:nvSpPr>
            <p:spPr>
              <a:xfrm>
                <a:off x="5040000" y="10620000"/>
                <a:ext cx="539640" cy="539640"/>
              </a:xfrm>
              <a:prstGeom prst="rect">
                <a:avLst/>
              </a:prstGeom>
              <a:solidFill>
                <a:srgbClr val="e8eef0"/>
              </a:solidFill>
              <a:ln w="0">
                <a:solidFill>
                  <a:srgbClr val="8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93" name=""/>
              <p:cNvSpPr/>
              <p:nvPr/>
            </p:nvSpPr>
            <p:spPr>
              <a:xfrm>
                <a:off x="4500000" y="10620000"/>
                <a:ext cx="539640" cy="539640"/>
              </a:xfrm>
              <a:prstGeom prst="rect">
                <a:avLst/>
              </a:prstGeom>
              <a:solidFill>
                <a:srgbClr val="e8eef0"/>
              </a:solidFill>
              <a:ln w="0">
                <a:solidFill>
                  <a:srgbClr val="8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94" name=""/>
              <p:cNvSpPr/>
              <p:nvPr/>
            </p:nvSpPr>
            <p:spPr>
              <a:xfrm>
                <a:off x="3960000" y="10620000"/>
                <a:ext cx="539640" cy="539640"/>
              </a:xfrm>
              <a:prstGeom prst="rect">
                <a:avLst/>
              </a:prstGeom>
              <a:solidFill>
                <a:srgbClr val="e8eef0"/>
              </a:solidFill>
              <a:ln w="0">
                <a:solidFill>
                  <a:srgbClr val="8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sp>
          <p:nvSpPr>
            <p:cNvPr id="95" name=""/>
            <p:cNvSpPr/>
            <p:nvPr/>
          </p:nvSpPr>
          <p:spPr>
            <a:xfrm>
              <a:off x="4635000" y="10215000"/>
              <a:ext cx="269640" cy="269640"/>
            </a:xfrm>
            <a:prstGeom prst="ellipse">
              <a:avLst/>
            </a:prstGeom>
            <a:solidFill>
              <a:srgbClr val="0072b2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96" name=""/>
            <p:cNvSpPr/>
            <p:nvPr/>
          </p:nvSpPr>
          <p:spPr>
            <a:xfrm>
              <a:off x="4635000" y="10755000"/>
              <a:ext cx="269640" cy="269640"/>
            </a:xfrm>
            <a:prstGeom prst="ellipse">
              <a:avLst/>
            </a:prstGeom>
            <a:solidFill>
              <a:srgbClr val="86bdd0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97" name=""/>
            <p:cNvSpPr/>
            <p:nvPr/>
          </p:nvSpPr>
          <p:spPr>
            <a:xfrm>
              <a:off x="4500000" y="10080000"/>
              <a:ext cx="539640" cy="1079640"/>
            </a:xfrm>
            <a:prstGeom prst="rect">
              <a:avLst/>
            </a:prstGeom>
            <a:noFill/>
            <a:ln w="0">
              <a:solidFill>
                <a:srgbClr val="ff8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98" name=""/>
          <p:cNvSpPr/>
          <p:nvPr/>
        </p:nvSpPr>
        <p:spPr>
          <a:xfrm>
            <a:off x="2592000" y="10440000"/>
            <a:ext cx="1152000" cy="360"/>
          </a:xfrm>
          <a:prstGeom prst="line">
            <a:avLst/>
          </a:prstGeom>
          <a:ln w="0">
            <a:solidFill>
              <a:srgbClr val="33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9" name=""/>
          <p:cNvSpPr/>
          <p:nvPr/>
        </p:nvSpPr>
        <p:spPr>
          <a:xfrm>
            <a:off x="5796000" y="10440000"/>
            <a:ext cx="1080000" cy="360"/>
          </a:xfrm>
          <a:prstGeom prst="line">
            <a:avLst/>
          </a:prstGeom>
          <a:ln w="0">
            <a:solidFill>
              <a:srgbClr val="33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0" name=""/>
          <p:cNvSpPr/>
          <p:nvPr/>
        </p:nvSpPr>
        <p:spPr>
          <a:xfrm>
            <a:off x="360000" y="9720000"/>
            <a:ext cx="233964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State travels with tissue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3960000" y="11232000"/>
            <a:ext cx="287964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Cue-driven z gates m writing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360000" y="11592000"/>
            <a:ext cx="9539640" cy="45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Writing term off; z dynamics, m decay and transport remain active.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Schematic; arrows not to scale.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360000" y="8734320"/>
            <a:ext cx="2159640" cy="62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White: m ≈ 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Grey: ρ &lt; 0.001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288000" y="7560000"/>
            <a:ext cx="89928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m₀ ≈ 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1620000" y="1080000"/>
            <a:ext cx="179640" cy="89640"/>
          </a:xfrm>
          <a:prstGeom prst="rect">
            <a:avLst/>
          </a:prstGeom>
          <a:solidFill>
            <a:srgbClr val="007c9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6" name=""/>
          <p:cNvSpPr/>
          <p:nvPr/>
        </p:nvSpPr>
        <p:spPr>
          <a:xfrm>
            <a:off x="126000" y="6480000"/>
            <a:ext cx="179640" cy="89640"/>
          </a:xfrm>
          <a:prstGeom prst="rect">
            <a:avLst/>
          </a:prstGeom>
          <a:solidFill>
            <a:srgbClr val="007c9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7" name=""/>
          <p:cNvSpPr/>
          <p:nvPr/>
        </p:nvSpPr>
        <p:spPr>
          <a:xfrm>
            <a:off x="2664000" y="5832000"/>
            <a:ext cx="179640" cy="89640"/>
          </a:xfrm>
          <a:prstGeom prst="rect">
            <a:avLst/>
          </a:prstGeom>
          <a:solidFill>
            <a:srgbClr val="007c9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8" name=""/>
          <p:cNvSpPr/>
          <p:nvPr/>
        </p:nvSpPr>
        <p:spPr>
          <a:xfrm>
            <a:off x="1332000" y="4212000"/>
            <a:ext cx="179640" cy="89640"/>
          </a:xfrm>
          <a:prstGeom prst="rect">
            <a:avLst/>
          </a:prstGeom>
          <a:solidFill>
            <a:srgbClr val="6a4c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9" name=""/>
          <p:cNvSpPr/>
          <p:nvPr/>
        </p:nvSpPr>
        <p:spPr>
          <a:xfrm>
            <a:off x="126000" y="7632000"/>
            <a:ext cx="179640" cy="89640"/>
          </a:xfrm>
          <a:prstGeom prst="rect">
            <a:avLst/>
          </a:prstGeom>
          <a:solidFill>
            <a:srgbClr val="6a4c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0" name=""/>
          <p:cNvSpPr/>
          <p:nvPr/>
        </p:nvSpPr>
        <p:spPr>
          <a:xfrm>
            <a:off x="4032000" y="5832000"/>
            <a:ext cx="179640" cy="89640"/>
          </a:xfrm>
          <a:prstGeom prst="rect">
            <a:avLst/>
          </a:prstGeom>
          <a:solidFill>
            <a:srgbClr val="6a4c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grpSp>
        <p:nvGrpSpPr>
          <p:cNvPr id="111" name=""/>
          <p:cNvGrpSpPr/>
          <p:nvPr/>
        </p:nvGrpSpPr>
        <p:grpSpPr>
          <a:xfrm>
            <a:off x="432000" y="10080000"/>
            <a:ext cx="2051640" cy="1079640"/>
            <a:chOff x="432000" y="10080000"/>
            <a:chExt cx="2051640" cy="1079640"/>
          </a:xfrm>
        </p:grpSpPr>
        <p:grpSp>
          <p:nvGrpSpPr>
            <p:cNvPr id="112" name=""/>
            <p:cNvGrpSpPr/>
            <p:nvPr/>
          </p:nvGrpSpPr>
          <p:grpSpPr>
            <a:xfrm>
              <a:off x="864000" y="10080000"/>
              <a:ext cx="1619640" cy="1079640"/>
              <a:chOff x="864000" y="10080000"/>
              <a:chExt cx="1619640" cy="1079640"/>
            </a:xfrm>
          </p:grpSpPr>
          <p:sp>
            <p:nvSpPr>
              <p:cNvPr id="113" name=""/>
              <p:cNvSpPr/>
              <p:nvPr/>
            </p:nvSpPr>
            <p:spPr>
              <a:xfrm>
                <a:off x="864000" y="10080000"/>
                <a:ext cx="539640" cy="539640"/>
              </a:xfrm>
              <a:prstGeom prst="rect">
                <a:avLst/>
              </a:prstGeom>
              <a:solidFill>
                <a:srgbClr val="e8eef0"/>
              </a:solidFill>
              <a:ln w="0">
                <a:solidFill>
                  <a:srgbClr val="8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14" name=""/>
              <p:cNvSpPr/>
              <p:nvPr/>
            </p:nvSpPr>
            <p:spPr>
              <a:xfrm>
                <a:off x="1404000" y="10080000"/>
                <a:ext cx="539640" cy="539640"/>
              </a:xfrm>
              <a:prstGeom prst="rect">
                <a:avLst/>
              </a:prstGeom>
              <a:solidFill>
                <a:srgbClr val="e8eef0"/>
              </a:solidFill>
              <a:ln w="0">
                <a:solidFill>
                  <a:srgbClr val="8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15" name=""/>
              <p:cNvSpPr/>
              <p:nvPr/>
            </p:nvSpPr>
            <p:spPr>
              <a:xfrm>
                <a:off x="1944000" y="10080000"/>
                <a:ext cx="539640" cy="539640"/>
              </a:xfrm>
              <a:prstGeom prst="rect">
                <a:avLst/>
              </a:prstGeom>
              <a:solidFill>
                <a:srgbClr val="e8eef0"/>
              </a:solidFill>
              <a:ln w="0">
                <a:solidFill>
                  <a:srgbClr val="8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16" name=""/>
              <p:cNvSpPr/>
              <p:nvPr/>
            </p:nvSpPr>
            <p:spPr>
              <a:xfrm>
                <a:off x="1944000" y="10620000"/>
                <a:ext cx="539640" cy="539640"/>
              </a:xfrm>
              <a:prstGeom prst="rect">
                <a:avLst/>
              </a:prstGeom>
              <a:solidFill>
                <a:srgbClr val="e8eef0"/>
              </a:solidFill>
              <a:ln w="0">
                <a:solidFill>
                  <a:srgbClr val="8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17" name=""/>
              <p:cNvSpPr/>
              <p:nvPr/>
            </p:nvSpPr>
            <p:spPr>
              <a:xfrm>
                <a:off x="1404000" y="10620000"/>
                <a:ext cx="539640" cy="539640"/>
              </a:xfrm>
              <a:prstGeom prst="rect">
                <a:avLst/>
              </a:prstGeom>
              <a:solidFill>
                <a:srgbClr val="e8eef0"/>
              </a:solidFill>
              <a:ln w="0">
                <a:solidFill>
                  <a:srgbClr val="8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18" name=""/>
              <p:cNvSpPr/>
              <p:nvPr/>
            </p:nvSpPr>
            <p:spPr>
              <a:xfrm>
                <a:off x="864000" y="10620000"/>
                <a:ext cx="539640" cy="539640"/>
              </a:xfrm>
              <a:prstGeom prst="rect">
                <a:avLst/>
              </a:prstGeom>
              <a:solidFill>
                <a:srgbClr val="e8eef0"/>
              </a:solidFill>
              <a:ln w="0">
                <a:solidFill>
                  <a:srgbClr val="8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sp>
          <p:nvSpPr>
            <p:cNvPr id="119" name=""/>
            <p:cNvSpPr/>
            <p:nvPr/>
          </p:nvSpPr>
          <p:spPr>
            <a:xfrm>
              <a:off x="999000" y="10215000"/>
              <a:ext cx="269640" cy="269640"/>
            </a:xfrm>
            <a:prstGeom prst="ellipse">
              <a:avLst/>
            </a:prstGeom>
            <a:solidFill>
              <a:srgbClr val="86bdd0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0" name=""/>
            <p:cNvSpPr/>
            <p:nvPr/>
          </p:nvSpPr>
          <p:spPr>
            <a:xfrm>
              <a:off x="999000" y="10755000"/>
              <a:ext cx="269640" cy="269640"/>
            </a:xfrm>
            <a:prstGeom prst="ellipse">
              <a:avLst/>
            </a:prstGeom>
            <a:solidFill>
              <a:srgbClr val="86bdd0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1" name=""/>
            <p:cNvSpPr/>
            <p:nvPr/>
          </p:nvSpPr>
          <p:spPr>
            <a:xfrm>
              <a:off x="1269000" y="10350000"/>
              <a:ext cx="945000" cy="360"/>
            </a:xfrm>
            <a:prstGeom prst="line">
              <a:avLst/>
            </a:prstGeom>
            <a:ln w="0">
              <a:solidFill>
                <a:srgbClr val="3465a4"/>
              </a:solidFill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2" name=""/>
            <p:cNvSpPr/>
            <p:nvPr/>
          </p:nvSpPr>
          <p:spPr>
            <a:xfrm>
              <a:off x="1269000" y="10890000"/>
              <a:ext cx="945000" cy="360"/>
            </a:xfrm>
            <a:prstGeom prst="line">
              <a:avLst/>
            </a:prstGeom>
            <a:ln w="0">
              <a:solidFill>
                <a:srgbClr val="3465a4"/>
              </a:solidFill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3" name=""/>
            <p:cNvSpPr/>
            <p:nvPr/>
          </p:nvSpPr>
          <p:spPr>
            <a:xfrm>
              <a:off x="432000" y="10269000"/>
              <a:ext cx="269640" cy="134640"/>
            </a:xfrm>
            <a:prstGeom prst="rect">
              <a:avLst/>
            </a:prstGeom>
            <a:solidFill>
              <a:srgbClr val="007c9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24" name=""/>
            <p:cNvSpPr/>
            <p:nvPr/>
          </p:nvSpPr>
          <p:spPr>
            <a:xfrm>
              <a:off x="432000" y="10809000"/>
              <a:ext cx="269640" cy="134640"/>
            </a:xfrm>
            <a:prstGeom prst="rect">
              <a:avLst/>
            </a:prstGeom>
            <a:solidFill>
              <a:srgbClr val="6a4c9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125" name=""/>
          <p:cNvSpPr/>
          <p:nvPr/>
        </p:nvSpPr>
        <p:spPr>
          <a:xfrm>
            <a:off x="3960000" y="9662040"/>
            <a:ext cx="3059640" cy="41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Food contact after movement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540000" y="11340000"/>
            <a:ext cx="287964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Circles: carried memory m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7380000" y="11340000"/>
            <a:ext cx="269964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Energy limit → transport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288000" y="6120000"/>
            <a:ext cx="899640" cy="899640"/>
          </a:xfrm>
          <a:prstGeom prst="rect">
            <a:avLst/>
          </a:prstGeom>
          <a:noFill/>
          <a:ln w="0">
            <a:solidFill>
              <a:srgbClr val="e69f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9" name=""/>
          <p:cNvSpPr/>
          <p:nvPr/>
        </p:nvSpPr>
        <p:spPr>
          <a:xfrm>
            <a:off x="288000" y="7272000"/>
            <a:ext cx="899640" cy="899640"/>
          </a:xfrm>
          <a:prstGeom prst="rect">
            <a:avLst/>
          </a:prstGeom>
          <a:noFill/>
          <a:ln w="0">
            <a:solidFill>
              <a:srgbClr val="e69f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0" name=""/>
          <p:cNvSpPr/>
          <p:nvPr/>
        </p:nvSpPr>
        <p:spPr>
          <a:xfrm>
            <a:off x="1404000" y="6120000"/>
            <a:ext cx="899640" cy="899640"/>
          </a:xfrm>
          <a:prstGeom prst="rect">
            <a:avLst/>
          </a:prstGeom>
          <a:noFill/>
          <a:ln w="0">
            <a:solidFill>
              <a:srgbClr val="e76f6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1" name=""/>
          <p:cNvSpPr/>
          <p:nvPr/>
        </p:nvSpPr>
        <p:spPr>
          <a:xfrm>
            <a:off x="1404000" y="7272000"/>
            <a:ext cx="899640" cy="899640"/>
          </a:xfrm>
          <a:prstGeom prst="rect">
            <a:avLst/>
          </a:prstGeom>
          <a:noFill/>
          <a:ln w="0">
            <a:solidFill>
              <a:srgbClr val="e76f6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2" name=""/>
          <p:cNvSpPr/>
          <p:nvPr/>
        </p:nvSpPr>
        <p:spPr>
          <a:xfrm>
            <a:off x="5400000" y="2699640"/>
            <a:ext cx="215964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M = 20.72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7740000" y="2699640"/>
            <a:ext cx="233964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M = 5.90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5400000" y="5111640"/>
            <a:ext cx="21596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M = 16.13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7740000" y="5111640"/>
            <a:ext cx="23396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M = 8.72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864000" y="10566000"/>
            <a:ext cx="1619640" cy="8964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7" name=""/>
          <p:cNvSpPr/>
          <p:nvPr/>
        </p:nvSpPr>
        <p:spPr>
          <a:xfrm>
            <a:off x="3960000" y="10566000"/>
            <a:ext cx="1619640" cy="8964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8" name=""/>
          <p:cNvSpPr/>
          <p:nvPr/>
        </p:nvSpPr>
        <p:spPr>
          <a:xfrm>
            <a:off x="7200000" y="10566000"/>
            <a:ext cx="1619640" cy="8964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9" name=""/>
          <p:cNvSpPr/>
          <p:nvPr/>
        </p:nvSpPr>
        <p:spPr>
          <a:xfrm>
            <a:off x="2700000" y="9000000"/>
            <a:ext cx="3239640" cy="45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Grey: ρ &lt; 0.001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White: E/ρ near 0.08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6480000" y="8531280"/>
            <a:ext cx="3599640" cy="46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240–720 losses: continued − stopped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Injury −6.062 | Starvation +8.889 M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2026-10-16T20:49:47Z</dcterms:created>
  <dc:creator/>
  <dc:description/>
  <dc:language>zh-CN</dc:language>
  <cp:lastModifiedBy/>
  <cp:lastPrinted>2026-10-16T22:10:05Z</cp:lastPrinted>
  <dcterms:modified xsi:type="dcterms:W3CDTF">2026-10-18T12:45:34Z</dcterms:modified>
  <cp:revision>39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