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7960" cy="154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9E7FA9-0744-4A4B-9122-CA4DCBF262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7960" cy="154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81320" cy="63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34600" cy="63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DD70B0-6CE4-4463-8EE3-BEA0DDFE0D3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34600" cy="63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6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46960" y="173880"/>
            <a:ext cx="93722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Carried evidence changes decisions after reversal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46960" y="603360"/>
            <a:ext cx="9372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Complete parent at 1024 → update / freeze  |  Compact, seed …2101, α = 0.4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246960" y="1024200"/>
            <a:ext cx="2980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1056  First write (−cue channel)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Local write; freeze: none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520440" y="1024200"/>
            <a:ext cx="2980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1191  First action difference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Update left; freeze right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839640" y="1024200"/>
            <a:ext cx="2980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1201  Uptake difference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6.984 vs 0.000154 EU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246960" y="1563480"/>
            <a:ext cx="9372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Events from step tables. Images below are saved post-step fields, not invented intervening states.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246960" y="1828800"/>
            <a:ext cx="712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078920" y="1828800"/>
            <a:ext cx="1865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Update: density 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2980800" y="1828800"/>
            <a:ext cx="1865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Update: Q+ (R−L)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044040" y="1828800"/>
            <a:ext cx="1865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Freeze: density 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955280" y="1828800"/>
            <a:ext cx="1865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Freeze: Q+ (R−L)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46960" y="2843640"/>
            <a:ext cx="785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1056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cue−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1078920" y="2194560"/>
            <a:ext cx="1791720" cy="1791720"/>
          </a:xfrm>
          <a:prstGeom prst="rect">
            <a:avLst/>
          </a:prstGeom>
          <a:ln w="0">
            <a:noFill/>
          </a:ln>
        </p:spPr>
      </p:pic>
      <p:pic>
        <p:nvPicPr>
          <p:cNvPr id="20" name="" descr=""/>
          <p:cNvPicPr/>
          <p:nvPr/>
        </p:nvPicPr>
        <p:blipFill>
          <a:blip r:embed="rId2"/>
          <a:stretch/>
        </p:blipFill>
        <p:spPr>
          <a:xfrm>
            <a:off x="2980800" y="2194560"/>
            <a:ext cx="1791720" cy="1791720"/>
          </a:xfrm>
          <a:prstGeom prst="rect">
            <a:avLst/>
          </a:prstGeom>
          <a:ln w="0">
            <a:noFill/>
          </a:ln>
        </p:spPr>
      </p:pic>
      <p:pic>
        <p:nvPicPr>
          <p:cNvPr id="21" name="" descr=""/>
          <p:cNvPicPr/>
          <p:nvPr/>
        </p:nvPicPr>
        <p:blipFill>
          <a:blip r:embed="rId3"/>
          <a:stretch/>
        </p:blipFill>
        <p:spPr>
          <a:xfrm>
            <a:off x="6044040" y="2194560"/>
            <a:ext cx="1791720" cy="1791720"/>
          </a:xfrm>
          <a:prstGeom prst="rect">
            <a:avLst/>
          </a:prstGeom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4"/>
          <a:stretch/>
        </p:blipFill>
        <p:spPr>
          <a:xfrm>
            <a:off x="7955280" y="2194560"/>
            <a:ext cx="1791720" cy="1791720"/>
          </a:xfrm>
          <a:prstGeom prst="rect">
            <a:avLst/>
          </a:prstGeom>
          <a:ln w="0">
            <a:noFill/>
          </a:ln>
        </p:spPr>
      </p:pic>
      <p:sp>
        <p:nvSpPr>
          <p:cNvPr id="23" name=""/>
          <p:cNvSpPr/>
          <p:nvPr/>
        </p:nvSpPr>
        <p:spPr>
          <a:xfrm>
            <a:off x="246960" y="4709160"/>
            <a:ext cx="785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1201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cue+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" descr=""/>
          <p:cNvPicPr/>
          <p:nvPr/>
        </p:nvPicPr>
        <p:blipFill>
          <a:blip r:embed="rId5"/>
          <a:stretch/>
        </p:blipFill>
        <p:spPr>
          <a:xfrm>
            <a:off x="1078920" y="4060080"/>
            <a:ext cx="1791720" cy="1791720"/>
          </a:xfrm>
          <a:prstGeom prst="rect">
            <a:avLst/>
          </a:prstGeom>
          <a:ln w="0">
            <a:noFill/>
          </a:ln>
        </p:spPr>
      </p:pic>
      <p:pic>
        <p:nvPicPr>
          <p:cNvPr id="25" name="" descr=""/>
          <p:cNvPicPr/>
          <p:nvPr/>
        </p:nvPicPr>
        <p:blipFill>
          <a:blip r:embed="rId6"/>
          <a:stretch/>
        </p:blipFill>
        <p:spPr>
          <a:xfrm>
            <a:off x="2980800" y="4060080"/>
            <a:ext cx="1791720" cy="1791720"/>
          </a:xfrm>
          <a:prstGeom prst="rect">
            <a:avLst/>
          </a:prstGeom>
          <a:ln w="0">
            <a:noFill/>
          </a:ln>
        </p:spPr>
      </p:pic>
      <p:pic>
        <p:nvPicPr>
          <p:cNvPr id="26" name="" descr=""/>
          <p:cNvPicPr/>
          <p:nvPr/>
        </p:nvPicPr>
        <p:blipFill>
          <a:blip r:embed="rId7"/>
          <a:stretch/>
        </p:blipFill>
        <p:spPr>
          <a:xfrm>
            <a:off x="6044040" y="4060080"/>
            <a:ext cx="1791720" cy="1791720"/>
          </a:xfrm>
          <a:prstGeom prst="rect">
            <a:avLst/>
          </a:prstGeom>
          <a:ln w="0">
            <a:noFill/>
          </a:ln>
        </p:spPr>
      </p:pic>
      <p:pic>
        <p:nvPicPr>
          <p:cNvPr id="27" name="" descr=""/>
          <p:cNvPicPr/>
          <p:nvPr/>
        </p:nvPicPr>
        <p:blipFill>
          <a:blip r:embed="rId8"/>
          <a:stretch/>
        </p:blipFill>
        <p:spPr>
          <a:xfrm>
            <a:off x="7955280" y="4060080"/>
            <a:ext cx="1791720" cy="1791720"/>
          </a:xfrm>
          <a:prstGeom prst="rect">
            <a:avLst/>
          </a:prstGeom>
          <a:ln w="0">
            <a:noFill/>
          </a:ln>
        </p:spPr>
      </p:pic>
      <p:sp>
        <p:nvSpPr>
          <p:cNvPr id="28" name=""/>
          <p:cNvSpPr/>
          <p:nvPr/>
        </p:nvSpPr>
        <p:spPr>
          <a:xfrm>
            <a:off x="246960" y="6583680"/>
            <a:ext cx="785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1521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cue+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9"/>
          <a:stretch/>
        </p:blipFill>
        <p:spPr>
          <a:xfrm>
            <a:off x="1078920" y="5934600"/>
            <a:ext cx="1791720" cy="1791720"/>
          </a:xfrm>
          <a:prstGeom prst="rect">
            <a:avLst/>
          </a:prstGeom>
          <a:ln w="0">
            <a:noFill/>
          </a:ln>
        </p:spPr>
      </p:pic>
      <p:pic>
        <p:nvPicPr>
          <p:cNvPr id="30" name="" descr=""/>
          <p:cNvPicPr/>
          <p:nvPr/>
        </p:nvPicPr>
        <p:blipFill>
          <a:blip r:embed="rId10"/>
          <a:stretch/>
        </p:blipFill>
        <p:spPr>
          <a:xfrm>
            <a:off x="2980800" y="5934600"/>
            <a:ext cx="1791720" cy="1791720"/>
          </a:xfrm>
          <a:prstGeom prst="rect">
            <a:avLst/>
          </a:prstGeom>
          <a:ln w="0">
            <a:noFill/>
          </a:ln>
        </p:spPr>
      </p:pic>
      <p:pic>
        <p:nvPicPr>
          <p:cNvPr id="31" name="" descr=""/>
          <p:cNvPicPr/>
          <p:nvPr/>
        </p:nvPicPr>
        <p:blipFill>
          <a:blip r:embed="rId11"/>
          <a:stretch/>
        </p:blipFill>
        <p:spPr>
          <a:xfrm>
            <a:off x="6044040" y="5934600"/>
            <a:ext cx="1791720" cy="1791720"/>
          </a:xfrm>
          <a:prstGeom prst="rect">
            <a:avLst/>
          </a:prstGeom>
          <a:ln w="0">
            <a:noFill/>
          </a:ln>
        </p:spPr>
      </p:pic>
      <p:pic>
        <p:nvPicPr>
          <p:cNvPr id="32" name="" descr=""/>
          <p:cNvPicPr/>
          <p:nvPr/>
        </p:nvPicPr>
        <p:blipFill>
          <a:blip r:embed="rId12"/>
          <a:stretch/>
        </p:blipFill>
        <p:spPr>
          <a:xfrm>
            <a:off x="7955280" y="5934600"/>
            <a:ext cx="1791720" cy="1791720"/>
          </a:xfrm>
          <a:prstGeom prst="rect">
            <a:avLst/>
          </a:prstGeom>
          <a:ln w="0">
            <a:noFill/>
          </a:ln>
        </p:spPr>
      </p:pic>
      <p:pic>
        <p:nvPicPr>
          <p:cNvPr id="33" name="" descr=""/>
          <p:cNvPicPr/>
          <p:nvPr/>
        </p:nvPicPr>
        <p:blipFill>
          <a:blip r:embed="rId13"/>
          <a:stretch/>
        </p:blipFill>
        <p:spPr>
          <a:xfrm>
            <a:off x="1078920" y="7918560"/>
            <a:ext cx="1791720" cy="72720"/>
          </a:xfrm>
          <a:prstGeom prst="rect">
            <a:avLst/>
          </a:prstGeom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14"/>
          <a:stretch/>
        </p:blipFill>
        <p:spPr>
          <a:xfrm>
            <a:off x="6044040" y="7918560"/>
            <a:ext cx="1791720" cy="72720"/>
          </a:xfrm>
          <a:prstGeom prst="rect">
            <a:avLst/>
          </a:prstGeom>
          <a:ln w="0">
            <a:noFill/>
          </a:ln>
        </p:spPr>
      </p:pic>
      <p:sp>
        <p:nvSpPr>
          <p:cNvPr id="35" name=""/>
          <p:cNvSpPr/>
          <p:nvPr/>
        </p:nvSpPr>
        <p:spPr>
          <a:xfrm>
            <a:off x="1042560" y="8019360"/>
            <a:ext cx="46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734200" y="8019360"/>
            <a:ext cx="46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934600" y="801936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−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0.5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839640" y="801936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7626240" y="8019360"/>
            <a:ext cx="639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+0.5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78920" y="8330040"/>
            <a:ext cx="86680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Original periodic 32 × 32 coordinates. Q+ = Q(+cue,R) − Q(+cue,L); grey masks same-frame ρ &lt; 0.001.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257040" y="8729640"/>
            <a:ext cx="9572760" cy="360"/>
          </a:xfrm>
          <a:prstGeom prst="line">
            <a:avLst/>
          </a:prstGeom>
          <a:ln w="9000">
            <a:solidFill>
              <a:srgbClr val="b7b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246960" y="8888040"/>
            <a:ext cx="5540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B  All paired uptake effects: update − freeze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246960" y="9208080"/>
            <a:ext cx="5540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EU over 16 cycles; each cell α = 0.4 / α =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83320" y="9537120"/>
            <a:ext cx="1142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Context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435680" y="9537120"/>
            <a:ext cx="932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Same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514600" y="9537120"/>
            <a:ext cx="1545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Reversal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133160" y="9537120"/>
            <a:ext cx="1545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Independent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83320" y="9857160"/>
            <a:ext cx="11152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Compact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Compact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Ring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Ring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Bilobed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Bilobed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435680" y="9857160"/>
            <a:ext cx="10054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0 /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0 /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0 /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0 /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0 /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0 /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2514600" y="9857160"/>
            <a:ext cx="154512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+41.98 / +41.98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+27.98 / +62.98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+41.65 / +41.65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+27.45 / +62.53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+41.96 / +41.96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+27.92 / +62.85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4133160" y="9857160"/>
            <a:ext cx="154512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-7.00 / +7.00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+0.00 / +7.00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-7.00 / +7.02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+0.00 / +7.03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-7.00 / +7.00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+0.00 / +6.99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46960" y="11411640"/>
            <a:ext cx="5540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1/2 identify the two shared tapes, not independent bodies.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Three shapes × two seeds: six dependent parent contexts.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007680" y="8888040"/>
            <a:ext cx="388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C  Uptake ≠ energy balance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007680" y="9208080"/>
            <a:ext cx="388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Mean E (EU); completed cycles 32–48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557760" y="11272680"/>
            <a:ext cx="3157560" cy="360"/>
          </a:xfrm>
          <a:prstGeom prst="line">
            <a:avLst/>
          </a:prstGeom>
          <a:ln w="9000">
            <a:solidFill>
              <a:srgbClr val="505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" name=""/>
          <p:cNvSpPr/>
          <p:nvPr/>
        </p:nvSpPr>
        <p:spPr>
          <a:xfrm flipV="1">
            <a:off x="6557760" y="9615600"/>
            <a:ext cx="360" cy="1657080"/>
          </a:xfrm>
          <a:prstGeom prst="line">
            <a:avLst/>
          </a:prstGeom>
          <a:ln w="9000">
            <a:solidFill>
              <a:srgbClr val="505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6044040" y="1115568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044040" y="1040580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044040" y="964692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50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400800" y="1130184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32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992000" y="1130184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40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9573840" y="1130184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48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557760" y="9744120"/>
            <a:ext cx="3157200" cy="1371240"/>
          </a:xfrm>
          <a:custGeom>
            <a:avLst/>
            <a:gdLst>
              <a:gd name="textAreaLeft" fmla="*/ 0 w 3157200"/>
              <a:gd name="textAreaRight" fmla="*/ 3157560 w 3157200"/>
              <a:gd name="textAreaTop" fmla="*/ 0 h 1371240"/>
              <a:gd name="textAreaBottom" fmla="*/ 1371600 h 1371240"/>
            </a:gdLst>
            <a:ahLst/>
            <a:rect l="textAreaLeft" t="textAreaTop" r="textAreaRight" b="textAreaBottom"/>
            <a:pathLst>
              <a:path fill="none" w="8771" h="3810">
                <a:moveTo>
                  <a:pt x="0" y="0"/>
                </a:moveTo>
                <a:lnTo>
                  <a:pt x="556" y="317"/>
                </a:lnTo>
                <a:lnTo>
                  <a:pt x="1072" y="635"/>
                </a:lnTo>
                <a:lnTo>
                  <a:pt x="1627" y="913"/>
                </a:lnTo>
                <a:lnTo>
                  <a:pt x="2183" y="1230"/>
                </a:lnTo>
                <a:lnTo>
                  <a:pt x="2739" y="1151"/>
                </a:lnTo>
                <a:lnTo>
                  <a:pt x="3294" y="1468"/>
                </a:lnTo>
                <a:lnTo>
                  <a:pt x="3850" y="1746"/>
                </a:lnTo>
                <a:lnTo>
                  <a:pt x="4406" y="2064"/>
                </a:lnTo>
                <a:lnTo>
                  <a:pt x="4921" y="2143"/>
                </a:lnTo>
                <a:lnTo>
                  <a:pt x="5477" y="2262"/>
                </a:lnTo>
                <a:lnTo>
                  <a:pt x="6033" y="2341"/>
                </a:lnTo>
                <a:lnTo>
                  <a:pt x="6588" y="2659"/>
                </a:lnTo>
                <a:lnTo>
                  <a:pt x="7144" y="2937"/>
                </a:lnTo>
                <a:lnTo>
                  <a:pt x="7700" y="3254"/>
                </a:lnTo>
                <a:lnTo>
                  <a:pt x="8255" y="3532"/>
                </a:lnTo>
                <a:lnTo>
                  <a:pt x="8771" y="3810"/>
                </a:lnTo>
              </a:path>
            </a:pathLst>
          </a:custGeom>
          <a:noFill/>
          <a:ln w="18360">
            <a:solidFill>
              <a:srgbClr val="b65f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557760" y="9744120"/>
            <a:ext cx="3157200" cy="742680"/>
          </a:xfrm>
          <a:custGeom>
            <a:avLst/>
            <a:gdLst>
              <a:gd name="textAreaLeft" fmla="*/ 0 w 3157200"/>
              <a:gd name="textAreaRight" fmla="*/ 3157560 w 3157200"/>
              <a:gd name="textAreaTop" fmla="*/ 0 h 742680"/>
              <a:gd name="textAreaBottom" fmla="*/ 743040 h 742680"/>
            </a:gdLst>
            <a:ahLst/>
            <a:rect l="textAreaLeft" t="textAreaTop" r="textAreaRight" b="textAreaBottom"/>
            <a:pathLst>
              <a:path fill="none" w="8771" h="2064">
                <a:moveTo>
                  <a:pt x="0" y="0"/>
                </a:moveTo>
                <a:lnTo>
                  <a:pt x="556" y="317"/>
                </a:lnTo>
                <a:lnTo>
                  <a:pt x="1072" y="635"/>
                </a:lnTo>
                <a:lnTo>
                  <a:pt x="1627" y="913"/>
                </a:lnTo>
                <a:lnTo>
                  <a:pt x="2183" y="1230"/>
                </a:lnTo>
                <a:lnTo>
                  <a:pt x="2739" y="1151"/>
                </a:lnTo>
                <a:lnTo>
                  <a:pt x="3294" y="1230"/>
                </a:lnTo>
                <a:lnTo>
                  <a:pt x="3850" y="1548"/>
                </a:lnTo>
                <a:lnTo>
                  <a:pt x="4406" y="1667"/>
                </a:lnTo>
                <a:lnTo>
                  <a:pt x="4921" y="1587"/>
                </a:lnTo>
                <a:lnTo>
                  <a:pt x="5477" y="1468"/>
                </a:lnTo>
                <a:lnTo>
                  <a:pt x="6033" y="1587"/>
                </a:lnTo>
                <a:lnTo>
                  <a:pt x="6588" y="1706"/>
                </a:lnTo>
                <a:lnTo>
                  <a:pt x="7144" y="1825"/>
                </a:lnTo>
                <a:lnTo>
                  <a:pt x="7700" y="1945"/>
                </a:lnTo>
                <a:lnTo>
                  <a:pt x="8255" y="2064"/>
                </a:lnTo>
                <a:lnTo>
                  <a:pt x="8771" y="1984"/>
                </a:lnTo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557760" y="9744120"/>
            <a:ext cx="3157200" cy="456840"/>
          </a:xfrm>
          <a:custGeom>
            <a:avLst/>
            <a:gdLst>
              <a:gd name="textAreaLeft" fmla="*/ 0 w 3157200"/>
              <a:gd name="textAreaRight" fmla="*/ 3157560 w 315720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fill="none" w="8771" h="1270">
                <a:moveTo>
                  <a:pt x="0" y="0"/>
                </a:moveTo>
                <a:lnTo>
                  <a:pt x="556" y="317"/>
                </a:lnTo>
                <a:lnTo>
                  <a:pt x="1072" y="436"/>
                </a:lnTo>
                <a:lnTo>
                  <a:pt x="1627" y="754"/>
                </a:lnTo>
                <a:lnTo>
                  <a:pt x="2183" y="833"/>
                </a:lnTo>
                <a:lnTo>
                  <a:pt x="2739" y="754"/>
                </a:lnTo>
                <a:lnTo>
                  <a:pt x="3294" y="675"/>
                </a:lnTo>
                <a:lnTo>
                  <a:pt x="3850" y="794"/>
                </a:lnTo>
                <a:lnTo>
                  <a:pt x="4406" y="714"/>
                </a:lnTo>
                <a:lnTo>
                  <a:pt x="4921" y="635"/>
                </a:lnTo>
                <a:lnTo>
                  <a:pt x="5477" y="595"/>
                </a:lnTo>
                <a:lnTo>
                  <a:pt x="6033" y="714"/>
                </a:lnTo>
                <a:lnTo>
                  <a:pt x="6588" y="873"/>
                </a:lnTo>
                <a:lnTo>
                  <a:pt x="7144" y="992"/>
                </a:lnTo>
                <a:lnTo>
                  <a:pt x="7700" y="1151"/>
                </a:lnTo>
                <a:lnTo>
                  <a:pt x="8255" y="1270"/>
                </a:lnTo>
                <a:lnTo>
                  <a:pt x="8771" y="1230"/>
                </a:lnTo>
              </a:path>
            </a:pathLst>
          </a:custGeom>
          <a:noFill/>
          <a:ln w="18360">
            <a:solidFill>
              <a:srgbClr val="405d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943680" y="9758520"/>
            <a:ext cx="257040" cy="360"/>
          </a:xfrm>
          <a:prstGeom prst="line">
            <a:avLst/>
          </a:prstGeom>
          <a:ln w="27360">
            <a:solidFill>
              <a:srgbClr val="405d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"/>
          <p:cNvSpPr/>
          <p:nvPr/>
        </p:nvSpPr>
        <p:spPr>
          <a:xfrm>
            <a:off x="7629480" y="9758520"/>
            <a:ext cx="257040" cy="360"/>
          </a:xfrm>
          <a:prstGeom prst="line">
            <a:avLst/>
          </a:prstGeom>
          <a:ln w="27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>
            <a:off x="8643960" y="9758520"/>
            <a:ext cx="242640" cy="360"/>
          </a:xfrm>
          <a:prstGeom prst="line">
            <a:avLst/>
          </a:prstGeom>
          <a:ln w="27360">
            <a:solidFill>
              <a:srgbClr val="b65f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6117480" y="11548800"/>
            <a:ext cx="37029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Update ΔE: −23.91 / −14.65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(α0.4 / α1; relative to own parent)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246960" y="11914560"/>
            <a:ext cx="9372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Translated-density host; global actuator and shared energy. Freeze retains capture / payment; no new n/d content.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940440" y="9518760"/>
            <a:ext cx="712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α =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7626240" y="9518760"/>
            <a:ext cx="10054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α = 0.4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8632080" y="9518760"/>
            <a:ext cx="968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Freeze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2026-10-17T23:03:51Z</cp:lastPrinted>
  <dcterms:modified xsi:type="dcterms:W3CDTF">2026-10-18T15:17:26Z</dcterms:modified>
  <cp:revision>205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