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8320" cy="154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D7BE6F-504C-4F6F-9F01-BCCF594067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8320" cy="154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1680" cy="6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4960" cy="6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95BB35-EA90-458C-9990-31D9DCE237D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4960" cy="6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246960" y="173880"/>
            <a:ext cx="937188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Local evidence changes action: two distinct implementations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246960" y="603360"/>
            <a:ext cx="937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Actual chosen contacts supply feedback; hidden relations are not inputs.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57040" y="6486480"/>
            <a:ext cx="9572760" cy="360"/>
          </a:xfrm>
          <a:prstGeom prst="line">
            <a:avLst/>
          </a:prstGeom>
          <a:ln w="9000">
            <a:solidFill>
              <a:srgbClr val="b7b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246960" y="6693480"/>
            <a:ext cx="46717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  Small gains, context-dependent costs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46960" y="7196400"/>
            <a:ext cx="46717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Communication − same-rule no exchange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Mean paired difference across 12 fresh worlds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714480" y="7915320"/>
            <a:ext cx="360" cy="2529000"/>
          </a:xfrm>
          <a:prstGeom prst="line">
            <a:avLst/>
          </a:prstGeom>
          <a:ln w="9000">
            <a:solidFill>
              <a:srgbClr val="aa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283320" y="8019360"/>
            <a:ext cx="1617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719000" y="8019360"/>
            <a:ext cx="858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+0.0037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714480" y="8143920"/>
            <a:ext cx="528840" cy="360"/>
          </a:xfrm>
          <a:prstGeom prst="line">
            <a:avLst/>
          </a:prstGeom>
          <a:ln w="3672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283320" y="8512920"/>
            <a:ext cx="1617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One reversal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719000" y="8512920"/>
            <a:ext cx="858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+0.0032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714480" y="8629560"/>
            <a:ext cx="457200" cy="360"/>
          </a:xfrm>
          <a:prstGeom prst="line">
            <a:avLst/>
          </a:prstGeom>
          <a:ln w="3672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283320" y="8997840"/>
            <a:ext cx="1617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Conflicting checker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719000" y="8997840"/>
            <a:ext cx="858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-0.0061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2842920" y="9115560"/>
            <a:ext cx="871560" cy="360"/>
          </a:xfrm>
          <a:prstGeom prst="line">
            <a:avLst/>
          </a:prstGeom>
          <a:ln w="3672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283320" y="9482400"/>
            <a:ext cx="1617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New sequence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719000" y="9482400"/>
            <a:ext cx="858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-0.0007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 flipH="1">
            <a:off x="3614760" y="9601200"/>
            <a:ext cx="99720" cy="360"/>
          </a:xfrm>
          <a:prstGeom prst="line">
            <a:avLst/>
          </a:prstGeom>
          <a:ln w="3672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283320" y="9966960"/>
            <a:ext cx="1617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Long delay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719000" y="9966960"/>
            <a:ext cx="858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-0.0062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H="1">
            <a:off x="2814480" y="10086840"/>
            <a:ext cx="900000" cy="360"/>
          </a:xfrm>
          <a:prstGeom prst="line">
            <a:avLst/>
          </a:prstGeom>
          <a:ln w="3672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2557440" y="10586880"/>
            <a:ext cx="2300040" cy="360"/>
          </a:xfrm>
          <a:prstGeom prst="line">
            <a:avLst/>
          </a:prstGeom>
          <a:ln w="9000">
            <a:solidFill>
              <a:srgbClr val="505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2404800" y="10634400"/>
            <a:ext cx="7124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−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.008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593520" y="10634400"/>
            <a:ext cx="7124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672440" y="10634400"/>
            <a:ext cx="7124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+.008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83320" y="10972800"/>
            <a:ext cx="4571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Net tokens/action; exploratory 95% paired intervals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Twelve shared worlds; conditions are dependent.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285160" y="6693480"/>
            <a:ext cx="4534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  Recent feedback corrects sooner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285160" y="7196400"/>
            <a:ext cx="4534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Host reversal: cumulative uptake (EU)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Mean of 3 shapes × 2 seeds; dependent contexts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871960" y="10372680"/>
            <a:ext cx="3743280" cy="360"/>
          </a:xfrm>
          <a:prstGeom prst="line">
            <a:avLst/>
          </a:prstGeom>
          <a:ln w="9000">
            <a:solidFill>
              <a:srgbClr val="505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 flipV="1">
            <a:off x="5871960" y="7915320"/>
            <a:ext cx="360" cy="2457360"/>
          </a:xfrm>
          <a:prstGeom prst="line">
            <a:avLst/>
          </a:prstGeom>
          <a:ln w="9000">
            <a:solidFill>
              <a:srgbClr val="505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5358240" y="1025964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358240" y="911664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35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358240" y="797364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70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687640" y="1043316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33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425000" y="1043316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9427320" y="1043316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48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871960" y="9801360"/>
            <a:ext cx="3742560" cy="570600"/>
          </a:xfrm>
          <a:custGeom>
            <a:avLst/>
            <a:gdLst>
              <a:gd name="textAreaLeft" fmla="*/ 0 w 3742560"/>
              <a:gd name="textAreaRight" fmla="*/ 3743280 w 3742560"/>
              <a:gd name="textAreaTop" fmla="*/ 0 h 570600"/>
              <a:gd name="textAreaBottom" fmla="*/ 571320 h 570600"/>
            </a:gdLst>
            <a:ahLst/>
            <a:rect l="textAreaLeft" t="textAreaTop" r="textAreaRight" b="textAreaBottom"/>
            <a:pathLst>
              <a:path fill="none" w="10398" h="1587">
                <a:moveTo>
                  <a:pt x="0" y="1587"/>
                </a:moveTo>
                <a:lnTo>
                  <a:pt x="675" y="1587"/>
                </a:lnTo>
                <a:lnTo>
                  <a:pt x="1389" y="1587"/>
                </a:lnTo>
                <a:lnTo>
                  <a:pt x="2064" y="1587"/>
                </a:lnTo>
                <a:lnTo>
                  <a:pt x="2778" y="952"/>
                </a:lnTo>
                <a:lnTo>
                  <a:pt x="3453" y="952"/>
                </a:lnTo>
                <a:lnTo>
                  <a:pt x="4167" y="952"/>
                </a:lnTo>
                <a:lnTo>
                  <a:pt x="4842" y="952"/>
                </a:lnTo>
                <a:lnTo>
                  <a:pt x="5556" y="635"/>
                </a:lnTo>
                <a:lnTo>
                  <a:pt x="6231" y="317"/>
                </a:lnTo>
                <a:lnTo>
                  <a:pt x="6906" y="0"/>
                </a:lnTo>
                <a:lnTo>
                  <a:pt x="7620" y="0"/>
                </a:lnTo>
                <a:lnTo>
                  <a:pt x="8295" y="0"/>
                </a:lnTo>
                <a:lnTo>
                  <a:pt x="9009" y="0"/>
                </a:lnTo>
                <a:lnTo>
                  <a:pt x="9684" y="0"/>
                </a:lnTo>
                <a:lnTo>
                  <a:pt x="10398" y="0"/>
                </a:lnTo>
              </a:path>
            </a:pathLst>
          </a:custGeom>
          <a:noFill/>
          <a:ln w="18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5871960" y="8672400"/>
            <a:ext cx="3742560" cy="1699560"/>
          </a:xfrm>
          <a:custGeom>
            <a:avLst/>
            <a:gdLst>
              <a:gd name="textAreaLeft" fmla="*/ 0 w 3742560"/>
              <a:gd name="textAreaRight" fmla="*/ 3743280 w 3742560"/>
              <a:gd name="textAreaTop" fmla="*/ 0 h 1699560"/>
              <a:gd name="textAreaBottom" fmla="*/ 1700280 h 1699560"/>
            </a:gdLst>
            <a:ahLst/>
            <a:rect l="textAreaLeft" t="textAreaTop" r="textAreaRight" b="textAreaBottom"/>
            <a:pathLst>
              <a:path fill="none" w="10398" h="4723">
                <a:moveTo>
                  <a:pt x="0" y="4723"/>
                </a:moveTo>
                <a:lnTo>
                  <a:pt x="675" y="4723"/>
                </a:lnTo>
                <a:lnTo>
                  <a:pt x="1389" y="4723"/>
                </a:lnTo>
                <a:lnTo>
                  <a:pt x="2064" y="4723"/>
                </a:lnTo>
                <a:lnTo>
                  <a:pt x="2778" y="4088"/>
                </a:lnTo>
                <a:lnTo>
                  <a:pt x="3453" y="3771"/>
                </a:lnTo>
                <a:lnTo>
                  <a:pt x="4167" y="3771"/>
                </a:lnTo>
                <a:lnTo>
                  <a:pt x="4842" y="3453"/>
                </a:lnTo>
                <a:lnTo>
                  <a:pt x="5556" y="2818"/>
                </a:lnTo>
                <a:lnTo>
                  <a:pt x="6231" y="2183"/>
                </a:lnTo>
                <a:lnTo>
                  <a:pt x="6906" y="1866"/>
                </a:lnTo>
                <a:lnTo>
                  <a:pt x="7620" y="1548"/>
                </a:lnTo>
                <a:lnTo>
                  <a:pt x="8295" y="1231"/>
                </a:lnTo>
                <a:lnTo>
                  <a:pt x="9009" y="953"/>
                </a:lnTo>
                <a:lnTo>
                  <a:pt x="9684" y="635"/>
                </a:lnTo>
                <a:lnTo>
                  <a:pt x="10398" y="0"/>
                </a:lnTo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5871960" y="8101080"/>
            <a:ext cx="3742560" cy="2270880"/>
          </a:xfrm>
          <a:custGeom>
            <a:avLst/>
            <a:gdLst>
              <a:gd name="textAreaLeft" fmla="*/ 0 w 3742560"/>
              <a:gd name="textAreaRight" fmla="*/ 3743280 w 3742560"/>
              <a:gd name="textAreaTop" fmla="*/ 0 h 2270880"/>
              <a:gd name="textAreaBottom" fmla="*/ 2271600 h 2270880"/>
            </a:gdLst>
            <a:ahLst/>
            <a:rect l="textAreaLeft" t="textAreaTop" r="textAreaRight" b="textAreaBottom"/>
            <a:pathLst>
              <a:path fill="none" w="10398" h="6310">
                <a:moveTo>
                  <a:pt x="0" y="6310"/>
                </a:moveTo>
                <a:lnTo>
                  <a:pt x="675" y="5993"/>
                </a:lnTo>
                <a:lnTo>
                  <a:pt x="1389" y="5993"/>
                </a:lnTo>
                <a:lnTo>
                  <a:pt x="2064" y="5675"/>
                </a:lnTo>
                <a:lnTo>
                  <a:pt x="2778" y="5040"/>
                </a:lnTo>
                <a:lnTo>
                  <a:pt x="3453" y="4405"/>
                </a:lnTo>
                <a:lnTo>
                  <a:pt x="4167" y="4088"/>
                </a:lnTo>
                <a:lnTo>
                  <a:pt x="4842" y="3453"/>
                </a:lnTo>
                <a:lnTo>
                  <a:pt x="5556" y="2818"/>
                </a:lnTo>
                <a:lnTo>
                  <a:pt x="6231" y="2222"/>
                </a:lnTo>
                <a:lnTo>
                  <a:pt x="6906" y="1905"/>
                </a:lnTo>
                <a:lnTo>
                  <a:pt x="7620" y="1587"/>
                </a:lnTo>
                <a:lnTo>
                  <a:pt x="8295" y="1270"/>
                </a:lnTo>
                <a:lnTo>
                  <a:pt x="9009" y="952"/>
                </a:lnTo>
                <a:lnTo>
                  <a:pt x="9684" y="635"/>
                </a:lnTo>
                <a:lnTo>
                  <a:pt x="10398" y="0"/>
                </a:lnTo>
              </a:path>
            </a:pathLst>
          </a:custGeom>
          <a:noFill/>
          <a:ln w="18360">
            <a:solidFill>
              <a:srgbClr val="405d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5943600" y="8029440"/>
            <a:ext cx="242640" cy="360"/>
          </a:xfrm>
          <a:prstGeom prst="line">
            <a:avLst/>
          </a:prstGeom>
          <a:ln w="27360">
            <a:solidFill>
              <a:srgbClr val="405d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6263640" y="7918560"/>
            <a:ext cx="1791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α = 1 (last contact)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943600" y="8315280"/>
            <a:ext cx="242640" cy="360"/>
          </a:xfrm>
          <a:prstGeom prst="line">
            <a:avLst/>
          </a:prstGeom>
          <a:ln w="27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6263640" y="820224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α = 0.4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943600" y="8601120"/>
            <a:ext cx="242640" cy="360"/>
          </a:xfrm>
          <a:prstGeom prst="line">
            <a:avLst/>
          </a:prstGeom>
          <a:ln w="27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6263640" y="849492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Freeze, still paid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196400" y="10798920"/>
            <a:ext cx="1974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Cycle (1-based)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285160" y="11155680"/>
            <a:ext cx="44982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α = 1 corrects sooner in this test.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Higher uptake is not sustained energy balance.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46960" y="11695320"/>
            <a:ext cx="937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Distinct implementations and cost units; neither test establishes a unified algorithm or Lenia adaptation.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46960" y="1115640"/>
            <a:ext cx="4571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 Fixed units: delayed chosen contact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46960" y="1490400"/>
            <a:ext cx="4534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Illustrative unit; cue +1, choose right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99960" y="1886040"/>
            <a:ext cx="713520" cy="585000"/>
          </a:xfrm>
          <a:custGeom>
            <a:avLst/>
            <a:gdLst>
              <a:gd name="textAreaLeft" fmla="*/ 0 w 713520"/>
              <a:gd name="textAreaRight" fmla="*/ 714240 w 713520"/>
              <a:gd name="textAreaTop" fmla="*/ 0 h 585000"/>
              <a:gd name="textAreaBottom" fmla="*/ 585720 h 585000"/>
            </a:gdLst>
            <a:ahLst/>
            <a:rect l="textAreaLeft" t="textAreaTop" r="textAreaRight" b="textAreaBottom"/>
            <a:pathLst>
              <a:path w="1984" h="1627">
                <a:moveTo>
                  <a:pt x="0" y="0"/>
                </a:moveTo>
                <a:lnTo>
                  <a:pt x="1984" y="0"/>
                </a:lnTo>
                <a:lnTo>
                  <a:pt x="1984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a1ab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1657080" y="1886040"/>
            <a:ext cx="756720" cy="585000"/>
          </a:xfrm>
          <a:custGeom>
            <a:avLst/>
            <a:gdLst>
              <a:gd name="textAreaLeft" fmla="*/ 0 w 756720"/>
              <a:gd name="textAreaRight" fmla="*/ 757440 w 756720"/>
              <a:gd name="textAreaTop" fmla="*/ 0 h 585000"/>
              <a:gd name="textAreaBottom" fmla="*/ 585720 h 585000"/>
            </a:gdLst>
            <a:ahLst/>
            <a:rect l="textAreaLeft" t="textAreaTop" r="textAreaRight" b="textAreaBottom"/>
            <a:pathLst>
              <a:path w="2104" h="1627">
                <a:moveTo>
                  <a:pt x="0" y="0"/>
                </a:moveTo>
                <a:lnTo>
                  <a:pt x="2104" y="0"/>
                </a:lnTo>
                <a:lnTo>
                  <a:pt x="2104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3314520" y="1886040"/>
            <a:ext cx="756720" cy="585000"/>
          </a:xfrm>
          <a:custGeom>
            <a:avLst/>
            <a:gdLst>
              <a:gd name="textAreaLeft" fmla="*/ 0 w 756720"/>
              <a:gd name="textAreaRight" fmla="*/ 757440 w 756720"/>
              <a:gd name="textAreaTop" fmla="*/ 0 h 585000"/>
              <a:gd name="textAreaBottom" fmla="*/ 585720 h 585000"/>
            </a:gdLst>
            <a:ahLst/>
            <a:rect l="textAreaLeft" t="textAreaTop" r="textAreaRight" b="textAreaBottom"/>
            <a:pathLst>
              <a:path w="2104" h="1627">
                <a:moveTo>
                  <a:pt x="0" y="0"/>
                </a:moveTo>
                <a:lnTo>
                  <a:pt x="2104" y="0"/>
                </a:lnTo>
                <a:lnTo>
                  <a:pt x="2104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567000" y="2030040"/>
            <a:ext cx="4291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737360" y="2030040"/>
            <a:ext cx="639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Unit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420000" y="195696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hit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114200" y="2171520"/>
            <a:ext cx="542880" cy="360"/>
          </a:xfrm>
          <a:prstGeom prst="line">
            <a:avLst/>
          </a:prstGeom>
          <a:ln w="9000">
            <a:solidFill>
              <a:srgbClr val="a1ab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2414520" y="2171520"/>
            <a:ext cx="885600" cy="360"/>
          </a:xfrm>
          <a:prstGeom prst="line">
            <a:avLst/>
          </a:prstGeom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3186000" y="2114640"/>
            <a:ext cx="113400" cy="11340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400"/>
              <a:gd name="textAreaBottom" fmla="*/ 114120 h 113400"/>
            </a:gdLst>
            <a:ahLst/>
            <a:rect l="textAreaLeft" t="textAreaTop" r="textAreaRight" b="textAreaBottom"/>
            <a:pathLst>
              <a:path fill="none" w="317" h="317">
                <a:moveTo>
                  <a:pt x="0" y="317"/>
                </a:moveTo>
                <a:lnTo>
                  <a:pt x="317" y="158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2532960" y="1828800"/>
            <a:ext cx="749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selected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257120" y="2743200"/>
            <a:ext cx="2885400" cy="442080"/>
          </a:xfrm>
          <a:custGeom>
            <a:avLst/>
            <a:gdLst>
              <a:gd name="textAreaLeft" fmla="*/ 0 w 2885400"/>
              <a:gd name="textAreaRight" fmla="*/ 2886120 w 2885400"/>
              <a:gd name="textAreaTop" fmla="*/ 0 h 442080"/>
              <a:gd name="textAreaBottom" fmla="*/ 442800 h 442080"/>
            </a:gdLst>
            <a:ahLst/>
            <a:rect l="textAreaLeft" t="textAreaTop" r="textAreaRight" b="textAreaBottom"/>
            <a:pathLst>
              <a:path w="8017" h="1230">
                <a:moveTo>
                  <a:pt x="0" y="0"/>
                </a:moveTo>
                <a:lnTo>
                  <a:pt x="8017" y="0"/>
                </a:lnTo>
                <a:lnTo>
                  <a:pt x="8017" y="1230"/>
                </a:lnTo>
                <a:lnTo>
                  <a:pt x="0" y="123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7c8c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1307520" y="2779920"/>
            <a:ext cx="2806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Eligibility: retain cue × action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028600" y="2486160"/>
            <a:ext cx="360" cy="228600"/>
          </a:xfrm>
          <a:prstGeom prst="line">
            <a:avLst/>
          </a:prstGeom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1971720" y="2600280"/>
            <a:ext cx="113400" cy="11376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760"/>
              <a:gd name="textAreaBottom" fmla="*/ 114480 h 113760"/>
            </a:gdLst>
            <a:ahLst/>
            <a:rect l="textAreaLeft" t="textAreaTop" r="textAreaRight" b="textAreaBottom"/>
            <a:pathLst>
              <a:path fill="none" w="317" h="318">
                <a:moveTo>
                  <a:pt x="0" y="0"/>
                </a:moveTo>
                <a:lnTo>
                  <a:pt x="158" y="318"/>
                </a:lnTo>
                <a:lnTo>
                  <a:pt x="317" y="0"/>
                </a:lnTo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3671640" y="2486160"/>
            <a:ext cx="360" cy="228600"/>
          </a:xfrm>
          <a:prstGeom prst="line">
            <a:avLst/>
          </a:prstGeom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3614760" y="2600280"/>
            <a:ext cx="113400" cy="11376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760"/>
              <a:gd name="textAreaBottom" fmla="*/ 114480 h 113760"/>
            </a:gdLst>
            <a:ahLst/>
            <a:rect l="textAreaLeft" t="textAreaTop" r="textAreaRight" b="textAreaBottom"/>
            <a:pathLst>
              <a:path fill="none" w="317" h="318">
                <a:moveTo>
                  <a:pt x="0" y="0"/>
                </a:moveTo>
                <a:lnTo>
                  <a:pt x="158" y="318"/>
                </a:lnTo>
                <a:lnTo>
                  <a:pt x="317" y="0"/>
                </a:lnTo>
              </a:path>
            </a:pathLst>
          </a:custGeom>
          <a:noFill/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356760" y="3200400"/>
            <a:ext cx="10782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Paid write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57120" y="3643200"/>
            <a:ext cx="1870920" cy="656640"/>
          </a:xfrm>
          <a:custGeom>
            <a:avLst/>
            <a:gdLst>
              <a:gd name="textAreaLeft" fmla="*/ 0 w 1870920"/>
              <a:gd name="textAreaRight" fmla="*/ 1871640 w 1870920"/>
              <a:gd name="textAreaTop" fmla="*/ 0 h 656640"/>
              <a:gd name="textAreaBottom" fmla="*/ 657360 h 656640"/>
            </a:gdLst>
            <a:ahLst/>
            <a:rect l="textAreaLeft" t="textAreaTop" r="textAreaRight" b="textAreaBottom"/>
            <a:pathLst>
              <a:path w="5199" h="1826">
                <a:moveTo>
                  <a:pt x="0" y="0"/>
                </a:moveTo>
                <a:lnTo>
                  <a:pt x="5199" y="0"/>
                </a:lnTo>
                <a:lnTo>
                  <a:pt x="5199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2914560" y="3643200"/>
            <a:ext cx="1842480" cy="656640"/>
          </a:xfrm>
          <a:custGeom>
            <a:avLst/>
            <a:gdLst>
              <a:gd name="textAreaLeft" fmla="*/ 0 w 1842480"/>
              <a:gd name="textAreaRight" fmla="*/ 1843200 w 1842480"/>
              <a:gd name="textAreaTop" fmla="*/ 0 h 656640"/>
              <a:gd name="textAreaBottom" fmla="*/ 657360 h 656640"/>
            </a:gdLst>
            <a:ahLst/>
            <a:rect l="textAreaLeft" t="textAreaTop" r="textAreaRight" b="textAreaBottom"/>
            <a:pathLst>
              <a:path w="5120" h="1826">
                <a:moveTo>
                  <a:pt x="0" y="0"/>
                </a:moveTo>
                <a:lnTo>
                  <a:pt x="5120" y="0"/>
                </a:lnTo>
                <a:lnTo>
                  <a:pt x="5120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>
            <a:off x="448200" y="3694320"/>
            <a:ext cx="1709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Direct n/z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Local contact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999160" y="3694320"/>
            <a:ext cx="1672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Borrowed bn/bz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Copy / exchange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528560" y="3200400"/>
            <a:ext cx="360" cy="414360"/>
          </a:xfrm>
          <a:prstGeom prst="line">
            <a:avLst/>
          </a:prstGeom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1471320" y="3500280"/>
            <a:ext cx="113760" cy="113760"/>
          </a:xfrm>
          <a:custGeom>
            <a:avLst/>
            <a:gdLst>
              <a:gd name="textAreaLeft" fmla="*/ 0 w 113760"/>
              <a:gd name="textAreaRight" fmla="*/ 114480 w 113760"/>
              <a:gd name="textAreaTop" fmla="*/ 0 h 113760"/>
              <a:gd name="textAreaBottom" fmla="*/ 114480 h 113760"/>
            </a:gdLst>
            <a:ahLst/>
            <a:rect l="textAreaLeft" t="textAreaTop" r="textAreaRight" b="textAreaBottom"/>
            <a:pathLst>
              <a:path fill="none" w="318" h="318">
                <a:moveTo>
                  <a:pt x="0" y="0"/>
                </a:moveTo>
                <a:lnTo>
                  <a:pt x="159" y="318"/>
                </a:lnTo>
                <a:lnTo>
                  <a:pt x="318" y="0"/>
                </a:lnTo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2243160" y="3957480"/>
            <a:ext cx="657000" cy="360"/>
          </a:xfrm>
          <a:prstGeom prst="line">
            <a:avLst/>
          </a:prstGeom>
          <a:ln w="18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2786040" y="3900600"/>
            <a:ext cx="113400" cy="11340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400"/>
              <a:gd name="textAreaBottom" fmla="*/ 114120 h 113400"/>
            </a:gdLst>
            <a:ahLst/>
            <a:rect l="textAreaLeft" t="textAreaTop" r="textAreaRight" b="textAreaBottom"/>
            <a:pathLst>
              <a:path fill="none" w="317" h="317">
                <a:moveTo>
                  <a:pt x="0" y="317"/>
                </a:moveTo>
                <a:lnTo>
                  <a:pt x="317" y="158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2267640" y="4078080"/>
            <a:ext cx="6760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214520" y="3200400"/>
            <a:ext cx="156600" cy="170640"/>
          </a:xfrm>
          <a:custGeom>
            <a:avLst/>
            <a:gdLst>
              <a:gd name="textAreaLeft" fmla="*/ 0 w 156600"/>
              <a:gd name="textAreaRight" fmla="*/ 157320 w 156600"/>
              <a:gd name="textAreaTop" fmla="*/ 0 h 170640"/>
              <a:gd name="textAreaBottom" fmla="*/ 171360 h 170640"/>
            </a:gdLst>
            <a:ahLst/>
            <a:rect l="textAreaLeft" t="textAreaTop" r="textAreaRight" b="textAreaBottom"/>
            <a:pathLst>
              <a:path w="437" h="476">
                <a:moveTo>
                  <a:pt x="0" y="0"/>
                </a:moveTo>
                <a:lnTo>
                  <a:pt x="437" y="0"/>
                </a:lnTo>
                <a:lnTo>
                  <a:pt x="437" y="476"/>
                </a:lnTo>
                <a:lnTo>
                  <a:pt x="0" y="476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4500360" y="3200400"/>
            <a:ext cx="156600" cy="170640"/>
          </a:xfrm>
          <a:custGeom>
            <a:avLst/>
            <a:gdLst>
              <a:gd name="textAreaLeft" fmla="*/ 0 w 156600"/>
              <a:gd name="textAreaRight" fmla="*/ 157320 w 156600"/>
              <a:gd name="textAreaTop" fmla="*/ 0 h 170640"/>
              <a:gd name="textAreaBottom" fmla="*/ 171360 h 170640"/>
            </a:gdLst>
            <a:ahLst/>
            <a:rect l="textAreaLeft" t="textAreaTop" r="textAreaRight" b="textAreaBottom"/>
            <a:pathLst>
              <a:path w="437" h="476">
                <a:moveTo>
                  <a:pt x="0" y="0"/>
                </a:moveTo>
                <a:lnTo>
                  <a:pt x="437" y="0"/>
                </a:lnTo>
                <a:lnTo>
                  <a:pt x="437" y="476"/>
                </a:lnTo>
                <a:lnTo>
                  <a:pt x="0" y="476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>
            <a:off x="4371840" y="3386160"/>
            <a:ext cx="360" cy="228600"/>
          </a:xfrm>
          <a:prstGeom prst="line">
            <a:avLst/>
          </a:prstGeom>
          <a:ln w="18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4314600" y="3500280"/>
            <a:ext cx="113760" cy="113760"/>
          </a:xfrm>
          <a:custGeom>
            <a:avLst/>
            <a:gdLst>
              <a:gd name="textAreaLeft" fmla="*/ 0 w 113760"/>
              <a:gd name="textAreaRight" fmla="*/ 114480 w 113760"/>
              <a:gd name="textAreaTop" fmla="*/ 0 h 113760"/>
              <a:gd name="textAreaBottom" fmla="*/ 114480 h 113760"/>
            </a:gdLst>
            <a:ahLst/>
            <a:rect l="textAreaLeft" t="textAreaTop" r="textAreaRight" b="textAreaBottom"/>
            <a:pathLst>
              <a:path fill="none" w="318" h="318">
                <a:moveTo>
                  <a:pt x="0" y="0"/>
                </a:moveTo>
                <a:lnTo>
                  <a:pt x="159" y="318"/>
                </a:lnTo>
                <a:lnTo>
                  <a:pt x="318" y="0"/>
                </a:lnTo>
              </a:path>
            </a:pathLst>
          </a:custGeom>
          <a:noFill/>
          <a:ln w="18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"/>
          <p:cNvSpPr/>
          <p:nvPr/>
        </p:nvSpPr>
        <p:spPr>
          <a:xfrm>
            <a:off x="942840" y="4900680"/>
            <a:ext cx="3814200" cy="656280"/>
          </a:xfrm>
          <a:custGeom>
            <a:avLst/>
            <a:gdLst>
              <a:gd name="textAreaLeft" fmla="*/ 0 w 3814200"/>
              <a:gd name="textAreaRight" fmla="*/ 3814920 w 3814200"/>
              <a:gd name="textAreaTop" fmla="*/ 0 h 656280"/>
              <a:gd name="textAreaBottom" fmla="*/ 657000 h 656280"/>
            </a:gdLst>
            <a:ahLst/>
            <a:rect l="textAreaLeft" t="textAreaTop" r="textAreaRight" b="textAreaBottom"/>
            <a:pathLst>
              <a:path w="10597" h="1825">
                <a:moveTo>
                  <a:pt x="0" y="0"/>
                </a:moveTo>
                <a:lnTo>
                  <a:pt x="10597" y="0"/>
                </a:lnTo>
                <a:lnTo>
                  <a:pt x="10597" y="1825"/>
                </a:lnTo>
                <a:lnTo>
                  <a:pt x="0" y="182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1024200" y="4946760"/>
            <a:ext cx="3611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Conflict gate ↓ borrowed weight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Read (n + w bn) / (z + w bz + ε) → P(right)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299960" y="4314960"/>
            <a:ext cx="285840" cy="556920"/>
          </a:xfrm>
          <a:prstGeom prst="line">
            <a:avLst/>
          </a:prstGeom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1485720" y="4743360"/>
            <a:ext cx="99360" cy="127800"/>
          </a:xfrm>
          <a:custGeom>
            <a:avLst/>
            <a:gdLst>
              <a:gd name="textAreaLeft" fmla="*/ 0 w 99360"/>
              <a:gd name="textAreaRight" fmla="*/ 100080 w 99360"/>
              <a:gd name="textAreaTop" fmla="*/ 0 h 127800"/>
              <a:gd name="textAreaBottom" fmla="*/ 128520 h 127800"/>
            </a:gdLst>
            <a:ahLst/>
            <a:rect l="textAreaLeft" t="textAreaTop" r="textAreaRight" b="textAreaBottom"/>
            <a:pathLst>
              <a:path fill="none" w="278" h="357">
                <a:moveTo>
                  <a:pt x="0" y="159"/>
                </a:moveTo>
                <a:lnTo>
                  <a:pt x="278" y="357"/>
                </a:lnTo>
                <a:lnTo>
                  <a:pt x="278" y="0"/>
                </a:lnTo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"/>
          <p:cNvSpPr/>
          <p:nvPr/>
        </p:nvSpPr>
        <p:spPr>
          <a:xfrm>
            <a:off x="3857400" y="4314960"/>
            <a:ext cx="360" cy="556920"/>
          </a:xfrm>
          <a:prstGeom prst="line">
            <a:avLst/>
          </a:prstGeom>
          <a:ln w="18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3800520" y="4757760"/>
            <a:ext cx="113400" cy="11340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400"/>
              <a:gd name="textAreaBottom" fmla="*/ 114120 h 113400"/>
            </a:gdLst>
            <a:ahLst/>
            <a:rect l="textAreaLeft" t="textAreaTop" r="textAreaRight" b="textAreaBottom"/>
            <a:pathLst>
              <a:path fill="none" w="317" h="317">
                <a:moveTo>
                  <a:pt x="0" y="0"/>
                </a:moveTo>
                <a:lnTo>
                  <a:pt x="158" y="317"/>
                </a:lnTo>
                <a:lnTo>
                  <a:pt x="317" y="0"/>
                </a:lnTo>
              </a:path>
            </a:pathLst>
          </a:custGeom>
          <a:noFill/>
          <a:ln w="18360">
            <a:solidFill>
              <a:srgbClr val="7956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283320" y="5751720"/>
            <a:ext cx="44982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Actual [2,2], same cue: 25→27 left hit; 72→74 right hit.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Illustrative recorded contacts; token-priced prototype.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248800" y="1115640"/>
            <a:ext cx="4571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  Carried evidence: hand-set n / 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248800" y="1490400"/>
            <a:ext cx="4571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α = 0.4 or 1; shared energy / global action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514840" y="1928880"/>
            <a:ext cx="213480" cy="213480"/>
          </a:xfrm>
          <a:custGeom>
            <a:avLst/>
            <a:gdLst>
              <a:gd name="textAreaLeft" fmla="*/ 0 w 213480"/>
              <a:gd name="textAreaRight" fmla="*/ 214200 w 2134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595" h="595">
                <a:moveTo>
                  <a:pt x="0" y="0"/>
                </a:moveTo>
                <a:lnTo>
                  <a:pt x="595" y="0"/>
                </a:lnTo>
                <a:lnTo>
                  <a:pt x="59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5757840" y="1928880"/>
            <a:ext cx="227880" cy="213480"/>
          </a:xfrm>
          <a:custGeom>
            <a:avLst/>
            <a:gdLst>
              <a:gd name="textAreaLeft" fmla="*/ 0 w 227880"/>
              <a:gd name="textAreaRight" fmla="*/ 228600 w 2278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635" h="595">
                <a:moveTo>
                  <a:pt x="0" y="0"/>
                </a:moveTo>
                <a:lnTo>
                  <a:pt x="635" y="0"/>
                </a:lnTo>
                <a:lnTo>
                  <a:pt x="63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6014880" y="1928880"/>
            <a:ext cx="213480" cy="213480"/>
          </a:xfrm>
          <a:custGeom>
            <a:avLst/>
            <a:gdLst>
              <a:gd name="textAreaLeft" fmla="*/ 0 w 213480"/>
              <a:gd name="textAreaRight" fmla="*/ 214200 w 2134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595" h="595">
                <a:moveTo>
                  <a:pt x="0" y="0"/>
                </a:moveTo>
                <a:lnTo>
                  <a:pt x="595" y="0"/>
                </a:lnTo>
                <a:lnTo>
                  <a:pt x="59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7129440" y="1928880"/>
            <a:ext cx="227880" cy="213480"/>
          </a:xfrm>
          <a:custGeom>
            <a:avLst/>
            <a:gdLst>
              <a:gd name="textAreaLeft" fmla="*/ 0 w 227880"/>
              <a:gd name="textAreaRight" fmla="*/ 228600 w 2278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635" h="595">
                <a:moveTo>
                  <a:pt x="0" y="0"/>
                </a:moveTo>
                <a:lnTo>
                  <a:pt x="635" y="0"/>
                </a:lnTo>
                <a:lnTo>
                  <a:pt x="63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7386480" y="1928880"/>
            <a:ext cx="213480" cy="213480"/>
          </a:xfrm>
          <a:custGeom>
            <a:avLst/>
            <a:gdLst>
              <a:gd name="textAreaLeft" fmla="*/ 0 w 213480"/>
              <a:gd name="textAreaRight" fmla="*/ 214200 w 2134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595" h="595">
                <a:moveTo>
                  <a:pt x="0" y="0"/>
                </a:moveTo>
                <a:lnTo>
                  <a:pt x="595" y="0"/>
                </a:lnTo>
                <a:lnTo>
                  <a:pt x="59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7629480" y="1928880"/>
            <a:ext cx="227880" cy="213480"/>
          </a:xfrm>
          <a:custGeom>
            <a:avLst/>
            <a:gdLst>
              <a:gd name="textAreaLeft" fmla="*/ 0 w 227880"/>
              <a:gd name="textAreaRight" fmla="*/ 228600 w 2278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635" h="595">
                <a:moveTo>
                  <a:pt x="0" y="0"/>
                </a:moveTo>
                <a:lnTo>
                  <a:pt x="635" y="0"/>
                </a:lnTo>
                <a:lnTo>
                  <a:pt x="63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c978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7629480" y="1928880"/>
            <a:ext cx="228600" cy="214200"/>
          </a:xfrm>
          <a:prstGeom prst="line">
            <a:avLst/>
          </a:prstGeom>
          <a:ln w="9000">
            <a:solidFill>
              <a:srgbClr val="c978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 flipH="1">
            <a:off x="7629480" y="1928880"/>
            <a:ext cx="228600" cy="214200"/>
          </a:xfrm>
          <a:prstGeom prst="line">
            <a:avLst/>
          </a:prstGeom>
          <a:ln w="9000">
            <a:solidFill>
              <a:srgbClr val="c978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9001080" y="1928880"/>
            <a:ext cx="227880" cy="213480"/>
          </a:xfrm>
          <a:custGeom>
            <a:avLst/>
            <a:gdLst>
              <a:gd name="textAreaLeft" fmla="*/ 0 w 227880"/>
              <a:gd name="textAreaRight" fmla="*/ 228600 w 227880"/>
              <a:gd name="textAreaTop" fmla="*/ 0 h 213480"/>
              <a:gd name="textAreaBottom" fmla="*/ 214200 h 213480"/>
            </a:gdLst>
            <a:ahLst/>
            <a:rect l="textAreaLeft" t="textAreaTop" r="textAreaRight" b="textAreaBottom"/>
            <a:pathLst>
              <a:path w="635" h="595">
                <a:moveTo>
                  <a:pt x="0" y="0"/>
                </a:moveTo>
                <a:lnTo>
                  <a:pt x="635" y="0"/>
                </a:lnTo>
                <a:lnTo>
                  <a:pt x="635" y="595"/>
                </a:lnTo>
                <a:lnTo>
                  <a:pt x="0" y="595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8b95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" name=""/>
          <p:cNvSpPr/>
          <p:nvPr/>
        </p:nvSpPr>
        <p:spPr>
          <a:xfrm>
            <a:off x="6343560" y="2028960"/>
            <a:ext cx="671400" cy="360"/>
          </a:xfrm>
          <a:prstGeom prst="line">
            <a:avLst/>
          </a:prstGeom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6900840" y="1971720"/>
            <a:ext cx="113400" cy="11340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400"/>
              <a:gd name="textAreaBottom" fmla="*/ 114120 h 113400"/>
            </a:gdLst>
            <a:ahLst/>
            <a:rect l="textAreaLeft" t="textAreaTop" r="textAreaRight" b="textAreaBottom"/>
            <a:pathLst>
              <a:path fill="none" w="317" h="317">
                <a:moveTo>
                  <a:pt x="0" y="317"/>
                </a:moveTo>
                <a:lnTo>
                  <a:pt x="317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7986600" y="2028960"/>
            <a:ext cx="900000" cy="360"/>
          </a:xfrm>
          <a:prstGeom prst="line">
            <a:avLst/>
          </a:prstGeom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8772480" y="1971720"/>
            <a:ext cx="113400" cy="11340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400"/>
              <a:gd name="textAreaBottom" fmla="*/ 114120 h 113400"/>
            </a:gdLst>
            <a:ahLst/>
            <a:rect l="textAreaLeft" t="textAreaTop" r="textAreaRight" b="textAreaBottom"/>
            <a:pathLst>
              <a:path fill="none" w="317" h="317">
                <a:moveTo>
                  <a:pt x="0" y="317"/>
                </a:moveTo>
                <a:lnTo>
                  <a:pt x="317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5413320" y="2267640"/>
            <a:ext cx="1142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old carrier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940440" y="2267640"/>
            <a:ext cx="15080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move / death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632080" y="2267640"/>
            <a:ext cx="11790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new: no past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394960" y="2697480"/>
            <a:ext cx="420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Local uptake on eligible old survivors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updates only the selected cue / action channel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00760" y="3600360"/>
            <a:ext cx="1870920" cy="1156680"/>
          </a:xfrm>
          <a:custGeom>
            <a:avLst/>
            <a:gdLst>
              <a:gd name="textAreaLeft" fmla="*/ 0 w 1870920"/>
              <a:gd name="textAreaRight" fmla="*/ 1871640 w 1870920"/>
              <a:gd name="textAreaTop" fmla="*/ 0 h 1156680"/>
              <a:gd name="textAreaBottom" fmla="*/ 1157400 h 1156680"/>
            </a:gdLst>
            <a:ahLst/>
            <a:rect l="textAreaLeft" t="textAreaTop" r="textAreaRight" b="textAreaBottom"/>
            <a:pathLst>
              <a:path w="5199" h="3215">
                <a:moveTo>
                  <a:pt x="0" y="0"/>
                </a:moveTo>
                <a:lnTo>
                  <a:pt x="5199" y="0"/>
                </a:lnTo>
                <a:lnTo>
                  <a:pt x="5199" y="3215"/>
                </a:lnTo>
                <a:lnTo>
                  <a:pt x="0" y="3215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7743600" y="3600360"/>
            <a:ext cx="360" cy="1157400"/>
          </a:xfrm>
          <a:prstGeom prst="line">
            <a:avLst/>
          </a:prstGeom>
          <a:ln w="9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>
            <a:off x="6800760" y="4172040"/>
            <a:ext cx="1871640" cy="360"/>
          </a:xfrm>
          <a:prstGeom prst="line">
            <a:avLst/>
          </a:prstGeom>
          <a:ln w="9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>
            <a:off x="7743600" y="4172040"/>
            <a:ext cx="928080" cy="585000"/>
          </a:xfrm>
          <a:custGeom>
            <a:avLst/>
            <a:gdLst>
              <a:gd name="textAreaLeft" fmla="*/ 0 w 928080"/>
              <a:gd name="textAreaRight" fmla="*/ 928800 w 928080"/>
              <a:gd name="textAreaTop" fmla="*/ 0 h 585000"/>
              <a:gd name="textAreaBottom" fmla="*/ 585720 h 585000"/>
            </a:gdLst>
            <a:ahLst/>
            <a:rect l="textAreaLeft" t="textAreaTop" r="textAreaRight" b="textAreaBottom"/>
            <a:pathLst>
              <a:path w="2580" h="1627">
                <a:moveTo>
                  <a:pt x="0" y="0"/>
                </a:moveTo>
                <a:lnTo>
                  <a:pt x="2580" y="0"/>
                </a:lnTo>
                <a:lnTo>
                  <a:pt x="2580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7049880" y="331020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992000" y="331020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190560" y="370332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cue −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190560" y="427932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cue 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013520" y="3703320"/>
            <a:ext cx="639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n/d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955280" y="3703320"/>
            <a:ext cx="639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n/d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013520" y="4279320"/>
            <a:ext cx="639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n/d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955280" y="4279320"/>
            <a:ext cx="639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n/d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 flipH="1">
            <a:off x="8643960" y="3200400"/>
            <a:ext cx="285480" cy="1000080"/>
          </a:xfrm>
          <a:prstGeom prst="line">
            <a:avLst/>
          </a:prstGeom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8615160" y="4071960"/>
            <a:ext cx="113760" cy="127800"/>
          </a:xfrm>
          <a:custGeom>
            <a:avLst/>
            <a:gdLst>
              <a:gd name="textAreaLeft" fmla="*/ 0 w 113760"/>
              <a:gd name="textAreaRight" fmla="*/ 114480 w 113760"/>
              <a:gd name="textAreaTop" fmla="*/ 0 h 127800"/>
              <a:gd name="textAreaBottom" fmla="*/ 128520 h 127800"/>
            </a:gdLst>
            <a:ahLst/>
            <a:rect l="textAreaLeft" t="textAreaTop" r="textAreaRight" b="textAreaBottom"/>
            <a:pathLst>
              <a:path fill="none" w="318" h="357">
                <a:moveTo>
                  <a:pt x="0" y="0"/>
                </a:moveTo>
                <a:lnTo>
                  <a:pt x="80" y="357"/>
                </a:lnTo>
                <a:lnTo>
                  <a:pt x="318" y="79"/>
                </a:lnTo>
              </a:path>
            </a:pathLst>
          </a:custGeom>
          <a:noFill/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8851320" y="3630240"/>
            <a:ext cx="822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chosen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write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358240" y="3630240"/>
            <a:ext cx="1142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Shared 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358240" y="3959280"/>
            <a:ext cx="89604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pays for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read/write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114960" y="5214960"/>
            <a:ext cx="3528360" cy="470880"/>
          </a:xfrm>
          <a:custGeom>
            <a:avLst/>
            <a:gdLst>
              <a:gd name="textAreaLeft" fmla="*/ 0 w 3528360"/>
              <a:gd name="textAreaRight" fmla="*/ 3529080 w 3528360"/>
              <a:gd name="textAreaTop" fmla="*/ 0 h 470880"/>
              <a:gd name="textAreaBottom" fmla="*/ 471600 h 470880"/>
            </a:gdLst>
            <a:ahLst/>
            <a:rect l="textAreaLeft" t="textAreaTop" r="textAreaRight" b="textAreaBottom"/>
            <a:pathLst>
              <a:path w="9803" h="1310">
                <a:moveTo>
                  <a:pt x="0" y="0"/>
                </a:moveTo>
                <a:lnTo>
                  <a:pt x="9803" y="0"/>
                </a:lnTo>
                <a:lnTo>
                  <a:pt x="9803" y="1310"/>
                </a:lnTo>
                <a:lnTo>
                  <a:pt x="0" y="1310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6190560" y="5248800"/>
            <a:ext cx="3345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Weighted readout → global action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743600" y="4786200"/>
            <a:ext cx="360" cy="414360"/>
          </a:xfrm>
          <a:prstGeom prst="line">
            <a:avLst/>
          </a:prstGeom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7686720" y="5086440"/>
            <a:ext cx="113400" cy="113400"/>
          </a:xfrm>
          <a:custGeom>
            <a:avLst/>
            <a:gdLst>
              <a:gd name="textAreaLeft" fmla="*/ 0 w 113400"/>
              <a:gd name="textAreaRight" fmla="*/ 114120 w 113400"/>
              <a:gd name="textAreaTop" fmla="*/ 0 h 113400"/>
              <a:gd name="textAreaBottom" fmla="*/ 114120 h 113400"/>
            </a:gdLst>
            <a:ahLst/>
            <a:rect l="textAreaLeft" t="textAreaTop" r="textAreaRight" b="textAreaBottom"/>
            <a:pathLst>
              <a:path fill="none" w="317" h="317">
                <a:moveTo>
                  <a:pt x="0" y="0"/>
                </a:moveTo>
                <a:lnTo>
                  <a:pt x="158" y="317"/>
                </a:lnTo>
                <a:lnTo>
                  <a:pt x="317" y="0"/>
                </a:lnTo>
              </a:path>
            </a:pathLst>
          </a:custGeom>
          <a:noFill/>
          <a:ln w="18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5358240" y="5861160"/>
            <a:ext cx="43153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Unchosen actions unknown; no borrowed field tested here.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043240" y="1157400"/>
            <a:ext cx="360" cy="5100480"/>
          </a:xfrm>
          <a:prstGeom prst="line">
            <a:avLst/>
          </a:prstGeom>
          <a:ln w="9000">
            <a:solidFill>
              <a:srgbClr val="b7b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"/>
          <p:cNvSpPr/>
          <p:nvPr/>
        </p:nvSpPr>
        <p:spPr>
          <a:xfrm>
            <a:off x="4029120" y="8143920"/>
            <a:ext cx="428400" cy="36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4029120" y="808668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4457520" y="808668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4243320" y="8058240"/>
            <a:ext cx="360" cy="156960"/>
          </a:xfrm>
          <a:prstGeom prst="line">
            <a:avLst/>
          </a:prstGeom>
          <a:ln w="27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3900240" y="8629560"/>
            <a:ext cx="586080" cy="36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3900240" y="857232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>
            <a:off x="4486320" y="857232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"/>
          <p:cNvSpPr/>
          <p:nvPr/>
        </p:nvSpPr>
        <p:spPr>
          <a:xfrm>
            <a:off x="4171680" y="8543880"/>
            <a:ext cx="360" cy="157320"/>
          </a:xfrm>
          <a:prstGeom prst="line">
            <a:avLst/>
          </a:prstGeom>
          <a:ln w="27360">
            <a:solidFill>
              <a:srgbClr val="127a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"/>
          <p:cNvSpPr/>
          <p:nvPr/>
        </p:nvSpPr>
        <p:spPr>
          <a:xfrm>
            <a:off x="2628720" y="9115560"/>
            <a:ext cx="399960" cy="36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2628720" y="905832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3028680" y="905832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2842920" y="9029520"/>
            <a:ext cx="360" cy="157320"/>
          </a:xfrm>
          <a:prstGeom prst="line">
            <a:avLst/>
          </a:prstGeom>
          <a:ln w="27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3386160" y="9601200"/>
            <a:ext cx="442800" cy="36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3386160" y="954396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9" name=""/>
          <p:cNvSpPr/>
          <p:nvPr/>
        </p:nvSpPr>
        <p:spPr>
          <a:xfrm>
            <a:off x="3828960" y="9543960"/>
            <a:ext cx="360" cy="10008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" name=""/>
          <p:cNvSpPr/>
          <p:nvPr/>
        </p:nvSpPr>
        <p:spPr>
          <a:xfrm>
            <a:off x="3614760" y="9515520"/>
            <a:ext cx="360" cy="156960"/>
          </a:xfrm>
          <a:prstGeom prst="line">
            <a:avLst/>
          </a:prstGeom>
          <a:ln w="27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"/>
          <p:cNvSpPr/>
          <p:nvPr/>
        </p:nvSpPr>
        <p:spPr>
          <a:xfrm>
            <a:off x="2528640" y="10086840"/>
            <a:ext cx="586080" cy="36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2528640" y="10029960"/>
            <a:ext cx="360" cy="9972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" name=""/>
          <p:cNvSpPr/>
          <p:nvPr/>
        </p:nvSpPr>
        <p:spPr>
          <a:xfrm>
            <a:off x="3114720" y="10029960"/>
            <a:ext cx="360" cy="99720"/>
          </a:xfrm>
          <a:prstGeom prst="line">
            <a:avLst/>
          </a:prstGeom>
          <a:ln w="9000">
            <a:solidFill>
              <a:srgbClr val="303c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2814480" y="10001160"/>
            <a:ext cx="360" cy="157320"/>
          </a:xfrm>
          <a:prstGeom prst="line">
            <a:avLst/>
          </a:prstGeom>
          <a:ln w="27360">
            <a:solidFill>
              <a:srgbClr val="b65f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"/>
          <p:cNvSpPr/>
          <p:nvPr/>
        </p:nvSpPr>
        <p:spPr>
          <a:xfrm>
            <a:off x="8202240" y="1710000"/>
            <a:ext cx="10782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birth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528560" y="3200400"/>
            <a:ext cx="360" cy="414360"/>
          </a:xfrm>
          <a:prstGeom prst="line">
            <a:avLst/>
          </a:prstGeom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1471320" y="3500280"/>
            <a:ext cx="113760" cy="113760"/>
          </a:xfrm>
          <a:custGeom>
            <a:avLst/>
            <a:gdLst>
              <a:gd name="textAreaLeft" fmla="*/ 0 w 113760"/>
              <a:gd name="textAreaRight" fmla="*/ 114480 w 113760"/>
              <a:gd name="textAreaTop" fmla="*/ 0 h 113760"/>
              <a:gd name="textAreaBottom" fmla="*/ 114480 h 113760"/>
            </a:gdLst>
            <a:ahLst/>
            <a:rect l="textAreaLeft" t="textAreaTop" r="textAreaRight" b="textAreaBottom"/>
            <a:pathLst>
              <a:path fill="none" w="318" h="318">
                <a:moveTo>
                  <a:pt x="0" y="0"/>
                </a:moveTo>
                <a:lnTo>
                  <a:pt x="159" y="318"/>
                </a:lnTo>
                <a:lnTo>
                  <a:pt x="318" y="0"/>
                </a:lnTo>
              </a:path>
            </a:pathLst>
          </a:custGeom>
          <a:noFill/>
          <a:ln w="18360">
            <a:solidFill>
              <a:srgbClr val="bd6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2026-10-17T23:03:51Z</cp:lastPrinted>
  <dcterms:modified xsi:type="dcterms:W3CDTF">2026-10-18T15:23:52Z</dcterms:modified>
  <cp:revision>201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