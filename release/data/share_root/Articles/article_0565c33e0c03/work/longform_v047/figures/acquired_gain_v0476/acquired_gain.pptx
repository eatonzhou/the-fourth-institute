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122396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72960"/>
            <a:ext cx="9055440" cy="15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2863800"/>
            <a:ext cx="9072000" cy="70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57C01FE-0742-420A-8D1A-546295D451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72960"/>
            <a:ext cx="9055440" cy="154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8526600"/>
            <a:ext cx="3178800" cy="62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8526600"/>
            <a:ext cx="2332080" cy="62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7F02F7-B825-4FC8-9C18-95D3480D42B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8526600"/>
            <a:ext cx="2332080" cy="62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2.png"/><Relationship Id="rId7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393120" y="228600"/>
            <a:ext cx="93538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300" spc="-1" strike="noStrike">
                <a:solidFill>
                  <a:srgbClr val="000000"/>
                </a:solidFill>
                <a:latin typeface="Arial"/>
              </a:rPr>
              <a:t>Acquired gain enables responsive movement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"/>
          <p:cNvSpPr/>
          <p:nvPr/>
        </p:nvSpPr>
        <p:spPr>
          <a:xfrm>
            <a:off x="393120" y="585360"/>
            <a:ext cx="93538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Reversal can succeed with the acquired gain held fixed.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393120" y="951120"/>
            <a:ext cx="93538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000000"/>
                </a:solidFill>
                <a:latin typeface="Arial"/>
              </a:rPr>
              <a:t>A  A learned gain reads a preset sensory direction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500040" y="1371600"/>
            <a:ext cx="2528280" cy="756720"/>
          </a:xfrm>
          <a:custGeom>
            <a:avLst/>
            <a:gdLst>
              <a:gd name="textAreaLeft" fmla="*/ 0 w 2528280"/>
              <a:gd name="textAreaRight" fmla="*/ 2528640 w 2528280"/>
              <a:gd name="textAreaTop" fmla="*/ 0 h 756720"/>
              <a:gd name="textAreaBottom" fmla="*/ 757080 h 756720"/>
            </a:gdLst>
            <a:ahLst/>
            <a:rect l="textAreaLeft" t="textAreaTop" r="textAreaRight" b="textAreaBottom"/>
            <a:pathLst>
              <a:path w="7024" h="2103">
                <a:moveTo>
                  <a:pt x="0" y="0"/>
                </a:moveTo>
                <a:lnTo>
                  <a:pt x="7024" y="0"/>
                </a:lnTo>
                <a:lnTo>
                  <a:pt x="7024" y="2103"/>
                </a:lnTo>
                <a:lnTo>
                  <a:pt x="0" y="2103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2178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603360" y="1417320"/>
            <a:ext cx="22946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Paid local outcomes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→ </a:t>
            </a:r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previous gradient 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3600360" y="1371600"/>
            <a:ext cx="2414160" cy="756720"/>
          </a:xfrm>
          <a:custGeom>
            <a:avLst/>
            <a:gdLst>
              <a:gd name="textAreaLeft" fmla="*/ 0 w 2414160"/>
              <a:gd name="textAreaRight" fmla="*/ 2414520 w 2414160"/>
              <a:gd name="textAreaTop" fmla="*/ 0 h 756720"/>
              <a:gd name="textAreaBottom" fmla="*/ 757080 h 756720"/>
            </a:gdLst>
            <a:ahLst/>
            <a:rect l="textAreaLeft" t="textAreaTop" r="textAreaRight" b="textAreaBottom"/>
            <a:pathLst>
              <a:path w="6707" h="2103">
                <a:moveTo>
                  <a:pt x="0" y="0"/>
                </a:moveTo>
                <a:lnTo>
                  <a:pt x="6707" y="0"/>
                </a:lnTo>
                <a:lnTo>
                  <a:pt x="6707" y="2103"/>
                </a:lnTo>
                <a:lnTo>
                  <a:pt x="0" y="2103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2178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3721680" y="1417320"/>
            <a:ext cx="21574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Preset direction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d = g / |g|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6657840" y="1371600"/>
            <a:ext cx="2885760" cy="756720"/>
          </a:xfrm>
          <a:custGeom>
            <a:avLst/>
            <a:gdLst>
              <a:gd name="textAreaLeft" fmla="*/ 0 w 2885760"/>
              <a:gd name="textAreaRight" fmla="*/ 2886120 w 2885760"/>
              <a:gd name="textAreaTop" fmla="*/ 0 h 756720"/>
              <a:gd name="textAreaBottom" fmla="*/ 757080 h 756720"/>
            </a:gdLst>
            <a:ahLst/>
            <a:rect l="textAreaLeft" t="textAreaTop" r="textAreaRight" b="textAreaBottom"/>
            <a:pathLst>
              <a:path w="8017" h="2103">
                <a:moveTo>
                  <a:pt x="0" y="0"/>
                </a:moveTo>
                <a:lnTo>
                  <a:pt x="8017" y="0"/>
                </a:lnTo>
                <a:lnTo>
                  <a:pt x="8017" y="2103"/>
                </a:lnTo>
                <a:lnTo>
                  <a:pt x="0" y="2103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bf68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6766560" y="1417320"/>
            <a:ext cx="26604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Local mean = κ 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+ noise → paid transport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3057480" y="1743120"/>
            <a:ext cx="471240" cy="360"/>
          </a:xfrm>
          <a:prstGeom prst="line">
            <a:avLst/>
          </a:prstGeom>
          <a:ln w="18360">
            <a:solidFill>
              <a:srgbClr val="2178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" name=""/>
          <p:cNvSpPr/>
          <p:nvPr/>
        </p:nvSpPr>
        <p:spPr>
          <a:xfrm>
            <a:off x="3414600" y="1685880"/>
            <a:ext cx="113760" cy="114120"/>
          </a:xfrm>
          <a:custGeom>
            <a:avLst/>
            <a:gdLst>
              <a:gd name="textAreaLeft" fmla="*/ 0 w 113760"/>
              <a:gd name="textAreaRight" fmla="*/ 114120 w 113760"/>
              <a:gd name="textAreaTop" fmla="*/ 0 h 114120"/>
              <a:gd name="textAreaBottom" fmla="*/ 114480 h 114120"/>
            </a:gdLst>
            <a:ahLst/>
            <a:rect l="textAreaLeft" t="textAreaTop" r="textAreaRight" b="textAreaBottom"/>
            <a:pathLst>
              <a:path fill="none" w="317" h="318">
                <a:moveTo>
                  <a:pt x="0" y="318"/>
                </a:moveTo>
                <a:lnTo>
                  <a:pt x="317" y="159"/>
                </a:lnTo>
                <a:lnTo>
                  <a:pt x="0" y="0"/>
                </a:lnTo>
              </a:path>
            </a:pathLst>
          </a:custGeom>
          <a:noFill/>
          <a:ln w="18360">
            <a:solidFill>
              <a:srgbClr val="2178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6043320" y="1743120"/>
            <a:ext cx="543240" cy="360"/>
          </a:xfrm>
          <a:prstGeom prst="line">
            <a:avLst/>
          </a:prstGeom>
          <a:ln w="18360">
            <a:solidFill>
              <a:srgbClr val="2178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" name=""/>
          <p:cNvSpPr/>
          <p:nvPr/>
        </p:nvSpPr>
        <p:spPr>
          <a:xfrm>
            <a:off x="6472080" y="1685880"/>
            <a:ext cx="114120" cy="114120"/>
          </a:xfrm>
          <a:custGeom>
            <a:avLst/>
            <a:gdLst>
              <a:gd name="textAreaLeft" fmla="*/ 0 w 114120"/>
              <a:gd name="textAreaRight" fmla="*/ 114480 w 114120"/>
              <a:gd name="textAreaTop" fmla="*/ 0 h 114120"/>
              <a:gd name="textAreaBottom" fmla="*/ 114480 h 114120"/>
            </a:gdLst>
            <a:ahLst/>
            <a:rect l="textAreaLeft" t="textAreaTop" r="textAreaRight" b="textAreaBottom"/>
            <a:pathLst>
              <a:path fill="none" w="318" h="318">
                <a:moveTo>
                  <a:pt x="0" y="318"/>
                </a:moveTo>
                <a:lnTo>
                  <a:pt x="318" y="159"/>
                </a:lnTo>
                <a:lnTo>
                  <a:pt x="0" y="0"/>
                </a:lnTo>
              </a:path>
            </a:pathLst>
          </a:custGeom>
          <a:noFill/>
          <a:ln w="18360">
            <a:solidFill>
              <a:srgbClr val="2178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502920" y="2194560"/>
            <a:ext cx="57146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κ starts at 0; local source-credit updates κ. No additive bias.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6656760" y="2194560"/>
            <a:ext cx="28710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κ = 1 is a strong fixed control.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500040" y="2514600"/>
            <a:ext cx="2885760" cy="528120"/>
          </a:xfrm>
          <a:custGeom>
            <a:avLst/>
            <a:gdLst>
              <a:gd name="textAreaLeft" fmla="*/ 0 w 2885760"/>
              <a:gd name="textAreaRight" fmla="*/ 2886120 w 2885760"/>
              <a:gd name="textAreaTop" fmla="*/ 0 h 528120"/>
              <a:gd name="textAreaBottom" fmla="*/ 528480 h 528120"/>
            </a:gdLst>
            <a:ahLst/>
            <a:rect l="textAreaLeft" t="textAreaTop" r="textAreaRight" b="textAreaBottom"/>
            <a:pathLst>
              <a:path w="8017" h="1468">
                <a:moveTo>
                  <a:pt x="0" y="0"/>
                </a:moveTo>
                <a:lnTo>
                  <a:pt x="8017" y="0"/>
                </a:lnTo>
                <a:lnTo>
                  <a:pt x="8017" y="1468"/>
                </a:lnTo>
                <a:lnTo>
                  <a:pt x="0" y="1468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2178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3485880" y="2514600"/>
            <a:ext cx="2885760" cy="528120"/>
          </a:xfrm>
          <a:custGeom>
            <a:avLst/>
            <a:gdLst>
              <a:gd name="textAreaLeft" fmla="*/ 0 w 2885760"/>
              <a:gd name="textAreaRight" fmla="*/ 2886120 w 2885760"/>
              <a:gd name="textAreaTop" fmla="*/ 0 h 528120"/>
              <a:gd name="textAreaBottom" fmla="*/ 528480 h 528120"/>
            </a:gdLst>
            <a:ahLst/>
            <a:rect l="textAreaLeft" t="textAreaTop" r="textAreaRight" b="textAreaBottom"/>
            <a:pathLst>
              <a:path w="8017" h="1468">
                <a:moveTo>
                  <a:pt x="0" y="0"/>
                </a:moveTo>
                <a:lnTo>
                  <a:pt x="8017" y="0"/>
                </a:lnTo>
                <a:lnTo>
                  <a:pt x="8017" y="1468"/>
                </a:lnTo>
                <a:lnTo>
                  <a:pt x="0" y="1468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bf68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6486480" y="2514600"/>
            <a:ext cx="3057120" cy="528120"/>
          </a:xfrm>
          <a:custGeom>
            <a:avLst/>
            <a:gdLst>
              <a:gd name="textAreaLeft" fmla="*/ 0 w 3057120"/>
              <a:gd name="textAreaRight" fmla="*/ 3057480 w 3057120"/>
              <a:gd name="textAreaTop" fmla="*/ 0 h 528120"/>
              <a:gd name="textAreaBottom" fmla="*/ 528480 h 528120"/>
            </a:gdLst>
            <a:ahLst/>
            <a:rect l="textAreaLeft" t="textAreaTop" r="textAreaRight" b="textAreaBottom"/>
            <a:pathLst>
              <a:path w="8493" h="1468">
                <a:moveTo>
                  <a:pt x="0" y="0"/>
                </a:moveTo>
                <a:lnTo>
                  <a:pt x="8493" y="0"/>
                </a:lnTo>
                <a:lnTo>
                  <a:pt x="8493" y="1468"/>
                </a:lnTo>
                <a:lnTo>
                  <a:pt x="0" y="1468"/>
                </a:lnTo>
                <a:lnTo>
                  <a:pt x="0" y="0"/>
                </a:lnTo>
                <a:close/>
              </a:path>
            </a:pathLst>
          </a:custGeom>
          <a:noFill/>
          <a:ln w="9000">
            <a:solidFill>
              <a:srgbClr val="6680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585360" y="2541960"/>
            <a:ext cx="26971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1–320  Acquire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Paid outcomes + writes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3575160" y="2541960"/>
            <a:ext cx="26971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321–640  Reverse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New relation, unannounced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6565320" y="2541960"/>
            <a:ext cx="28710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641–768  No new feedback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Old records transported; writes off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502920" y="3557160"/>
            <a:ext cx="89974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Final-64 mean body field score; P / F = pass / fail the original full gate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502920" y="3831480"/>
            <a:ext cx="20480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Method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2606040" y="3831480"/>
            <a:ext cx="17186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Acquire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4498920" y="3831480"/>
            <a:ext cx="17186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Reverse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6382440" y="3831480"/>
            <a:ext cx="18284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No new feedback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8330040" y="3831480"/>
            <a:ext cx="12157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All stages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502920" y="4151520"/>
            <a:ext cx="19015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Learned κ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2606040" y="4151520"/>
            <a:ext cx="18284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C0  +0.7312  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C1  +0.7226  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4498920" y="4151520"/>
            <a:ext cx="18284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C0  +0.3419  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C1  +0.7633  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6382440" y="4151520"/>
            <a:ext cx="18284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C0  +0.5714  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C1  +0.7883  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8421480" y="4206240"/>
            <a:ext cx="10422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2/2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502920" y="4636080"/>
            <a:ext cx="9001080" cy="360"/>
          </a:xfrm>
          <a:prstGeom prst="line">
            <a:avLst/>
          </a:prstGeom>
          <a:ln w="9000">
            <a:solidFill>
              <a:srgbClr val="d3dc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9" name=""/>
          <p:cNvSpPr/>
          <p:nvPr/>
        </p:nvSpPr>
        <p:spPr>
          <a:xfrm>
            <a:off x="502920" y="4636080"/>
            <a:ext cx="19015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</a:rPr>
              <a:t>Fixed κ = 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2606040" y="4636080"/>
            <a:ext cx="18284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C0  +0.9783  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C1  +0.9780  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4498920" y="4636080"/>
            <a:ext cx="18284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C0  +0.7483  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C1  +0.7510  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6382440" y="4636080"/>
            <a:ext cx="18284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C0  +0.9689  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C1  +0.9661  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8421480" y="4690800"/>
            <a:ext cx="10422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2/2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502920" y="5129640"/>
            <a:ext cx="9001080" cy="360"/>
          </a:xfrm>
          <a:prstGeom prst="line">
            <a:avLst/>
          </a:prstGeom>
          <a:ln w="9000">
            <a:solidFill>
              <a:srgbClr val="d3dc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" name=""/>
          <p:cNvSpPr/>
          <p:nvPr/>
        </p:nvSpPr>
        <p:spPr>
          <a:xfrm>
            <a:off x="502920" y="5129640"/>
            <a:ext cx="19015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Source bias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2606040" y="5129640"/>
            <a:ext cx="18284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C0  +0.7279  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C1  +0.7177  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4498920" y="5129640"/>
            <a:ext cx="18284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C0  -0.7987  F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C1  +0.0149  F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6382440" y="5129640"/>
            <a:ext cx="18284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C0  -0.7307  F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C1  +0.3633  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8421480" y="5175360"/>
            <a:ext cx="10422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0/2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502920" y="5614560"/>
            <a:ext cx="9001080" cy="360"/>
          </a:xfrm>
          <a:prstGeom prst="line">
            <a:avLst/>
          </a:prstGeom>
          <a:ln w="9000">
            <a:solidFill>
              <a:srgbClr val="d3dc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1" name=""/>
          <p:cNvSpPr/>
          <p:nvPr/>
        </p:nvSpPr>
        <p:spPr>
          <a:xfrm>
            <a:off x="502920" y="5614560"/>
            <a:ext cx="19015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Zero κ = 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2606040" y="5614560"/>
            <a:ext cx="18284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C0  +0.0197  F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C1  -0.0065  F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4498920" y="5614560"/>
            <a:ext cx="18284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C0  -0.0125  F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C1  +0.0098  F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6382440" y="5614560"/>
            <a:ext cx="18284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C0  -0.0226  F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C1  +0.0208  F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8421480" y="5669280"/>
            <a:ext cx="10422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0/2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502920" y="6099120"/>
            <a:ext cx="9001080" cy="360"/>
          </a:xfrm>
          <a:prstGeom prst="line">
            <a:avLst/>
          </a:prstGeom>
          <a:ln w="9000">
            <a:solidFill>
              <a:srgbClr val="d3dc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7" name=""/>
          <p:cNvSpPr/>
          <p:nvPr/>
        </p:nvSpPr>
        <p:spPr>
          <a:xfrm>
            <a:off x="502920" y="6117480"/>
            <a:ext cx="90705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Gate: M ≥ 12, connected fraction ≥ 0.75, score &gt; 0.25, positive mass fraction ≥ 0.60.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502920" y="6291000"/>
            <a:ext cx="90705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C0 / C1: two opposite-field/noise conditions, not independent worlds. Occupancy alone is not relearning.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393120" y="6583680"/>
            <a:ext cx="93538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000000"/>
                </a:solidFill>
                <a:latin typeface="Arial"/>
              </a:rPr>
              <a:t>C  Same acquired parent; all subsequent κ writes frozen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502920" y="6885360"/>
            <a:ext cx="91436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Two parents at 320 → retain, erase or mass-mean homogenize κ; body / energy / records / RNG matched.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502920" y="7141320"/>
            <a:ext cx="16545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Retain κ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2441520" y="7141320"/>
            <a:ext cx="16545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Erase κ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4389120" y="7141320"/>
            <a:ext cx="16545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Homogenize κ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rcRect l="81111" t="7426" r="1111" b="52977"/>
          <a:stretch/>
        </p:blipFill>
        <p:spPr>
          <a:xfrm>
            <a:off x="502920" y="7425000"/>
            <a:ext cx="1508400" cy="1508400"/>
          </a:xfrm>
          <a:prstGeom prst="rect">
            <a:avLst/>
          </a:prstGeom>
          <a:ln w="0">
            <a:noFill/>
          </a:ln>
        </p:spPr>
      </p:pic>
      <p:pic>
        <p:nvPicPr>
          <p:cNvPr id="65" name="" descr=""/>
          <p:cNvPicPr/>
          <p:nvPr/>
        </p:nvPicPr>
        <p:blipFill>
          <a:blip r:embed="rId2"/>
          <a:srcRect l="2778" t="7426" r="52778" b="52977"/>
          <a:stretch/>
        </p:blipFill>
        <p:spPr>
          <a:xfrm>
            <a:off x="2441520" y="7425000"/>
            <a:ext cx="1508400" cy="1508400"/>
          </a:xfrm>
          <a:prstGeom prst="rect">
            <a:avLst/>
          </a:prstGeom>
          <a:ln w="0">
            <a:noFill/>
          </a:ln>
        </p:spPr>
      </p:pic>
      <p:pic>
        <p:nvPicPr>
          <p:cNvPr id="66" name="" descr=""/>
          <p:cNvPicPr/>
          <p:nvPr/>
        </p:nvPicPr>
        <p:blipFill>
          <a:blip r:embed="rId3"/>
          <a:srcRect l="52778" t="7426" r="2778" b="52977"/>
          <a:stretch/>
        </p:blipFill>
        <p:spPr>
          <a:xfrm>
            <a:off x="4389120" y="7425000"/>
            <a:ext cx="1508400" cy="1508400"/>
          </a:xfrm>
          <a:prstGeom prst="rect">
            <a:avLst/>
          </a:prstGeom>
          <a:ln w="0">
            <a:noFill/>
          </a:ln>
        </p:spPr>
      </p:pic>
      <p:sp>
        <p:nvSpPr>
          <p:cNvPr id="67" name=""/>
          <p:cNvSpPr/>
          <p:nvPr/>
        </p:nvSpPr>
        <p:spPr>
          <a:xfrm>
            <a:off x="0" y="8001000"/>
            <a:ext cx="4658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C0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4"/>
          <a:srcRect l="81111" t="57431" r="1111" b="2972"/>
          <a:stretch/>
        </p:blipFill>
        <p:spPr>
          <a:xfrm>
            <a:off x="502920" y="9592200"/>
            <a:ext cx="1508400" cy="1508400"/>
          </a:xfrm>
          <a:prstGeom prst="rect">
            <a:avLst/>
          </a:prstGeom>
          <a:ln w="0">
            <a:noFill/>
          </a:ln>
        </p:spPr>
      </p:pic>
      <p:pic>
        <p:nvPicPr>
          <p:cNvPr id="69" name="" descr=""/>
          <p:cNvPicPr/>
          <p:nvPr/>
        </p:nvPicPr>
        <p:blipFill>
          <a:blip r:embed="rId5"/>
          <a:srcRect l="2778" t="57431" r="52778" b="2972"/>
          <a:stretch/>
        </p:blipFill>
        <p:spPr>
          <a:xfrm>
            <a:off x="2441520" y="9592200"/>
            <a:ext cx="1508400" cy="1508400"/>
          </a:xfrm>
          <a:prstGeom prst="rect">
            <a:avLst/>
          </a:prstGeom>
          <a:ln w="0">
            <a:noFill/>
          </a:ln>
        </p:spPr>
      </p:pic>
      <p:pic>
        <p:nvPicPr>
          <p:cNvPr id="70" name="" descr=""/>
          <p:cNvPicPr/>
          <p:nvPr/>
        </p:nvPicPr>
        <p:blipFill>
          <a:blip r:embed="rId6"/>
          <a:srcRect l="52778" t="57431" r="2778" b="2972"/>
          <a:stretch/>
        </p:blipFill>
        <p:spPr>
          <a:xfrm>
            <a:off x="4389120" y="9592200"/>
            <a:ext cx="1508400" cy="1508400"/>
          </a:xfrm>
          <a:prstGeom prst="rect">
            <a:avLst/>
          </a:prstGeom>
          <a:ln w="0">
            <a:noFill/>
          </a:ln>
        </p:spPr>
      </p:pic>
      <p:sp>
        <p:nvSpPr>
          <p:cNvPr id="71" name=""/>
          <p:cNvSpPr/>
          <p:nvPr/>
        </p:nvSpPr>
        <p:spPr>
          <a:xfrm>
            <a:off x="0" y="10168200"/>
            <a:ext cx="4658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C1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502920" y="8961120"/>
            <a:ext cx="17917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Rev +0.5696 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No fb +0.8850 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2441520" y="8961120"/>
            <a:ext cx="17917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Rev -0.8293 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No fb -0.8226 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4389120" y="8961120"/>
            <a:ext cx="17917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Rev +0.5726 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No fb +0.8955 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502920" y="11118960"/>
            <a:ext cx="17917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Rev +0.6139 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No fb +0.8836 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2441520" y="11118960"/>
            <a:ext cx="17917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Rev -0.8133 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No fb -0.8130 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4389120" y="11118960"/>
            <a:ext cx="17917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Rev +0.6159 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No fb +0.8947 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502920" y="11576160"/>
            <a:ext cx="90705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All fields: t = 768, 32 × 32 periodic coordinates; blue density at one scale (saturates at ρ = 0.8).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502920" y="11750040"/>
            <a:ext cx="90705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Green / red: positive / negative evaluation field. No birth; M = 24. Two parents, not six independent repeats.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502920" y="11923920"/>
            <a:ext cx="90705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Actual outcome transfers / basal / movement recorded; sensing hardware, computation and communication unpriced.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6700680" y="7486560"/>
            <a:ext cx="2800080" cy="1314000"/>
          </a:xfrm>
          <a:custGeom>
            <a:avLst/>
            <a:gdLst>
              <a:gd name="textAreaLeft" fmla="*/ 0 w 2800080"/>
              <a:gd name="textAreaRight" fmla="*/ 2800440 w 2800080"/>
              <a:gd name="textAreaTop" fmla="*/ 0 h 1314000"/>
              <a:gd name="textAreaBottom" fmla="*/ 1314360 h 1314000"/>
            </a:gdLst>
            <a:ahLst/>
            <a:rect l="textAreaLeft" t="textAreaTop" r="textAreaRight" b="textAreaBottom"/>
            <a:pathLst>
              <a:path fill="none" w="7779" h="3651">
                <a:moveTo>
                  <a:pt x="0" y="0"/>
                </a:moveTo>
                <a:lnTo>
                  <a:pt x="0" y="3651"/>
                </a:lnTo>
                <a:lnTo>
                  <a:pt x="7779" y="3651"/>
                </a:lnTo>
              </a:path>
            </a:pathLst>
          </a:custGeom>
          <a:noFill/>
          <a:ln w="9000">
            <a:solidFill>
              <a:srgbClr val="5461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6700680" y="8143920"/>
            <a:ext cx="2800440" cy="360"/>
          </a:xfrm>
          <a:prstGeom prst="line">
            <a:avLst/>
          </a:prstGeom>
          <a:ln w="9000">
            <a:solidFill>
              <a:srgbClr val="b4b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3" name=""/>
          <p:cNvSpPr/>
          <p:nvPr/>
        </p:nvSpPr>
        <p:spPr>
          <a:xfrm>
            <a:off x="6172200" y="7452360"/>
            <a:ext cx="5025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+0.6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6172200" y="8055720"/>
            <a:ext cx="5025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6172200" y="8668440"/>
            <a:ext cx="5025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-0.6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6629400" y="8823960"/>
            <a:ext cx="6397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321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7964280" y="8823960"/>
            <a:ext cx="6397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336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9299520" y="8823960"/>
            <a:ext cx="6397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352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6700680" y="7615080"/>
            <a:ext cx="2800080" cy="1071360"/>
          </a:xfrm>
          <a:custGeom>
            <a:avLst/>
            <a:gdLst>
              <a:gd name="textAreaLeft" fmla="*/ 0 w 2800080"/>
              <a:gd name="textAreaRight" fmla="*/ 2800440 w 2800080"/>
              <a:gd name="textAreaTop" fmla="*/ 0 h 1071360"/>
              <a:gd name="textAreaBottom" fmla="*/ 1071720 h 1071360"/>
            </a:gdLst>
            <a:ahLst/>
            <a:rect l="textAreaLeft" t="textAreaTop" r="textAreaRight" b="textAreaBottom"/>
            <a:pathLst>
              <a:path fill="none" w="7779" h="2977">
                <a:moveTo>
                  <a:pt x="0" y="0"/>
                </a:moveTo>
                <a:lnTo>
                  <a:pt x="238" y="2898"/>
                </a:lnTo>
                <a:lnTo>
                  <a:pt x="476" y="2858"/>
                </a:lnTo>
                <a:lnTo>
                  <a:pt x="754" y="2858"/>
                </a:lnTo>
                <a:lnTo>
                  <a:pt x="992" y="2937"/>
                </a:lnTo>
                <a:lnTo>
                  <a:pt x="1230" y="2858"/>
                </a:lnTo>
                <a:lnTo>
                  <a:pt x="1508" y="2937"/>
                </a:lnTo>
                <a:lnTo>
                  <a:pt x="1746" y="2898"/>
                </a:lnTo>
                <a:lnTo>
                  <a:pt x="1984" y="2898"/>
                </a:lnTo>
                <a:lnTo>
                  <a:pt x="2262" y="2977"/>
                </a:lnTo>
                <a:lnTo>
                  <a:pt x="2500" y="2858"/>
                </a:lnTo>
                <a:lnTo>
                  <a:pt x="2739" y="2858"/>
                </a:lnTo>
                <a:lnTo>
                  <a:pt x="3016" y="2858"/>
                </a:lnTo>
                <a:lnTo>
                  <a:pt x="3254" y="2937"/>
                </a:lnTo>
                <a:lnTo>
                  <a:pt x="3493" y="2937"/>
                </a:lnTo>
                <a:lnTo>
                  <a:pt x="3770" y="2937"/>
                </a:lnTo>
                <a:lnTo>
                  <a:pt x="4009" y="2818"/>
                </a:lnTo>
                <a:lnTo>
                  <a:pt x="4286" y="2898"/>
                </a:lnTo>
                <a:lnTo>
                  <a:pt x="4524" y="2977"/>
                </a:lnTo>
                <a:lnTo>
                  <a:pt x="4763" y="2977"/>
                </a:lnTo>
                <a:lnTo>
                  <a:pt x="5040" y="2898"/>
                </a:lnTo>
                <a:lnTo>
                  <a:pt x="5279" y="2898"/>
                </a:lnTo>
                <a:lnTo>
                  <a:pt x="5517" y="2937"/>
                </a:lnTo>
                <a:lnTo>
                  <a:pt x="5794" y="2937"/>
                </a:lnTo>
                <a:lnTo>
                  <a:pt x="6033" y="2937"/>
                </a:lnTo>
                <a:lnTo>
                  <a:pt x="6271" y="2977"/>
                </a:lnTo>
                <a:lnTo>
                  <a:pt x="6549" y="2937"/>
                </a:lnTo>
                <a:lnTo>
                  <a:pt x="6787" y="2898"/>
                </a:lnTo>
                <a:lnTo>
                  <a:pt x="7025" y="2937"/>
                </a:lnTo>
                <a:lnTo>
                  <a:pt x="7303" y="2937"/>
                </a:lnTo>
                <a:lnTo>
                  <a:pt x="7541" y="2937"/>
                </a:lnTo>
                <a:lnTo>
                  <a:pt x="7779" y="2937"/>
                </a:lnTo>
              </a:path>
            </a:pathLst>
          </a:custGeom>
          <a:noFill/>
          <a:ln w="18360">
            <a:solidFill>
              <a:srgbClr val="176b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6700680" y="7629480"/>
            <a:ext cx="2800080" cy="1056960"/>
          </a:xfrm>
          <a:custGeom>
            <a:avLst/>
            <a:gdLst>
              <a:gd name="textAreaLeft" fmla="*/ 0 w 2800080"/>
              <a:gd name="textAreaRight" fmla="*/ 2800440 w 2800080"/>
              <a:gd name="textAreaTop" fmla="*/ 0 h 1056960"/>
              <a:gd name="textAreaBottom" fmla="*/ 1057320 h 1056960"/>
            </a:gdLst>
            <a:ahLst/>
            <a:rect l="textAreaLeft" t="textAreaTop" r="textAreaRight" b="textAreaBottom"/>
            <a:pathLst>
              <a:path fill="none" w="7779" h="2937">
                <a:moveTo>
                  <a:pt x="0" y="0"/>
                </a:moveTo>
                <a:lnTo>
                  <a:pt x="238" y="2778"/>
                </a:lnTo>
                <a:lnTo>
                  <a:pt x="476" y="2659"/>
                </a:lnTo>
                <a:lnTo>
                  <a:pt x="754" y="2739"/>
                </a:lnTo>
                <a:lnTo>
                  <a:pt x="992" y="2778"/>
                </a:lnTo>
                <a:lnTo>
                  <a:pt x="1230" y="2659"/>
                </a:lnTo>
                <a:lnTo>
                  <a:pt x="1508" y="2818"/>
                </a:lnTo>
                <a:lnTo>
                  <a:pt x="1746" y="2778"/>
                </a:lnTo>
                <a:lnTo>
                  <a:pt x="1984" y="2739"/>
                </a:lnTo>
                <a:lnTo>
                  <a:pt x="2262" y="2739"/>
                </a:lnTo>
                <a:lnTo>
                  <a:pt x="2500" y="2858"/>
                </a:lnTo>
                <a:lnTo>
                  <a:pt x="2739" y="2739"/>
                </a:lnTo>
                <a:lnTo>
                  <a:pt x="3016" y="2818"/>
                </a:lnTo>
                <a:lnTo>
                  <a:pt x="3254" y="2897"/>
                </a:lnTo>
                <a:lnTo>
                  <a:pt x="3493" y="2778"/>
                </a:lnTo>
                <a:lnTo>
                  <a:pt x="3770" y="2897"/>
                </a:lnTo>
                <a:lnTo>
                  <a:pt x="4009" y="2818"/>
                </a:lnTo>
                <a:lnTo>
                  <a:pt x="4286" y="2897"/>
                </a:lnTo>
                <a:lnTo>
                  <a:pt x="4524" y="2858"/>
                </a:lnTo>
                <a:lnTo>
                  <a:pt x="4763" y="2858"/>
                </a:lnTo>
                <a:lnTo>
                  <a:pt x="5040" y="2897"/>
                </a:lnTo>
                <a:lnTo>
                  <a:pt x="5279" y="2818"/>
                </a:lnTo>
                <a:lnTo>
                  <a:pt x="5517" y="2778"/>
                </a:lnTo>
                <a:lnTo>
                  <a:pt x="5794" y="2818"/>
                </a:lnTo>
                <a:lnTo>
                  <a:pt x="6033" y="2858"/>
                </a:lnTo>
                <a:lnTo>
                  <a:pt x="6271" y="2858"/>
                </a:lnTo>
                <a:lnTo>
                  <a:pt x="6549" y="2897"/>
                </a:lnTo>
                <a:lnTo>
                  <a:pt x="6787" y="2818"/>
                </a:lnTo>
                <a:lnTo>
                  <a:pt x="7025" y="2937"/>
                </a:lnTo>
                <a:lnTo>
                  <a:pt x="7303" y="2937"/>
                </a:lnTo>
                <a:lnTo>
                  <a:pt x="7541" y="2858"/>
                </a:lnTo>
                <a:lnTo>
                  <a:pt x="7779" y="2858"/>
                </a:lnTo>
              </a:path>
            </a:pathLst>
          </a:custGeom>
          <a:noFill/>
          <a:ln w="9000">
            <a:solidFill>
              <a:srgbClr val="9254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6700680" y="8143920"/>
            <a:ext cx="2800440" cy="360"/>
          </a:xfrm>
          <a:prstGeom prst="line">
            <a:avLst/>
          </a:prstGeom>
          <a:ln w="9000">
            <a:solidFill>
              <a:srgbClr val="c365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2" name=""/>
          <p:cNvSpPr/>
          <p:nvPr/>
        </p:nvSpPr>
        <p:spPr>
          <a:xfrm>
            <a:off x="6700680" y="9644040"/>
            <a:ext cx="2800080" cy="1314000"/>
          </a:xfrm>
          <a:custGeom>
            <a:avLst/>
            <a:gdLst>
              <a:gd name="textAreaLeft" fmla="*/ 0 w 2800080"/>
              <a:gd name="textAreaRight" fmla="*/ 2800440 w 2800080"/>
              <a:gd name="textAreaTop" fmla="*/ 0 h 1314000"/>
              <a:gd name="textAreaBottom" fmla="*/ 1314360 h 1314000"/>
            </a:gdLst>
            <a:ahLst/>
            <a:rect l="textAreaLeft" t="textAreaTop" r="textAreaRight" b="textAreaBottom"/>
            <a:pathLst>
              <a:path fill="none" w="7779" h="3651">
                <a:moveTo>
                  <a:pt x="0" y="0"/>
                </a:moveTo>
                <a:lnTo>
                  <a:pt x="0" y="3651"/>
                </a:lnTo>
                <a:lnTo>
                  <a:pt x="7779" y="3651"/>
                </a:lnTo>
              </a:path>
            </a:pathLst>
          </a:custGeom>
          <a:noFill/>
          <a:ln w="9000">
            <a:solidFill>
              <a:srgbClr val="5461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6700680" y="10301400"/>
            <a:ext cx="2800440" cy="360"/>
          </a:xfrm>
          <a:prstGeom prst="line">
            <a:avLst/>
          </a:prstGeom>
          <a:ln w="9000">
            <a:solidFill>
              <a:srgbClr val="b4b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4" name=""/>
          <p:cNvSpPr/>
          <p:nvPr/>
        </p:nvSpPr>
        <p:spPr>
          <a:xfrm>
            <a:off x="6172200" y="9610200"/>
            <a:ext cx="5025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+0.6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6172200" y="10222920"/>
            <a:ext cx="5025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6172200" y="10826640"/>
            <a:ext cx="5025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-0.6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6629400" y="10981800"/>
            <a:ext cx="6397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321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7964280" y="10981800"/>
            <a:ext cx="6397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336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9299520" y="10981800"/>
            <a:ext cx="63972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352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6700680" y="9744120"/>
            <a:ext cx="2800080" cy="1157040"/>
          </a:xfrm>
          <a:custGeom>
            <a:avLst/>
            <a:gdLst>
              <a:gd name="textAreaLeft" fmla="*/ 0 w 2800080"/>
              <a:gd name="textAreaRight" fmla="*/ 2800440 w 2800080"/>
              <a:gd name="textAreaTop" fmla="*/ 0 h 1157040"/>
              <a:gd name="textAreaBottom" fmla="*/ 1157400 h 1157040"/>
            </a:gdLst>
            <a:ahLst/>
            <a:rect l="textAreaLeft" t="textAreaTop" r="textAreaRight" b="textAreaBottom"/>
            <a:pathLst>
              <a:path fill="none" w="7779" h="3215">
                <a:moveTo>
                  <a:pt x="0" y="0"/>
                </a:moveTo>
                <a:lnTo>
                  <a:pt x="238" y="3135"/>
                </a:lnTo>
                <a:lnTo>
                  <a:pt x="476" y="3056"/>
                </a:lnTo>
                <a:lnTo>
                  <a:pt x="754" y="3056"/>
                </a:lnTo>
                <a:lnTo>
                  <a:pt x="992" y="3095"/>
                </a:lnTo>
                <a:lnTo>
                  <a:pt x="1230" y="3095"/>
                </a:lnTo>
                <a:lnTo>
                  <a:pt x="1508" y="3056"/>
                </a:lnTo>
                <a:lnTo>
                  <a:pt x="1746" y="3095"/>
                </a:lnTo>
                <a:lnTo>
                  <a:pt x="1984" y="3056"/>
                </a:lnTo>
                <a:lnTo>
                  <a:pt x="2262" y="3056"/>
                </a:lnTo>
                <a:lnTo>
                  <a:pt x="2500" y="3095"/>
                </a:lnTo>
                <a:lnTo>
                  <a:pt x="2739" y="3095"/>
                </a:lnTo>
                <a:lnTo>
                  <a:pt x="3016" y="3095"/>
                </a:lnTo>
                <a:lnTo>
                  <a:pt x="3254" y="3175"/>
                </a:lnTo>
                <a:lnTo>
                  <a:pt x="3493" y="3135"/>
                </a:lnTo>
                <a:lnTo>
                  <a:pt x="3770" y="3175"/>
                </a:lnTo>
                <a:lnTo>
                  <a:pt x="4009" y="3095"/>
                </a:lnTo>
                <a:lnTo>
                  <a:pt x="4286" y="3095"/>
                </a:lnTo>
                <a:lnTo>
                  <a:pt x="4524" y="3056"/>
                </a:lnTo>
                <a:lnTo>
                  <a:pt x="4763" y="3175"/>
                </a:lnTo>
                <a:lnTo>
                  <a:pt x="5040" y="3215"/>
                </a:lnTo>
                <a:lnTo>
                  <a:pt x="5279" y="3135"/>
                </a:lnTo>
                <a:lnTo>
                  <a:pt x="5517" y="3175"/>
                </a:lnTo>
                <a:lnTo>
                  <a:pt x="5794" y="3135"/>
                </a:lnTo>
                <a:lnTo>
                  <a:pt x="6033" y="3175"/>
                </a:lnTo>
                <a:lnTo>
                  <a:pt x="6271" y="3175"/>
                </a:lnTo>
                <a:lnTo>
                  <a:pt x="6549" y="3175"/>
                </a:lnTo>
                <a:lnTo>
                  <a:pt x="6787" y="3215"/>
                </a:lnTo>
                <a:lnTo>
                  <a:pt x="7025" y="3135"/>
                </a:lnTo>
                <a:lnTo>
                  <a:pt x="7303" y="3135"/>
                </a:lnTo>
                <a:lnTo>
                  <a:pt x="7541" y="3175"/>
                </a:lnTo>
                <a:lnTo>
                  <a:pt x="7779" y="3175"/>
                </a:lnTo>
              </a:path>
            </a:pathLst>
          </a:custGeom>
          <a:noFill/>
          <a:ln w="18360">
            <a:solidFill>
              <a:srgbClr val="176b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6700680" y="9758520"/>
            <a:ext cx="2800080" cy="1113840"/>
          </a:xfrm>
          <a:custGeom>
            <a:avLst/>
            <a:gdLst>
              <a:gd name="textAreaLeft" fmla="*/ 0 w 2800080"/>
              <a:gd name="textAreaRight" fmla="*/ 2800440 w 2800080"/>
              <a:gd name="textAreaTop" fmla="*/ 0 h 1113840"/>
              <a:gd name="textAreaBottom" fmla="*/ 1114200 h 1113840"/>
            </a:gdLst>
            <a:ahLst/>
            <a:rect l="textAreaLeft" t="textAreaTop" r="textAreaRight" b="textAreaBottom"/>
            <a:pathLst>
              <a:path fill="none" w="7779" h="3095">
                <a:moveTo>
                  <a:pt x="0" y="0"/>
                </a:moveTo>
                <a:lnTo>
                  <a:pt x="238" y="2897"/>
                </a:lnTo>
                <a:lnTo>
                  <a:pt x="476" y="3016"/>
                </a:lnTo>
                <a:lnTo>
                  <a:pt x="754" y="3016"/>
                </a:lnTo>
                <a:lnTo>
                  <a:pt x="992" y="2976"/>
                </a:lnTo>
                <a:lnTo>
                  <a:pt x="1230" y="3016"/>
                </a:lnTo>
                <a:lnTo>
                  <a:pt x="1508" y="2976"/>
                </a:lnTo>
                <a:lnTo>
                  <a:pt x="1746" y="2857"/>
                </a:lnTo>
                <a:lnTo>
                  <a:pt x="1984" y="3016"/>
                </a:lnTo>
                <a:lnTo>
                  <a:pt x="2262" y="2976"/>
                </a:lnTo>
                <a:lnTo>
                  <a:pt x="2500" y="3055"/>
                </a:lnTo>
                <a:lnTo>
                  <a:pt x="2739" y="2976"/>
                </a:lnTo>
                <a:lnTo>
                  <a:pt x="3016" y="3016"/>
                </a:lnTo>
                <a:lnTo>
                  <a:pt x="3254" y="3016"/>
                </a:lnTo>
                <a:lnTo>
                  <a:pt x="3493" y="3016"/>
                </a:lnTo>
                <a:lnTo>
                  <a:pt x="3770" y="3016"/>
                </a:lnTo>
                <a:lnTo>
                  <a:pt x="4009" y="3095"/>
                </a:lnTo>
                <a:lnTo>
                  <a:pt x="4286" y="2976"/>
                </a:lnTo>
                <a:lnTo>
                  <a:pt x="4524" y="3055"/>
                </a:lnTo>
                <a:lnTo>
                  <a:pt x="4763" y="3055"/>
                </a:lnTo>
                <a:lnTo>
                  <a:pt x="5040" y="3095"/>
                </a:lnTo>
                <a:lnTo>
                  <a:pt x="5279" y="2976"/>
                </a:lnTo>
                <a:lnTo>
                  <a:pt x="5517" y="3055"/>
                </a:lnTo>
                <a:lnTo>
                  <a:pt x="5794" y="3095"/>
                </a:lnTo>
                <a:lnTo>
                  <a:pt x="6033" y="3095"/>
                </a:lnTo>
                <a:lnTo>
                  <a:pt x="6271" y="3016"/>
                </a:lnTo>
                <a:lnTo>
                  <a:pt x="6549" y="3055"/>
                </a:lnTo>
                <a:lnTo>
                  <a:pt x="6787" y="3055"/>
                </a:lnTo>
                <a:lnTo>
                  <a:pt x="7025" y="3055"/>
                </a:lnTo>
                <a:lnTo>
                  <a:pt x="7303" y="3095"/>
                </a:lnTo>
                <a:lnTo>
                  <a:pt x="7541" y="3095"/>
                </a:lnTo>
                <a:lnTo>
                  <a:pt x="7779" y="3095"/>
                </a:lnTo>
              </a:path>
            </a:pathLst>
          </a:custGeom>
          <a:noFill/>
          <a:ln w="9000">
            <a:solidFill>
              <a:srgbClr val="9254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6700680" y="10301400"/>
            <a:ext cx="2800440" cy="360"/>
          </a:xfrm>
          <a:prstGeom prst="line">
            <a:avLst/>
          </a:prstGeom>
          <a:ln w="9000">
            <a:solidFill>
              <a:srgbClr val="c365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3" name=""/>
          <p:cNvSpPr/>
          <p:nvPr/>
        </p:nvSpPr>
        <p:spPr>
          <a:xfrm>
            <a:off x="6675120" y="7141320"/>
            <a:ext cx="29440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Mean command, original axis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6675120" y="7296840"/>
            <a:ext cx="29440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321: paid gradient → 322: read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6700680" y="9086760"/>
            <a:ext cx="285840" cy="360"/>
          </a:xfrm>
          <a:prstGeom prst="line">
            <a:avLst/>
          </a:prstGeom>
          <a:ln w="18360">
            <a:solidFill>
              <a:srgbClr val="176b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6" name=""/>
          <p:cNvSpPr/>
          <p:nvPr/>
        </p:nvSpPr>
        <p:spPr>
          <a:xfrm>
            <a:off x="7031880" y="8988480"/>
            <a:ext cx="25142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Retain (writes frozen)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6700680" y="9258120"/>
            <a:ext cx="285840" cy="360"/>
          </a:xfrm>
          <a:prstGeom prst="line">
            <a:avLst/>
          </a:prstGeom>
          <a:ln w="18360">
            <a:solidFill>
              <a:srgbClr val="9254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8" name=""/>
          <p:cNvSpPr/>
          <p:nvPr/>
        </p:nvSpPr>
        <p:spPr>
          <a:xfrm>
            <a:off x="7031880" y="9153000"/>
            <a:ext cx="25142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Homogenize (writes frozen)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6700680" y="9429840"/>
            <a:ext cx="285840" cy="360"/>
          </a:xfrm>
          <a:prstGeom prst="line">
            <a:avLst/>
          </a:prstGeom>
          <a:ln w="18360">
            <a:solidFill>
              <a:srgbClr val="c365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0" name=""/>
          <p:cNvSpPr/>
          <p:nvPr/>
        </p:nvSpPr>
        <p:spPr>
          <a:xfrm>
            <a:off x="7031880" y="9326880"/>
            <a:ext cx="25142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Erase (writes frozen)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6693480" y="11192400"/>
            <a:ext cx="28710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Actual step after reversal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6693480" y="11356920"/>
            <a:ext cx="287100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Positive = old direction; negative = new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393120" y="3255120"/>
            <a:ext cx="93538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000000"/>
                </a:solidFill>
                <a:latin typeface="Arial"/>
              </a:rPr>
              <a:t>B  Fixed gain also succeeds: all conditions and stages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2026-10-16T20:49:47Z</dcterms:created>
  <dc:creator/>
  <dc:description/>
  <dc:language>zh-CN</dc:language>
  <cp:lastModifiedBy/>
  <cp:lastPrinted>2026-10-19T18:53:10Z</cp:lastPrinted>
  <dcterms:modified xsi:type="dcterms:W3CDTF">2026-10-19T18:53:29Z</dcterms:modified>
  <cp:revision>266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