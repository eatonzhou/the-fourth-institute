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12239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487800"/>
            <a:ext cx="9071280" cy="20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7C4C7A-CBBE-47AA-B167-D71B5934CE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487800"/>
            <a:ext cx="9071280" cy="20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11150280"/>
            <a:ext cx="3194640" cy="8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11150280"/>
            <a:ext cx="2347920" cy="8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205A134-E801-41B1-A3B2-482C45204A9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11150280"/>
            <a:ext cx="2347920" cy="84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2.png"/><Relationship Id="rId8" Type="http://schemas.openxmlformats.org/officeDocument/2006/relationships/image" Target="../media/image2.png"/><Relationship Id="rId9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446760" y="301320"/>
            <a:ext cx="6698520" cy="32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2300" spc="-1" strike="noStrike">
                <a:solidFill>
                  <a:srgbClr val="000000"/>
                </a:solidFill>
                <a:latin typeface="Arial"/>
                <a:ea typeface="Arial"/>
              </a:rPr>
              <a:t>Local motor content redirects a conserved body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446760" y="720360"/>
            <a:ext cx="75121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Acquisition succeeds; prescribed reversal fails. Erasure and sign inversion test stored direction.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447120" y="1225800"/>
            <a:ext cx="422352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A  Return local consequences to the source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693720" y="1910160"/>
            <a:ext cx="75168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Source i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693720" y="2138760"/>
            <a:ext cx="81720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θ + noise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2961720" y="1910160"/>
            <a:ext cx="96336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Recipient j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2961720" y="2138760"/>
            <a:ext cx="55044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paid 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1937520" y="1771920"/>
            <a:ext cx="6433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actual 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782000" y="2741040"/>
            <a:ext cx="11890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Return along K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803520" y="3262320"/>
            <a:ext cx="28166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Update θᵢ with local source-credit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519840" y="3910320"/>
            <a:ext cx="34812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Immediate perturbation × local outcome change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519840" y="4108680"/>
            <a:ext cx="28915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Updated content is transported forward.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519840" y="4393800"/>
            <a:ext cx="37782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No central aggregate; actuator and cohesion are preset.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5128560" y="1225800"/>
            <a:ext cx="236412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B  Acquisition ≠ reversal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5128560" y="1551240"/>
            <a:ext cx="31489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Body-weighted field • mean of last 64 steps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6674040" y="1852920"/>
            <a:ext cx="11160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Acquire 1–320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8255880" y="1852920"/>
            <a:ext cx="132624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Reverse 321–640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6674040" y="2089440"/>
            <a:ext cx="1940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C0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7469640" y="2089440"/>
            <a:ext cx="1940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C1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8255880" y="2089440"/>
            <a:ext cx="1940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C0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9051480" y="2089440"/>
            <a:ext cx="1940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C1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128560" y="2355840"/>
            <a:ext cx="814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Immediate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5128560" y="2554200"/>
            <a:ext cx="5400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source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6674040" y="2392560"/>
            <a:ext cx="50328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0.7215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7469640" y="2392560"/>
            <a:ext cx="50328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0.7406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8255880" y="2392560"/>
            <a:ext cx="5580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-0.1861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9051480" y="2392560"/>
            <a:ext cx="5580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-0.0119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128560" y="2849760"/>
            <a:ext cx="10656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Source + EMA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674040" y="2886480"/>
            <a:ext cx="50328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0.0463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7469640" y="2886480"/>
            <a:ext cx="50328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0.0659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8255880" y="2886480"/>
            <a:ext cx="5580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-0.0865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9051480" y="2886480"/>
            <a:ext cx="5580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-0.1275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128560" y="3334320"/>
            <a:ext cx="104724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+ one-hop mix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674040" y="3371040"/>
            <a:ext cx="50328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0.0433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7469640" y="3371040"/>
            <a:ext cx="50328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0.0642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8255880" y="3371040"/>
            <a:ext cx="5580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-0.0949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9051480" y="3371040"/>
            <a:ext cx="5580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-0.1117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5128560" y="3818880"/>
            <a:ext cx="68616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Recipient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5128560" y="4017240"/>
            <a:ext cx="823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immediate*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674040" y="3855600"/>
            <a:ext cx="50328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0.0091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7469640" y="3855600"/>
            <a:ext cx="50328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0.0710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8255880" y="3855600"/>
            <a:ext cx="50328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0.1802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9051480" y="3855600"/>
            <a:ext cx="5580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-0.4182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5128560" y="4358520"/>
            <a:ext cx="33667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Immediate source: acquire 2/2; reverse 0/2.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542520" y="1800720"/>
            <a:ext cx="1257480" cy="686160"/>
          </a:xfrm>
          <a:custGeom>
            <a:avLst/>
            <a:gdLst>
              <a:gd name="textAreaLeft" fmla="*/ 0 w 1257480"/>
              <a:gd name="textAreaRight" fmla="*/ 1257840 w 1257480"/>
              <a:gd name="textAreaTop" fmla="*/ 0 h 686160"/>
              <a:gd name="textAreaBottom" fmla="*/ 686520 h 686160"/>
            </a:gdLst>
            <a:ahLst/>
            <a:rect l="textAreaLeft" t="textAreaTop" r="textAreaRight" b="textAreaBottom"/>
            <a:pathLst>
              <a:path w="3494" h="1907">
                <a:moveTo>
                  <a:pt x="0" y="0"/>
                </a:moveTo>
                <a:lnTo>
                  <a:pt x="3494" y="0"/>
                </a:lnTo>
                <a:lnTo>
                  <a:pt x="3494" y="1907"/>
                </a:lnTo>
                <a:lnTo>
                  <a:pt x="0" y="1907"/>
                </a:lnTo>
                <a:lnTo>
                  <a:pt x="0" y="0"/>
                </a:lnTo>
                <a:close/>
              </a:path>
            </a:pathLst>
          </a:custGeom>
          <a:noFill/>
          <a:ln w="18000">
            <a:solidFill>
              <a:srgbClr val="007c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9000" bIns="9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2814840" y="1800720"/>
            <a:ext cx="1614240" cy="686160"/>
          </a:xfrm>
          <a:custGeom>
            <a:avLst/>
            <a:gdLst>
              <a:gd name="textAreaLeft" fmla="*/ 0 w 1614240"/>
              <a:gd name="textAreaRight" fmla="*/ 1614600 w 1614240"/>
              <a:gd name="textAreaTop" fmla="*/ 0 h 686160"/>
              <a:gd name="textAreaBottom" fmla="*/ 686520 h 686160"/>
            </a:gdLst>
            <a:ahLst/>
            <a:rect l="textAreaLeft" t="textAreaTop" r="textAreaRight" b="textAreaBottom"/>
            <a:pathLst>
              <a:path w="4485" h="1907">
                <a:moveTo>
                  <a:pt x="0" y="0"/>
                </a:moveTo>
                <a:lnTo>
                  <a:pt x="4485" y="0"/>
                </a:lnTo>
                <a:lnTo>
                  <a:pt x="4485" y="1907"/>
                </a:lnTo>
                <a:lnTo>
                  <a:pt x="0" y="1907"/>
                </a:lnTo>
                <a:lnTo>
                  <a:pt x="0" y="0"/>
                </a:lnTo>
                <a:close/>
              </a:path>
            </a:pathLst>
          </a:custGeom>
          <a:noFill/>
          <a:ln w="18000">
            <a:solidFill>
              <a:srgbClr val="007c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9000" bIns="9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843200" y="2143080"/>
            <a:ext cx="928800" cy="1440"/>
          </a:xfrm>
          <a:prstGeom prst="line">
            <a:avLst/>
          </a:prstGeom>
          <a:ln w="18000">
            <a:solidFill>
              <a:srgbClr val="007c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-7560" bIns="-75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3" name=""/>
          <p:cNvSpPr/>
          <p:nvPr/>
        </p:nvSpPr>
        <p:spPr>
          <a:xfrm>
            <a:off x="2657880" y="2085840"/>
            <a:ext cx="113760" cy="114120"/>
          </a:xfrm>
          <a:custGeom>
            <a:avLst/>
            <a:gdLst>
              <a:gd name="textAreaLeft" fmla="*/ 0 w 113760"/>
              <a:gd name="textAreaRight" fmla="*/ 114120 w 11376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fill="none" w="317" h="318">
                <a:moveTo>
                  <a:pt x="0" y="318"/>
                </a:moveTo>
                <a:lnTo>
                  <a:pt x="317" y="160"/>
                </a:lnTo>
                <a:lnTo>
                  <a:pt x="0" y="0"/>
                </a:lnTo>
              </a:path>
            </a:pathLst>
          </a:custGeom>
          <a:noFill/>
          <a:ln w="18000">
            <a:solidFill>
              <a:srgbClr val="007c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9000" bIns="9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570960" y="3143520"/>
            <a:ext cx="3857760" cy="500040"/>
          </a:xfrm>
          <a:custGeom>
            <a:avLst/>
            <a:gdLst>
              <a:gd name="textAreaLeft" fmla="*/ 0 w 3857760"/>
              <a:gd name="textAreaRight" fmla="*/ 3858120 w 3857760"/>
              <a:gd name="textAreaTop" fmla="*/ 0 h 500040"/>
              <a:gd name="textAreaBottom" fmla="*/ 500400 h 500040"/>
            </a:gdLst>
            <a:ahLst/>
            <a:rect l="textAreaLeft" t="textAreaTop" r="textAreaRight" b="textAreaBottom"/>
            <a:pathLst>
              <a:path w="10717" h="1390">
                <a:moveTo>
                  <a:pt x="0" y="0"/>
                </a:moveTo>
                <a:lnTo>
                  <a:pt x="10717" y="0"/>
                </a:lnTo>
                <a:lnTo>
                  <a:pt x="10717" y="1390"/>
                </a:lnTo>
                <a:lnTo>
                  <a:pt x="0" y="1390"/>
                </a:lnTo>
                <a:lnTo>
                  <a:pt x="0" y="0"/>
                </a:lnTo>
                <a:close/>
              </a:path>
            </a:pathLst>
          </a:custGeom>
          <a:noFill/>
          <a:ln w="18000">
            <a:solidFill>
              <a:srgbClr val="c25a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9000" bIns="9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3529080" y="2500560"/>
            <a:ext cx="360" cy="614520"/>
          </a:xfrm>
          <a:prstGeom prst="line">
            <a:avLst/>
          </a:prstGeom>
          <a:ln w="18000">
            <a:solidFill>
              <a:srgbClr val="c25a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9000" bIns="9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6" name=""/>
          <p:cNvSpPr/>
          <p:nvPr/>
        </p:nvSpPr>
        <p:spPr>
          <a:xfrm>
            <a:off x="3471840" y="3000240"/>
            <a:ext cx="114120" cy="114120"/>
          </a:xfrm>
          <a:custGeom>
            <a:avLst/>
            <a:gdLst>
              <a:gd name="textAreaLeft" fmla="*/ 0 w 114120"/>
              <a:gd name="textAreaRight" fmla="*/ 114480 w 11412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fill="none" w="318" h="318">
                <a:moveTo>
                  <a:pt x="0" y="0"/>
                </a:moveTo>
                <a:lnTo>
                  <a:pt x="160" y="318"/>
                </a:lnTo>
                <a:lnTo>
                  <a:pt x="318" y="0"/>
                </a:lnTo>
              </a:path>
            </a:pathLst>
          </a:custGeom>
          <a:noFill/>
          <a:ln w="18000">
            <a:solidFill>
              <a:srgbClr val="c25a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9000" bIns="9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 flipV="1">
            <a:off x="1185840" y="2514960"/>
            <a:ext cx="1440" cy="600480"/>
          </a:xfrm>
          <a:prstGeom prst="line">
            <a:avLst/>
          </a:prstGeom>
          <a:ln w="18000">
            <a:solidFill>
              <a:srgbClr val="c25a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9000" bIns="9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" name=""/>
          <p:cNvSpPr/>
          <p:nvPr/>
        </p:nvSpPr>
        <p:spPr>
          <a:xfrm>
            <a:off x="1128600" y="2514960"/>
            <a:ext cx="114480" cy="114120"/>
          </a:xfrm>
          <a:custGeom>
            <a:avLst/>
            <a:gdLst>
              <a:gd name="textAreaLeft" fmla="*/ 0 w 114480"/>
              <a:gd name="textAreaRight" fmla="*/ 114840 w 114480"/>
              <a:gd name="textAreaTop" fmla="*/ 0 h 114120"/>
              <a:gd name="textAreaBottom" fmla="*/ 114480 h 114120"/>
            </a:gdLst>
            <a:ahLst/>
            <a:rect l="textAreaLeft" t="textAreaTop" r="textAreaRight" b="textAreaBottom"/>
            <a:pathLst>
              <a:path fill="none" w="319" h="318">
                <a:moveTo>
                  <a:pt x="319" y="318"/>
                </a:moveTo>
                <a:lnTo>
                  <a:pt x="159" y="0"/>
                </a:lnTo>
                <a:lnTo>
                  <a:pt x="0" y="318"/>
                </a:lnTo>
              </a:path>
            </a:pathLst>
          </a:custGeom>
          <a:noFill/>
          <a:ln w="18000">
            <a:solidFill>
              <a:srgbClr val="c25a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9000" bIns="9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357480" y="1028880"/>
            <a:ext cx="9358200" cy="360"/>
          </a:xfrm>
          <a:prstGeom prst="line">
            <a:avLst/>
          </a:prstGeom>
          <a:ln w="8640">
            <a:solidFill>
              <a:srgbClr val="b7c2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3960" bIns="-3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0" name=""/>
          <p:cNvSpPr/>
          <p:nvPr/>
        </p:nvSpPr>
        <p:spPr>
          <a:xfrm>
            <a:off x="4857840" y="1185840"/>
            <a:ext cx="360" cy="3372120"/>
          </a:xfrm>
          <a:prstGeom prst="line">
            <a:avLst/>
          </a:prstGeom>
          <a:ln w="8640">
            <a:solidFill>
              <a:srgbClr val="b7c2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1" name=""/>
          <p:cNvSpPr/>
          <p:nvPr/>
        </p:nvSpPr>
        <p:spPr>
          <a:xfrm>
            <a:off x="6572520" y="2000520"/>
            <a:ext cx="3114360" cy="360"/>
          </a:xfrm>
          <a:prstGeom prst="line">
            <a:avLst/>
          </a:prstGeom>
          <a:ln w="8640">
            <a:solidFill>
              <a:srgbClr val="b7c2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2" name=""/>
          <p:cNvSpPr/>
          <p:nvPr/>
        </p:nvSpPr>
        <p:spPr>
          <a:xfrm>
            <a:off x="5043600" y="2257920"/>
            <a:ext cx="4672080" cy="360"/>
          </a:xfrm>
          <a:prstGeom prst="line">
            <a:avLst/>
          </a:prstGeom>
          <a:ln w="8640">
            <a:solidFill>
              <a:srgbClr val="b7c2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3960" bIns="-3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" name=""/>
          <p:cNvSpPr/>
          <p:nvPr/>
        </p:nvSpPr>
        <p:spPr>
          <a:xfrm>
            <a:off x="5043600" y="2757960"/>
            <a:ext cx="4672080" cy="360"/>
          </a:xfrm>
          <a:prstGeom prst="line">
            <a:avLst/>
          </a:prstGeom>
          <a:ln w="8640">
            <a:solidFill>
              <a:srgbClr val="dce3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4" name=""/>
          <p:cNvSpPr/>
          <p:nvPr/>
        </p:nvSpPr>
        <p:spPr>
          <a:xfrm>
            <a:off x="5043600" y="3243240"/>
            <a:ext cx="4672440" cy="1440"/>
          </a:xfrm>
          <a:prstGeom prst="line">
            <a:avLst/>
          </a:prstGeom>
          <a:ln w="8640">
            <a:solidFill>
              <a:srgbClr val="dce3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2880" bIns="-28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5" name=""/>
          <p:cNvSpPr/>
          <p:nvPr/>
        </p:nvSpPr>
        <p:spPr>
          <a:xfrm>
            <a:off x="5043600" y="3729240"/>
            <a:ext cx="4672080" cy="360"/>
          </a:xfrm>
          <a:prstGeom prst="line">
            <a:avLst/>
          </a:prstGeom>
          <a:ln w="8640">
            <a:solidFill>
              <a:srgbClr val="dce3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3960" bIns="-3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6" name=""/>
          <p:cNvSpPr/>
          <p:nvPr/>
        </p:nvSpPr>
        <p:spPr>
          <a:xfrm>
            <a:off x="357480" y="4772520"/>
            <a:ext cx="9358200" cy="360"/>
          </a:xfrm>
          <a:prstGeom prst="line">
            <a:avLst/>
          </a:prstGeom>
          <a:ln w="8640">
            <a:solidFill>
              <a:srgbClr val="b7c2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3960" bIns="-3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" name=""/>
          <p:cNvSpPr/>
          <p:nvPr/>
        </p:nvSpPr>
        <p:spPr>
          <a:xfrm>
            <a:off x="5128560" y="4593600"/>
            <a:ext cx="2673360" cy="15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*Delivery and update location both change.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46760" y="4938120"/>
            <a:ext cx="596844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Arial"/>
              </a:rPr>
              <a:t>C  Same acquired parent; only local motor content is changed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446760" y="5218200"/>
            <a:ext cx="689184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128 steps with feedback and writes OFF • body, E, trace and RNG matched within each parent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803160" y="5476320"/>
            <a:ext cx="118620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Parent at 320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3070800" y="5476320"/>
            <a:ext cx="73800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Retain 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338800" y="5476320"/>
            <a:ext cx="56880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Zero 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606440" y="5476320"/>
            <a:ext cx="791280" cy="21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Arial"/>
              </a:rPr>
              <a:t>Negate θ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82240" y="6461640"/>
            <a:ext cx="2106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C0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282240" y="8985240"/>
            <a:ext cx="2106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C1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720000" y="7776000"/>
            <a:ext cx="51300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32 × 32 periodic coordinates • same spatial scale • final forks at parent +128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803520" y="10364760"/>
            <a:ext cx="603828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Cyan: positive field; yellow: negative. Darkness: ρ/max(ρ) within each tile. All final M = 24.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47120" y="10676880"/>
            <a:ext cx="27162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Signed displacement (lattice units)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47120" y="10875240"/>
            <a:ext cx="278460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Positive = original learned direction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47120" y="11251800"/>
            <a:ext cx="25837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Two matched parents, not six repeats.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447120" y="11434680"/>
            <a:ext cx="20408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Zero remains in good territory;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447120" y="11617560"/>
            <a:ext cx="296460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this does not demonstrate learned stopping.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4799160" y="10959120"/>
            <a:ext cx="1940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C0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4799160" y="11416320"/>
            <a:ext cx="1940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C1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5165280" y="10785240"/>
            <a:ext cx="5169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-4.4242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930000" y="10785240"/>
            <a:ext cx="5169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-0.0018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8722440" y="10785240"/>
            <a:ext cx="5551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+4.3071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165280" y="11233440"/>
            <a:ext cx="5169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-4.3005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930000" y="11233440"/>
            <a:ext cx="51696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-0.0017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8722440" y="11233440"/>
            <a:ext cx="55512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+4.1842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5165280" y="11699640"/>
            <a:ext cx="4910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Negate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930000" y="11699640"/>
            <a:ext cx="3128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Zero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8722440" y="11699640"/>
            <a:ext cx="440640" cy="17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Retain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5401080" y="11087280"/>
            <a:ext cx="3957120" cy="360"/>
          </a:xfrm>
          <a:prstGeom prst="line">
            <a:avLst/>
          </a:prstGeom>
          <a:ln w="8640">
            <a:solidFill>
              <a:srgbClr val="b7c2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3960" bIns="-3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5" name=""/>
          <p:cNvSpPr/>
          <p:nvPr/>
        </p:nvSpPr>
        <p:spPr>
          <a:xfrm flipH="1">
            <a:off x="5629680" y="11087280"/>
            <a:ext cx="1757160" cy="360"/>
          </a:xfrm>
          <a:prstGeom prst="line">
            <a:avLst/>
          </a:prstGeom>
          <a:ln w="18000">
            <a:solidFill>
              <a:srgbClr val="c25a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-8640" bIns="-86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6" name=""/>
          <p:cNvSpPr/>
          <p:nvPr/>
        </p:nvSpPr>
        <p:spPr>
          <a:xfrm>
            <a:off x="5571720" y="11043720"/>
            <a:ext cx="100080" cy="100440"/>
          </a:xfrm>
          <a:custGeom>
            <a:avLst/>
            <a:gdLst>
              <a:gd name="textAreaLeft" fmla="*/ 0 w 100080"/>
              <a:gd name="textAreaRight" fmla="*/ 100440 w 100080"/>
              <a:gd name="textAreaTop" fmla="*/ 0 h 100440"/>
              <a:gd name="textAreaBottom" fmla="*/ 100800 h 100440"/>
            </a:gdLst>
            <a:ahLst/>
            <a:rect l="textAreaLeft" t="textAreaTop" r="textAreaRight" b="textAreaBottom"/>
            <a:pathLst>
              <a:path w="279" h="280">
                <a:moveTo>
                  <a:pt x="0" y="120"/>
                </a:moveTo>
                <a:lnTo>
                  <a:pt x="159" y="0"/>
                </a:lnTo>
                <a:lnTo>
                  <a:pt x="279" y="120"/>
                </a:lnTo>
                <a:lnTo>
                  <a:pt x="159" y="280"/>
                </a:lnTo>
                <a:lnTo>
                  <a:pt x="0" y="120"/>
                </a:lnTo>
                <a:close/>
              </a:path>
            </a:pathLst>
          </a:custGeom>
          <a:noFill/>
          <a:ln w="18000">
            <a:solidFill>
              <a:srgbClr val="c25a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9000" bIns="9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7328880" y="11043720"/>
            <a:ext cx="100080" cy="100440"/>
          </a:xfrm>
          <a:custGeom>
            <a:avLst/>
            <a:gdLst>
              <a:gd name="textAreaLeft" fmla="*/ 0 w 100080"/>
              <a:gd name="textAreaRight" fmla="*/ 100440 w 100080"/>
              <a:gd name="textAreaTop" fmla="*/ 0 h 100440"/>
              <a:gd name="textAreaBottom" fmla="*/ 100800 h 100440"/>
            </a:gdLst>
            <a:ahLst/>
            <a:rect l="textAreaLeft" t="textAreaTop" r="textAreaRight" b="textAreaBottom"/>
            <a:pathLst>
              <a:path w="279" h="280">
                <a:moveTo>
                  <a:pt x="0" y="120"/>
                </a:moveTo>
                <a:lnTo>
                  <a:pt x="160" y="0"/>
                </a:lnTo>
                <a:lnTo>
                  <a:pt x="279" y="120"/>
                </a:lnTo>
                <a:lnTo>
                  <a:pt x="160" y="280"/>
                </a:lnTo>
                <a:lnTo>
                  <a:pt x="0" y="120"/>
                </a:lnTo>
                <a:close/>
              </a:path>
            </a:pathLst>
          </a:custGeom>
          <a:noFill/>
          <a:ln w="1800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9000" bIns="9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7386840" y="11087280"/>
            <a:ext cx="1700280" cy="360"/>
          </a:xfrm>
          <a:prstGeom prst="line">
            <a:avLst/>
          </a:prstGeom>
          <a:ln w="18000">
            <a:solidFill>
              <a:srgbClr val="007c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-8640" bIns="-86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9" name=""/>
          <p:cNvSpPr/>
          <p:nvPr/>
        </p:nvSpPr>
        <p:spPr>
          <a:xfrm>
            <a:off x="9029160" y="11043720"/>
            <a:ext cx="114840" cy="100440"/>
          </a:xfrm>
          <a:custGeom>
            <a:avLst/>
            <a:gdLst>
              <a:gd name="textAreaLeft" fmla="*/ 0 w 114840"/>
              <a:gd name="textAreaRight" fmla="*/ 115200 w 114840"/>
              <a:gd name="textAreaTop" fmla="*/ 0 h 100440"/>
              <a:gd name="textAreaBottom" fmla="*/ 100800 h 100440"/>
            </a:gdLst>
            <a:ahLst/>
            <a:rect l="textAreaLeft" t="textAreaTop" r="textAreaRight" b="textAreaBottom"/>
            <a:pathLst>
              <a:path w="320" h="280">
                <a:moveTo>
                  <a:pt x="0" y="120"/>
                </a:moveTo>
                <a:lnTo>
                  <a:pt x="160" y="0"/>
                </a:lnTo>
                <a:lnTo>
                  <a:pt x="320" y="120"/>
                </a:lnTo>
                <a:lnTo>
                  <a:pt x="160" y="280"/>
                </a:lnTo>
                <a:lnTo>
                  <a:pt x="0" y="120"/>
                </a:lnTo>
                <a:close/>
              </a:path>
            </a:pathLst>
          </a:custGeom>
          <a:noFill/>
          <a:ln w="18000">
            <a:solidFill>
              <a:srgbClr val="007c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9000" bIns="9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5401080" y="11544480"/>
            <a:ext cx="3957120" cy="360"/>
          </a:xfrm>
          <a:prstGeom prst="line">
            <a:avLst/>
          </a:prstGeom>
          <a:ln w="8640">
            <a:solidFill>
              <a:srgbClr val="b7c2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3960" bIns="-396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1" name=""/>
          <p:cNvSpPr/>
          <p:nvPr/>
        </p:nvSpPr>
        <p:spPr>
          <a:xfrm flipH="1">
            <a:off x="5672520" y="11544480"/>
            <a:ext cx="1714320" cy="360"/>
          </a:xfrm>
          <a:prstGeom prst="line">
            <a:avLst/>
          </a:prstGeom>
          <a:ln w="18000">
            <a:solidFill>
              <a:srgbClr val="c25a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-8640" bIns="-86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2" name=""/>
          <p:cNvSpPr/>
          <p:nvPr/>
        </p:nvSpPr>
        <p:spPr>
          <a:xfrm>
            <a:off x="5629680" y="11487240"/>
            <a:ext cx="99720" cy="100080"/>
          </a:xfrm>
          <a:custGeom>
            <a:avLst/>
            <a:gdLst>
              <a:gd name="textAreaLeft" fmla="*/ 0 w 99720"/>
              <a:gd name="textAreaRight" fmla="*/ 100080 w 99720"/>
              <a:gd name="textAreaTop" fmla="*/ 0 h 100080"/>
              <a:gd name="textAreaBottom" fmla="*/ 100440 h 100080"/>
            </a:gdLst>
            <a:ahLst/>
            <a:rect l="textAreaLeft" t="textAreaTop" r="textAreaRight" b="textAreaBottom"/>
            <a:pathLst>
              <a:path w="278" h="279">
                <a:moveTo>
                  <a:pt x="0" y="158"/>
                </a:moveTo>
                <a:lnTo>
                  <a:pt x="120" y="0"/>
                </a:lnTo>
                <a:lnTo>
                  <a:pt x="278" y="158"/>
                </a:lnTo>
                <a:lnTo>
                  <a:pt x="120" y="279"/>
                </a:lnTo>
                <a:lnTo>
                  <a:pt x="0" y="158"/>
                </a:lnTo>
                <a:close/>
              </a:path>
            </a:pathLst>
          </a:custGeom>
          <a:noFill/>
          <a:ln w="18000">
            <a:solidFill>
              <a:srgbClr val="c25a2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9000" bIns="9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7328880" y="11487240"/>
            <a:ext cx="100080" cy="100080"/>
          </a:xfrm>
          <a:custGeom>
            <a:avLst/>
            <a:gdLst>
              <a:gd name="textAreaLeft" fmla="*/ 0 w 100080"/>
              <a:gd name="textAreaRight" fmla="*/ 100440 w 100080"/>
              <a:gd name="textAreaTop" fmla="*/ 0 h 100080"/>
              <a:gd name="textAreaBottom" fmla="*/ 100440 h 100080"/>
            </a:gdLst>
            <a:ahLst/>
            <a:rect l="textAreaLeft" t="textAreaTop" r="textAreaRight" b="textAreaBottom"/>
            <a:pathLst>
              <a:path w="279" h="279">
                <a:moveTo>
                  <a:pt x="0" y="158"/>
                </a:moveTo>
                <a:lnTo>
                  <a:pt x="160" y="0"/>
                </a:lnTo>
                <a:lnTo>
                  <a:pt x="279" y="158"/>
                </a:lnTo>
                <a:lnTo>
                  <a:pt x="160" y="279"/>
                </a:lnTo>
                <a:lnTo>
                  <a:pt x="0" y="158"/>
                </a:lnTo>
                <a:close/>
              </a:path>
            </a:pathLst>
          </a:custGeom>
          <a:noFill/>
          <a:ln w="18000">
            <a:solidFill>
              <a:srgbClr val="5261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9000" bIns="9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7386840" y="11544480"/>
            <a:ext cx="1657440" cy="360"/>
          </a:xfrm>
          <a:prstGeom prst="line">
            <a:avLst/>
          </a:prstGeom>
          <a:ln w="18000">
            <a:solidFill>
              <a:srgbClr val="007c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-8640" bIns="-86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5" name=""/>
          <p:cNvSpPr/>
          <p:nvPr/>
        </p:nvSpPr>
        <p:spPr>
          <a:xfrm>
            <a:off x="8986320" y="11487240"/>
            <a:ext cx="100440" cy="100080"/>
          </a:xfrm>
          <a:custGeom>
            <a:avLst/>
            <a:gdLst>
              <a:gd name="textAreaLeft" fmla="*/ 0 w 100440"/>
              <a:gd name="textAreaRight" fmla="*/ 100800 w 100440"/>
              <a:gd name="textAreaTop" fmla="*/ 0 h 100080"/>
              <a:gd name="textAreaBottom" fmla="*/ 100440 h 100080"/>
            </a:gdLst>
            <a:ahLst/>
            <a:rect l="textAreaLeft" t="textAreaTop" r="textAreaRight" b="textAreaBottom"/>
            <a:pathLst>
              <a:path w="280" h="279">
                <a:moveTo>
                  <a:pt x="0" y="158"/>
                </a:moveTo>
                <a:lnTo>
                  <a:pt x="159" y="0"/>
                </a:lnTo>
                <a:lnTo>
                  <a:pt x="280" y="158"/>
                </a:lnTo>
                <a:lnTo>
                  <a:pt x="159" y="279"/>
                </a:lnTo>
                <a:lnTo>
                  <a:pt x="0" y="158"/>
                </a:lnTo>
                <a:close/>
              </a:path>
            </a:pathLst>
          </a:custGeom>
          <a:noFill/>
          <a:ln w="18000">
            <a:solidFill>
              <a:srgbClr val="007c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" rIns="9000" tIns="9000" bIns="9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7386840" y="10958760"/>
            <a:ext cx="360" cy="628560"/>
          </a:xfrm>
          <a:prstGeom prst="line">
            <a:avLst/>
          </a:prstGeom>
          <a:ln w="8640">
            <a:solidFill>
              <a:srgbClr val="b7c2c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4320" bIns="432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7" name=""/>
          <p:cNvSpPr/>
          <p:nvPr/>
        </p:nvSpPr>
        <p:spPr>
          <a:xfrm>
            <a:off x="446760" y="11936520"/>
            <a:ext cx="6233400" cy="15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Finite full-grid nutrition; no birth. Costs persist without feedback; one-hop communication is unpriced.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rcRect l="0" t="5231" r="66643" b="49969"/>
          <a:stretch/>
        </p:blipFill>
        <p:spPr>
          <a:xfrm>
            <a:off x="720000" y="5688000"/>
            <a:ext cx="2015640" cy="2015640"/>
          </a:xfrm>
          <a:prstGeom prst="rect">
            <a:avLst/>
          </a:prstGeom>
          <a:ln w="0">
            <a:noFill/>
          </a:ln>
        </p:spPr>
      </p:pic>
      <p:pic>
        <p:nvPicPr>
          <p:cNvPr id="109" name="" descr=""/>
          <p:cNvPicPr/>
          <p:nvPr/>
        </p:nvPicPr>
        <p:blipFill>
          <a:blip r:embed="rId2"/>
          <a:srcRect l="0" t="4737" r="66643" b="49951"/>
          <a:stretch/>
        </p:blipFill>
        <p:spPr>
          <a:xfrm>
            <a:off x="2988000" y="5688000"/>
            <a:ext cx="2015640" cy="201564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3"/>
          <a:srcRect l="33321" t="4737" r="33321" b="49951"/>
          <a:stretch/>
        </p:blipFill>
        <p:spPr>
          <a:xfrm>
            <a:off x="5256000" y="5688000"/>
            <a:ext cx="2015640" cy="201564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4"/>
          <a:srcRect l="66643" t="4737" r="0" b="49951"/>
          <a:stretch/>
        </p:blipFill>
        <p:spPr>
          <a:xfrm>
            <a:off x="7524000" y="5688000"/>
            <a:ext cx="2015640" cy="201564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5"/>
          <a:srcRect l="0" t="55200" r="66643" b="0"/>
          <a:stretch/>
        </p:blipFill>
        <p:spPr>
          <a:xfrm>
            <a:off x="720000" y="8208000"/>
            <a:ext cx="2015640" cy="201564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6"/>
          <a:srcRect l="0" t="54744" r="66643" b="0"/>
          <a:stretch/>
        </p:blipFill>
        <p:spPr>
          <a:xfrm>
            <a:off x="2988000" y="8208000"/>
            <a:ext cx="2015640" cy="201564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7"/>
          <a:srcRect l="33321" t="54744" r="33321" b="0"/>
          <a:stretch/>
        </p:blipFill>
        <p:spPr>
          <a:xfrm>
            <a:off x="5256000" y="8208000"/>
            <a:ext cx="2015640" cy="2015640"/>
          </a:xfrm>
          <a:prstGeom prst="rect">
            <a:avLst/>
          </a:prstGeom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8"/>
          <a:srcRect l="66643" t="54744" r="0" b="0"/>
          <a:stretch/>
        </p:blipFill>
        <p:spPr>
          <a:xfrm>
            <a:off x="7524000" y="8208000"/>
            <a:ext cx="2015640" cy="201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2026-10-19T18:53:11Z</dcterms:created>
  <dc:creator/>
  <dc:description/>
  <dc:language>zh-CN</dc:language>
  <cp:lastModifiedBy/>
  <dcterms:modified xsi:type="dcterms:W3CDTF">2026-10-19T19:11:45Z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